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419" r:id="rId4"/>
    <p:sldId id="420" r:id="rId5"/>
    <p:sldId id="438" r:id="rId6"/>
    <p:sldId id="460" r:id="rId7"/>
    <p:sldId id="439" r:id="rId8"/>
    <p:sldId id="440" r:id="rId9"/>
    <p:sldId id="441" r:id="rId10"/>
    <p:sldId id="482" r:id="rId11"/>
    <p:sldId id="483" r:id="rId12"/>
    <p:sldId id="416" r:id="rId13"/>
    <p:sldId id="426" r:id="rId14"/>
    <p:sldId id="481" r:id="rId15"/>
    <p:sldId id="427" r:id="rId16"/>
    <p:sldId id="428" r:id="rId17"/>
    <p:sldId id="429" r:id="rId18"/>
    <p:sldId id="430" r:id="rId19"/>
    <p:sldId id="432" r:id="rId20"/>
    <p:sldId id="433" r:id="rId21"/>
    <p:sldId id="434" r:id="rId22"/>
    <p:sldId id="435" r:id="rId23"/>
    <p:sldId id="436" r:id="rId24"/>
    <p:sldId id="437" r:id="rId25"/>
    <p:sldId id="475" r:id="rId26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7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zhujia" initials="w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0F0"/>
    <a:srgbClr val="F8F8F8"/>
    <a:srgbClr val="F1F1F1"/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6" autoAdjust="0"/>
    <p:restoredTop sz="70575" autoAdjust="0"/>
  </p:normalViewPr>
  <p:slideViewPr>
    <p:cSldViewPr>
      <p:cViewPr varScale="1">
        <p:scale>
          <a:sx n="81" d="100"/>
          <a:sy n="81" d="100"/>
        </p:scale>
        <p:origin x="1072" y="176"/>
      </p:cViewPr>
      <p:guideLst>
        <p:guide orient="horz" pos="2087"/>
        <p:guide pos="3842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C6822-2CF9-407B-97F6-B5C3F0D04FD0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BB54-13A4-4BBD-86B6-C67793120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9766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F64D2-B46D-458F-8F5A-49B31CD8FEF4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80D9-CCCD-4530-9608-C2BA9AEF1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4367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88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85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422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93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7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555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25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2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090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67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67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95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44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304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8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68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175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844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900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641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782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607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724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394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8100" y="931863"/>
            <a:ext cx="3963988" cy="22304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以上是我汇报的全部内容，请各位专家指正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53BD76-09F8-4556-8F7F-1E413B4F017A}" type="datetime1">
              <a:rPr lang="en-US" altLang="zh-CN" smtClean="0"/>
              <a:t>10/16/24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Confidentiality Label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88AFD-C26B-478C-B2D8-3A933D69C95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8881"/>
            <a:ext cx="12192000" cy="1470025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Segoe Print" panose="02000600000000000000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038285"/>
            <a:ext cx="8534400" cy="1983003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Reporter</a:t>
            </a:r>
          </a:p>
          <a:p>
            <a:r>
              <a:rPr lang="en-US" altLang="zh-CN" dirty="0"/>
              <a:t>Hangzhou </a:t>
            </a:r>
            <a:r>
              <a:rPr lang="en-US" altLang="zh-CN" dirty="0" err="1"/>
              <a:t>Dianzi</a:t>
            </a:r>
            <a:r>
              <a:rPr lang="en-US" altLang="zh-CN" dirty="0"/>
              <a:t> University</a:t>
            </a:r>
          </a:p>
          <a:p>
            <a:r>
              <a:rPr lang="en-US" altLang="zh-CN" dirty="0"/>
              <a:t>Email: </a:t>
            </a:r>
          </a:p>
          <a:p>
            <a:r>
              <a:rPr lang="en-US" altLang="zh-CN" dirty="0"/>
              <a:t>http://camalab.hdu.edu.cn</a:t>
            </a:r>
            <a:endParaRPr lang="zh-CN" altLang="en-US" dirty="0"/>
          </a:p>
        </p:txBody>
      </p:sp>
      <p:sp>
        <p:nvSpPr>
          <p:cNvPr id="6" name="梯形 5"/>
          <p:cNvSpPr/>
          <p:nvPr userDrawn="1"/>
        </p:nvSpPr>
        <p:spPr>
          <a:xfrm rot="18949264">
            <a:off x="-555650" y="540832"/>
            <a:ext cx="2849619" cy="457480"/>
          </a:xfrm>
          <a:prstGeom prst="trapezoid">
            <a:avLst>
              <a:gd name="adj" fmla="val 946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论文写作指导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4552" y="44624"/>
            <a:ext cx="1016177" cy="1008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02630"/>
            <a:ext cx="12192000" cy="562074"/>
          </a:xfrm>
          <a:noFill/>
          <a:ln>
            <a:noFill/>
          </a:ln>
        </p:spPr>
        <p:txBody>
          <a:bodyPr>
            <a:noAutofit/>
          </a:bodyPr>
          <a:lstStyle>
            <a:lvl1pPr marL="360045" algn="l">
              <a:defRPr sz="3600" b="1" baseline="0">
                <a:solidFill>
                  <a:schemeClr val="tx2">
                    <a:lumMod val="75000"/>
                  </a:schemeClr>
                </a:solidFill>
                <a:latin typeface="等线" panose="02010600030101010101" pitchFamily="2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9376" y="908720"/>
            <a:ext cx="11103024" cy="5328592"/>
          </a:xfrm>
        </p:spPr>
        <p:txBody>
          <a:bodyPr/>
          <a:lstStyle>
            <a:lvl1pPr>
              <a:defRPr b="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0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  <a:p>
            <a:pPr lvl="1"/>
            <a:r>
              <a:rPr lang="en-US" altLang="zh-CN" dirty="0"/>
              <a:t>First Level</a:t>
            </a:r>
            <a:endParaRPr lang="zh-CN" altLang="en-US" dirty="0"/>
          </a:p>
          <a:p>
            <a:pPr lvl="2"/>
            <a:r>
              <a:rPr lang="en-US" altLang="zh-CN" dirty="0"/>
              <a:t>Second Level</a:t>
            </a:r>
            <a:endParaRPr lang="zh-CN" altLang="en-US" dirty="0"/>
          </a:p>
          <a:p>
            <a:pPr lvl="3"/>
            <a:r>
              <a:rPr lang="en-US" altLang="zh-CN" dirty="0"/>
              <a:t>Third Level</a:t>
            </a:r>
            <a:endParaRPr lang="zh-CN" altLang="en-US" dirty="0"/>
          </a:p>
          <a:p>
            <a:pPr lvl="4"/>
            <a:r>
              <a:rPr lang="en-US" altLang="zh-CN" dirty="0"/>
              <a:t>Fourth Level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9376" y="836712"/>
            <a:ext cx="1110302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6600" y="82361"/>
            <a:ext cx="615218" cy="610335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8132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6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bg1"/>
          </a:solidFill>
          <a:latin typeface="Segoe Print" panose="02000600000000000000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rgbClr val="0070C0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apertalks.org/p/resources/Academic/EnglishWritingSkills/MostCommonEnglishWritingHabitsOfChinese.pdf" TargetMode="External"/><Relationship Id="rId4" Type="http://schemas.openxmlformats.org/officeDocument/2006/relationships/hyperlink" Target="http://papertalks.org/p/resources/Academic/EnglishWritingSkills/MostCommonEngli%20shWritingHabitsOfChinese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ordhippo.com" TargetMode="Externa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hvault.ca/wp-content/uploads/Comprehensive-List-of-Mathematical-Symbols.pdf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chenlin/rebiber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310903"/>
            <a:ext cx="12192000" cy="1470025"/>
          </a:xfrm>
          <a:noFill/>
          <a:effectLst/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第六讲</a:t>
            </a:r>
            <a: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:</a:t>
            </a: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英文学术论文之写作规范</a:t>
            </a:r>
            <a:b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</a:br>
            <a:endParaRPr lang="zh-CN" altLang="en-US" sz="32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75520" y="2780928"/>
            <a:ext cx="8534400" cy="1584175"/>
          </a:xfrm>
        </p:spPr>
        <p:txBody>
          <a:bodyPr/>
          <a:lstStyle/>
          <a:p>
            <a:r>
              <a:rPr lang="zh-CN" altLang="en-US" sz="4000" b="1" dirty="0">
                <a:latin typeface="+mn-lt"/>
                <a:ea typeface="楷体" panose="02010609060101010101" pitchFamily="49" charset="-122"/>
              </a:rPr>
              <a:t>陈铭浩</a:t>
            </a:r>
            <a:endParaRPr lang="en-US" altLang="zh-CN" sz="4000" b="1" dirty="0"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杭州电子科技大学计算机学院</a:t>
            </a:r>
            <a:endParaRPr lang="en-US" altLang="zh-CN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5" r="499" b="3131"/>
          <a:stretch>
            <a:fillRect/>
          </a:stretch>
        </p:blipFill>
        <p:spPr>
          <a:xfrm>
            <a:off x="0" y="4653136"/>
            <a:ext cx="12192000" cy="219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英语写作规范——八项注意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</a:t>
            </a:fld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415415" y="1052195"/>
            <a:ext cx="6430010" cy="5261610"/>
            <a:chOff x="2229" y="1657"/>
            <a:chExt cx="10126" cy="8286"/>
          </a:xfrm>
        </p:grpSpPr>
        <p:sp>
          <p:nvSpPr>
            <p:cNvPr id="9" name="文本框 8"/>
            <p:cNvSpPr txBox="1"/>
            <p:nvPr/>
          </p:nvSpPr>
          <p:spPr>
            <a:xfrm>
              <a:off x="2229" y="1657"/>
              <a:ext cx="4628" cy="82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专业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的学术用语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规范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的符号使用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标准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的学术术语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客观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的图表绘制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正确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的文献引用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坚守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的学术道德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精简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的表达方式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zh-CN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严谨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的叙述逻辑</a:t>
              </a:r>
            </a:p>
          </p:txBody>
        </p:sp>
        <p:sp>
          <p:nvSpPr>
            <p:cNvPr id="11" name="右大括号 10"/>
            <p:cNvSpPr/>
            <p:nvPr/>
          </p:nvSpPr>
          <p:spPr>
            <a:xfrm>
              <a:off x="7218" y="2224"/>
              <a:ext cx="856" cy="5216"/>
            </a:xfrm>
            <a:prstGeom prst="rightBrace">
              <a:avLst/>
            </a:prstGeom>
            <a:noFill/>
            <a:ln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B050"/>
                  </a:solidFill>
                </a14:hiddenFill>
              </a:ext>
            </a:ex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827" y="4379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比较容易</a:t>
              </a:r>
            </a:p>
          </p:txBody>
        </p:sp>
        <p:sp>
          <p:nvSpPr>
            <p:cNvPr id="14" name="右大括号 13"/>
            <p:cNvSpPr/>
            <p:nvPr/>
          </p:nvSpPr>
          <p:spPr>
            <a:xfrm>
              <a:off x="7218" y="8157"/>
              <a:ext cx="856" cy="1551"/>
            </a:xfrm>
            <a:prstGeom prst="rightBrace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827" y="8527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不太容易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英语写作规范(</a:t>
            </a:r>
            <a:r>
              <a:rPr lang="en-US" dirty="0"/>
              <a:t>1</a:t>
            </a:r>
            <a:r>
              <a:rPr dirty="0"/>
              <a:t>)——专业的学术用语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</a:t>
            </a:fld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695325" y="1124585"/>
            <a:ext cx="11273790" cy="5234305"/>
            <a:chOff x="1095" y="1771"/>
            <a:chExt cx="17754" cy="8243"/>
          </a:xfrm>
        </p:grpSpPr>
        <p:sp>
          <p:nvSpPr>
            <p:cNvPr id="3" name="文本框 2"/>
            <p:cNvSpPr txBox="1"/>
            <p:nvPr/>
          </p:nvSpPr>
          <p:spPr>
            <a:xfrm>
              <a:off x="1095" y="1771"/>
              <a:ext cx="46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你的审稿人可能是…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" y="2791"/>
              <a:ext cx="2293" cy="2584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0" y="2111"/>
              <a:ext cx="6694" cy="3695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095" y="5740"/>
              <a:ext cx="604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当他打开你的论文，读到…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22" y="6962"/>
              <a:ext cx="14876" cy="3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Wingdings" panose="05000000000000000000" charset="0"/>
                <a:buChar char=""/>
              </a:pP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This is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no doubt the first</a:t>
              </a: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and the robust model to achieve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the best</a:t>
              </a: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performance in VQA</a:t>
              </a:r>
              <a:r>
                <a:rPr lang="en-US" altLang="zh-CN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indent="0" algn="l">
                <a:buFont typeface="Wingdings" panose="05000000000000000000" charset="0"/>
                <a:buNone/>
              </a:pPr>
              <a:endPara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285750" indent="-285750" algn="l">
                <a:buFont typeface="Wingdings" panose="05000000000000000000" charset="0"/>
                <a:buChar char=""/>
              </a:pP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As we know,</a:t>
              </a: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the channel gain varies much more slower than the channel phase,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and we</a:t>
              </a:r>
              <a:r>
                <a:rPr lang="en-US" altLang="zh-CN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</a:p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have thousands of ways to prove it.</a:t>
              </a:r>
            </a:p>
            <a:p>
              <a:pPr indent="0" algn="l">
                <a:buFont typeface="Wingdings" panose="05000000000000000000" charset="0"/>
                <a:buNone/>
              </a:pPr>
              <a:endPara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marL="342900" indent="-342900" algn="l">
                <a:buFont typeface="Wingdings" panose="05000000000000000000" charset="0"/>
                <a:buChar char=""/>
              </a:pP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His work is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good enough</a:t>
              </a:r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to provide essential multimodal information for reasoning.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 rot="20760000">
              <a:off x="16641" y="6847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太绝对！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 rot="20760000">
              <a:off x="16641" y="8037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太口语！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 rot="20760000">
              <a:off x="16641" y="9274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太主观！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</a:t>
            </a:fld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0" y="1124585"/>
            <a:ext cx="12192000" cy="5621655"/>
            <a:chOff x="0" y="1771"/>
            <a:chExt cx="19200" cy="8853"/>
          </a:xfrm>
        </p:grpSpPr>
        <p:grpSp>
          <p:nvGrpSpPr>
            <p:cNvPr id="11" name="组合 10"/>
            <p:cNvGrpSpPr/>
            <p:nvPr/>
          </p:nvGrpSpPr>
          <p:grpSpPr>
            <a:xfrm>
              <a:off x="446" y="1771"/>
              <a:ext cx="18754" cy="7928"/>
              <a:chOff x="446" y="1771"/>
              <a:chExt cx="18754" cy="7928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1095" y="1771"/>
                <a:ext cx="11541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Tips</a:t>
                </a:r>
                <a:r>
                  <a:rPr lang="zh-CN" alt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：阅读英文论文写作规范，告别懒惰!最容易提升!</a:t>
                </a:r>
              </a:p>
            </p:txBody>
          </p:sp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2" y="3063"/>
                <a:ext cx="8255" cy="6636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" name="文本框 6"/>
              <p:cNvSpPr txBox="1"/>
              <p:nvPr/>
            </p:nvSpPr>
            <p:spPr>
              <a:xfrm rot="20940000">
                <a:off x="446" y="3972"/>
                <a:ext cx="4128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导师“防秃”指南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0756" y="3100"/>
                <a:ext cx="8444" cy="5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🔅</a:t>
                </a:r>
                <a:r>
                  <a:rPr lang="en-US" altLang="zh-CN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an, the</a:t>
                </a:r>
                <a:endPara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🔅</a:t>
                </a:r>
                <a:r>
                  <a:rPr lang="en-US" altLang="zh-CN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very long sentences</a:t>
                </a:r>
                <a:endPara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🔅</a:t>
                </a:r>
                <a:r>
                  <a:rPr lang="en-US" altLang="zh-CN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as/etc.</a:t>
                </a:r>
                <a:endPara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🔅</a:t>
                </a:r>
                <a:r>
                  <a:rPr lang="en-US" altLang="zh-CN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numbers and equations</a:t>
                </a:r>
                <a:endParaRPr lang="zh-CN" altLang="en-US" sz="32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🔅</a:t>
                </a:r>
                <a:r>
                  <a:rPr lang="en-US" altLang="zh-CN" sz="32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</a:p>
            </p:txBody>
          </p:sp>
        </p:grpSp>
        <p:sp>
          <p:nvSpPr>
            <p:cNvPr id="12" name="文本框 11">
              <a:hlinkClick r:id="rId4"/>
            </p:cNvPr>
            <p:cNvSpPr txBox="1"/>
            <p:nvPr/>
          </p:nvSpPr>
          <p:spPr>
            <a:xfrm>
              <a:off x="0" y="10044"/>
              <a:ext cx="1869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dirty="0">
                  <a:hlinkClick r:id="rId5"/>
                </a:rPr>
                <a:t>http://papertalks.org/p/resources/Academic/EnglishWritingSkills/MostCommonEnglishWritingHabitsOfChinese.pdf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5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22935" y="1052830"/>
            <a:ext cx="10880725" cy="5313680"/>
            <a:chOff x="981" y="1658"/>
            <a:chExt cx="17135" cy="8368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12470" cy="116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a, an, the    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特定的指代用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the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，笼统的一个用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a/an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548" y="2906"/>
              <a:ext cx="16568" cy="7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2 shows the distribution of relative velocity on surface of main and splitter blades.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2 shows the distribution of relative velocity on</a:t>
              </a:r>
              <a:r>
                <a:rPr lang="zh-CN" alt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surface of </a:t>
              </a:r>
              <a:r>
                <a:rPr lang="zh-CN" alt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main and splitter blades.</a:t>
              </a: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software PowerSHAPE is chosen to be</a:t>
              </a: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3D modeling tool; it is good at dealing with free surfaces and curves.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software PowerSHAPE is chosen to be</a:t>
              </a: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3D modeling tool; it is good at dealing with free surfaces and curves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6</a:t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22935" y="1052830"/>
            <a:ext cx="10702925" cy="5619750"/>
            <a:chOff x="981" y="1658"/>
            <a:chExt cx="16855" cy="8850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7522" cy="116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不知道用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 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 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还是用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 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the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 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？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503" y="1900"/>
              <a:ext cx="4775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语法检查软件！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9" y="2678"/>
              <a:ext cx="3358" cy="251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4" y="5286"/>
              <a:ext cx="16473" cy="522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78" y="3018"/>
              <a:ext cx="3513" cy="2133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73" y="3215"/>
              <a:ext cx="3660" cy="178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249" y="3299"/>
              <a:ext cx="3223" cy="16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7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622935" y="1052830"/>
            <a:ext cx="11256010" cy="5313680"/>
            <a:chOff x="981" y="1658"/>
            <a:chExt cx="17726" cy="8368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17727" cy="116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very long sentences    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每个句子限定一两个主题，每句不超过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60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个单词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81" y="2906"/>
              <a:ext cx="17251" cy="7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gear transmission is grade seven, the gear gap is 0.00012 radians, the gear gap has different output values corresponding to any given input value, non- linearity of the gear gap model can be described by using the phase function method, the existing backlash block in the non-linear library of the Matlab/zdimulink toolbox can be used, the initial value of gear gap in the backlash block is set to zero.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gear transmission is grade seven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sz="240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gear gap, which is 0.00012 radians, has different output values corresponding to any given input value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sz="240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non- linearity of the gear gap model can be described by using the phase function method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sz="240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existing backlash block in the non-linear library of the Matlab/zdimulink toolbox can be used; the initial value of gear gap in the backlash block is set to zero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8</a:t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22935" y="1052830"/>
            <a:ext cx="10953750" cy="4870450"/>
            <a:chOff x="981" y="1658"/>
            <a:chExt cx="17250" cy="7670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17250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4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such as/etc.    such as 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表示接下来举几个例子，给出的是</a:t>
              </a:r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不完整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的列表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；</a:t>
              </a:r>
              <a:r>
                <a:rPr lang="en-US" altLang="zh-CN" sz="24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etc.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表示上述的例举还并不完整。两者用其一即可！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81" y="2906"/>
              <a:ext cx="17251" cy="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Studies of methodology and process of implementing remanufacturing mainly focus on durable products</a:t>
              </a: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such as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automobile motors, printers,</a:t>
              </a: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etc.</a:t>
              </a:r>
              <a:endPara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Studies of methodology and process of implementing remanufacturing mainly focus on durable products 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such as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automobile motors,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printers.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Compared to traditional industry, Micro-electronic fabrication </a:t>
              </a:r>
              <a:r>
                <a:rPr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 three characteristics such as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high complexity, high precision and high automation.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Compared to traditional industry, Micro-electronic fabrication 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 three characteristics: 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complexity, high precision and high automation.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9</a:t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22935" y="1052830"/>
            <a:ext cx="11033760" cy="3098800"/>
            <a:chOff x="981" y="1658"/>
            <a:chExt cx="17376" cy="4880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17377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4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Numbers and Equations    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阿拉伯数字不可用于句子开头；阿拉伯数字用于提供数据而不是一般信息！</a:t>
              </a:r>
              <a:endParaRPr lang="zh-CN" altLang="en-US" sz="24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81" y="2906"/>
              <a:ext cx="17251" cy="3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parameters were selected for the experiment.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Twelve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parameters were selected for the experiment.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 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studies concluded that the mean temperature should be 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30°C.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 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studies concluded that the mean temperature should be </a:t>
              </a: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30°C.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10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22935" y="1052830"/>
            <a:ext cx="11033760" cy="5313680"/>
            <a:chOff x="981" y="1658"/>
            <a:chExt cx="17376" cy="8368"/>
          </a:xfrm>
        </p:grpSpPr>
        <p:sp>
          <p:nvSpPr>
            <p:cNvPr id="6" name="文本框 5"/>
            <p:cNvSpPr txBox="1"/>
            <p:nvPr/>
          </p:nvSpPr>
          <p:spPr>
            <a:xfrm>
              <a:off x="981" y="1658"/>
              <a:ext cx="17377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🔅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注意单词的使用！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81" y="2906"/>
              <a:ext cx="17251" cy="7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 </a:t>
              </a: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got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some results.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</a:t>
              </a:r>
              <a:r>
                <a:rPr 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obtained</a:t>
              </a: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some results.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lot of 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experiments are conducted on three benchmarks.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Extensive</a:t>
              </a:r>
              <a:r>
                <a:rPr 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experiments are conducted on three benchmarks</a:t>
              </a: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.</a:t>
              </a:r>
              <a:endParaRPr 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Our model achieved </a:t>
              </a:r>
              <a:r>
                <a:rPr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amazing</a:t>
              </a: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results</a:t>
              </a: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Our model </a:t>
              </a: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achieved </a:t>
              </a:r>
              <a:r>
                <a:rPr lang="en-US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better performance</a:t>
              </a:r>
              <a:r>
                <a:rPr 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×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0000"/>
                </a:lnSpc>
                <a:buFont typeface="Wingdings" panose="05000000000000000000" charset="0"/>
                <a:buChar char=""/>
              </a:pPr>
              <a:endParaRPr 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013" y="335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不专业！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3796" y="5400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含糊不清！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94" y="7441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夸大其词！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+mn-ea"/>
              </a:rPr>
              <a:t> </a:t>
            </a:r>
            <a:r>
              <a:rPr dirty="0">
                <a:sym typeface="+mn-ea"/>
              </a:rPr>
              <a:t>英语写作规范(</a:t>
            </a:r>
            <a:r>
              <a:rPr lang="en-US" dirty="0">
                <a:sym typeface="+mn-ea"/>
              </a:rPr>
              <a:t>1</a:t>
            </a:r>
            <a:r>
              <a:rPr dirty="0">
                <a:sym typeface="+mn-ea"/>
              </a:rPr>
              <a:t>)——专业的学术用语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2935" y="1052830"/>
            <a:ext cx="110343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🔅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不知道单词的替换？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060575"/>
            <a:ext cx="5516245" cy="29991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5" y="1523365"/>
            <a:ext cx="4654550" cy="48056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9470" y="4940935"/>
            <a:ext cx="281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https://www.wordhippo.com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(2)</a:t>
            </a:r>
            <a:r>
              <a:rPr dirty="0"/>
              <a:t>——</a:t>
            </a:r>
            <a:r>
              <a:rPr lang="zh-CN" dirty="0"/>
              <a:t>规范的符号使用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12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551180" y="1124585"/>
            <a:ext cx="11246485" cy="5516880"/>
            <a:chOff x="868" y="1771"/>
            <a:chExt cx="17711" cy="8688"/>
          </a:xfrm>
        </p:grpSpPr>
        <p:sp>
          <p:nvSpPr>
            <p:cNvPr id="3" name="文本框 2"/>
            <p:cNvSpPr txBox="1"/>
            <p:nvPr/>
          </p:nvSpPr>
          <p:spPr>
            <a:xfrm>
              <a:off x="1095" y="1771"/>
              <a:ext cx="17484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数学符号：</a:t>
              </a:r>
              <a:r>
                <a:rPr lang="en-US" altLang="zh-CN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(</a:t>
              </a: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1)阅读英文论文符号公式定义规范，别偷懒😊(2)学习本领域经典论文!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5" y="2565"/>
              <a:ext cx="17130" cy="724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868" y="9879"/>
              <a:ext cx="1710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/>
                <a:t>Math Vault, </a:t>
              </a:r>
              <a:r>
                <a:rPr lang="zh-CN" altLang="en-US">
                  <a:hlinkClick r:id="rId4" action="ppaction://hlinkfile"/>
                </a:rPr>
                <a:t>https://mathvault.ca/wp-content/uploads/Comprehensive-List-of-Mathematical-Symbols.pdf</a:t>
              </a:r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(2)</a:t>
            </a:r>
            <a:r>
              <a:rPr dirty="0"/>
              <a:t>——</a:t>
            </a:r>
            <a:r>
              <a:rPr lang="zh-CN" dirty="0"/>
              <a:t>规范的符号使用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13</a:t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335280" y="1124585"/>
            <a:ext cx="11640820" cy="5906770"/>
            <a:chOff x="528" y="1771"/>
            <a:chExt cx="18332" cy="9302"/>
          </a:xfrm>
        </p:grpSpPr>
        <p:sp>
          <p:nvSpPr>
            <p:cNvPr id="3" name="文本框 2"/>
            <p:cNvSpPr txBox="1"/>
            <p:nvPr/>
          </p:nvSpPr>
          <p:spPr>
            <a:xfrm>
              <a:off x="1095" y="1771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标点符号：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590" y="1771"/>
              <a:ext cx="8418" cy="1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Wingdings" panose="05000000000000000000" charset="0"/>
                <a:buChar char=""/>
              </a:pP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标点符号之后要空格！</a:t>
              </a:r>
            </a:p>
            <a:p>
              <a:pPr marL="285750" indent="-285750" algn="l">
                <a:buFont typeface="Wingdings" panose="05000000000000000000" charset="0"/>
                <a:buChar char=""/>
              </a:pP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逗号，句号，分号等之前不要空格！</a:t>
              </a:r>
            </a:p>
            <a:p>
              <a:pPr marL="285750" indent="-285750" algn="l">
                <a:buFont typeface="Wingdings" panose="05000000000000000000" charset="0"/>
                <a:buChar char=""/>
              </a:pPr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文献引用的标注前也要空格！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28" y="3659"/>
              <a:ext cx="18332" cy="7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×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the control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variables,the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of urbanization and service has a significant positive effect on green total factor productivity.</a:t>
              </a:r>
            </a:p>
            <a:p>
              <a:pPr marL="342900" indent="-342900" algn="l">
                <a:buFont typeface="Wingdings" panose="05000000000000000000" charset="0"/>
                <a:buChar char="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For the control </a:t>
              </a:r>
              <a:r>
                <a:rPr lang="zh-CN" altLang="en-US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variables,</a:t>
              </a:r>
              <a:r>
                <a:rPr lang="en-US" altLang="zh-CN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the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level of urbanization and service has a significant positive effect on green total factor productivity.</a:t>
              </a:r>
            </a:p>
            <a:p>
              <a:pPr marL="342900" indent="-342900" algn="l">
                <a:buFont typeface="Wingdings" panose="05000000000000000000" charset="0"/>
                <a:buChar char=""/>
              </a:pP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buFont typeface="Arial" panose="020B0604020202020204" pitchFamily="34" charset="0"/>
                <a:buChar char="×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theoretical bases involved include optics (optical tweezers technology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,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acoustics (Acoustic Levitation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,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electrodynamics, and magnetism.</a:t>
              </a:r>
            </a:p>
            <a:p>
              <a:pPr marL="342900" indent="-342900" algn="l">
                <a:buFont typeface="Wingdings" panose="05000000000000000000" charset="0"/>
                <a:buChar char="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theoretical bases involved include optics (optical tweezers technology</a:t>
              </a:r>
              <a:r>
                <a:rPr lang="zh-CN" altLang="en-US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acoustics (Acoustic Levitation</a:t>
              </a:r>
              <a:r>
                <a:rPr lang="zh-CN" altLang="en-US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electrodynamics, and magnetism.</a:t>
              </a:r>
            </a:p>
            <a:p>
              <a:pPr marL="342900" indent="-342900" algn="l">
                <a:buFont typeface="Arial" panose="020B0604020202020204" pitchFamily="34" charset="0"/>
                <a:buChar char="×"/>
              </a:pP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buFont typeface="Arial" panose="020B0604020202020204" pitchFamily="34" charset="0"/>
                <a:buChar char="×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Sarah </a:t>
              </a:r>
              <a:r>
                <a:rPr lang="zh-CN" alt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Krainer[14] and Bing He[15]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discovered the impact that surface tension works in the inkjet droplet formation.</a:t>
              </a:r>
            </a:p>
            <a:p>
              <a:pPr marL="342900" indent="-342900" algn="l">
                <a:buFont typeface="Wingdings" panose="05000000000000000000" charset="0"/>
                <a:buChar char=""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Sarah </a:t>
              </a:r>
              <a:r>
                <a:rPr lang="zh-CN" altLang="en-US"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Krainer [14] and Bing He [15] </a:t>
              </a: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discovered the impact that surface tension works in the inkjet droplet formation.</a:t>
              </a:r>
            </a:p>
            <a:p>
              <a:pPr marL="342900" indent="-342900" algn="l">
                <a:buFont typeface="Arial" panose="020B0604020202020204" pitchFamily="34" charset="0"/>
                <a:buChar char="×"/>
              </a:pP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(3)</a:t>
            </a:r>
            <a:r>
              <a:rPr dirty="0"/>
              <a:t>——</a:t>
            </a:r>
            <a:r>
              <a:rPr lang="zh-CN" dirty="0"/>
              <a:t>标准的学术术语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14</a:t>
            </a:fld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695325" y="908685"/>
            <a:ext cx="11127740" cy="5869305"/>
            <a:chOff x="1095" y="1431"/>
            <a:chExt cx="17524" cy="9243"/>
          </a:xfrm>
        </p:grpSpPr>
        <p:sp>
          <p:nvSpPr>
            <p:cNvPr id="6" name="文本框 5"/>
            <p:cNvSpPr txBox="1"/>
            <p:nvPr/>
          </p:nvSpPr>
          <p:spPr>
            <a:xfrm>
              <a:off x="1095" y="1771"/>
              <a:ext cx="12528" cy="1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人工智能技术发展迅速，学术术语内涵和外延不断变化</a:t>
              </a:r>
              <a:r>
                <a:rPr lang="zh-CN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！</a:t>
              </a:r>
              <a:r>
                <a:rPr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</a:p>
            <a:p>
              <a:pPr algn="l">
                <a:lnSpc>
                  <a:spcPct val="120000"/>
                </a:lnSpc>
              </a:pPr>
              <a:r>
                <a:rPr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学术论文需要精准把握学术术语边界</a:t>
              </a:r>
              <a:r>
                <a:rPr lang="zh-CN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（</a:t>
              </a:r>
              <a:r>
                <a:rPr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共识</a:t>
              </a:r>
              <a:r>
                <a:rPr lang="zh-CN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）！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95" y="3472"/>
              <a:ext cx="6267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</a:t>
              </a:r>
              <a:r>
                <a:rPr lang="zh-CN" altLang="en-US" sz="20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计算机术语工委 及 </a:t>
              </a:r>
              <a:r>
                <a:rPr lang="zh-CN" altLang="en-US" sz="200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CCFpedia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" y="3987"/>
              <a:ext cx="5351" cy="6687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7559" y="3472"/>
              <a:ext cx="38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50000"/>
                    </a:schemeClr>
                  </a:solidFill>
                  <a:ea typeface="黑体" panose="02010609060101010101" pitchFamily="49" charset="-122"/>
                </a:rPr>
                <a:t>术语内涵及外延介绍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8" y="4040"/>
              <a:ext cx="5707" cy="663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3569" y="5173"/>
              <a:ext cx="3621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50000"/>
                    </a:schemeClr>
                  </a:solidFill>
                  <a:ea typeface="黑体" panose="02010609060101010101" pitchFamily="49" charset="-122"/>
                </a:rPr>
                <a:t>参考文献/经典工作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75" y="5801"/>
              <a:ext cx="5844" cy="468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76" y="1431"/>
              <a:ext cx="3791" cy="38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(4)</a:t>
            </a:r>
            <a:r>
              <a:rPr dirty="0"/>
              <a:t>——</a:t>
            </a:r>
            <a:r>
              <a:rPr lang="zh-CN" dirty="0"/>
              <a:t>客观的图表绘制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15</a:t>
            </a:fld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335280" y="981075"/>
            <a:ext cx="11771630" cy="5842000"/>
            <a:chOff x="528" y="1545"/>
            <a:chExt cx="18538" cy="9200"/>
          </a:xfrm>
        </p:grpSpPr>
        <p:grpSp>
          <p:nvGrpSpPr>
            <p:cNvPr id="23" name="组合 22"/>
            <p:cNvGrpSpPr/>
            <p:nvPr/>
          </p:nvGrpSpPr>
          <p:grpSpPr>
            <a:xfrm>
              <a:off x="641" y="1545"/>
              <a:ext cx="17804" cy="3529"/>
              <a:chOff x="641" y="1545"/>
              <a:chExt cx="17804" cy="3529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" y="1545"/>
                <a:ext cx="6187" cy="3529"/>
              </a:xfrm>
              <a:prstGeom prst="rect">
                <a:avLst/>
              </a:prstGeom>
            </p:spPr>
          </p:pic>
          <p:sp>
            <p:nvSpPr>
              <p:cNvPr id="4" name="圆角矩形 3"/>
              <p:cNvSpPr/>
              <p:nvPr/>
            </p:nvSpPr>
            <p:spPr>
              <a:xfrm>
                <a:off x="7105" y="1664"/>
                <a:ext cx="11340" cy="3291"/>
              </a:xfrm>
              <a:prstGeom prst="roundRect">
                <a:avLst/>
              </a:prstGeom>
              <a:noFill/>
              <a:ln w="38100">
                <a:solidFill>
                  <a:schemeClr val="accent1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7445" y="1885"/>
                <a:ext cx="7300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是否真实、准确地展示和反映实验结果?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8125" y="2566"/>
                <a:ext cx="9708" cy="2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 algn="l">
                  <a:lnSpc>
                    <a:spcPct val="140000"/>
                  </a:lnSpc>
                  <a:buFont typeface="Wingdings" panose="05000000000000000000" charset="0"/>
                  <a:buChar char=""/>
                </a:pP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只展示自己方法的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best case</a:t>
                </a:r>
                <a:r>
                  <a:rPr lang="zh-CN" altLang="en-US" sz="2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?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其他方法的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worst case</a:t>
                </a:r>
                <a:r>
                  <a:rPr lang="zh-CN" altLang="en-US" sz="200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? </a:t>
                </a:r>
                <a:endPara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285750" indent="-285750" algn="l">
                  <a:lnSpc>
                    <a:spcPct val="140000"/>
                  </a:lnSpc>
                  <a:buFont typeface="Wingdings" panose="05000000000000000000" charset="0"/>
                  <a:buChar char=""/>
                </a:pP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只有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定性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分析，缺乏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定量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分析?</a:t>
                </a:r>
              </a:p>
              <a:p>
                <a:pPr marL="285750" indent="-285750" algn="l">
                  <a:lnSpc>
                    <a:spcPct val="140000"/>
                  </a:lnSpc>
                  <a:buFont typeface="Wingdings" panose="05000000000000000000" charset="0"/>
                  <a:buChar char=""/>
                </a:pP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只有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一次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结果，缺乏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重复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验证?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" y="5093"/>
              <a:ext cx="18539" cy="5653"/>
              <a:chOff x="484" y="3075"/>
              <a:chExt cx="18539" cy="5653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598" y="3075"/>
                <a:ext cx="17893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Tips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：(1)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展示探究本质的全面结果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(2)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多视角量化分析结果提升原因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(3)</a:t>
                </a:r>
                <a:r>
                  <a:rPr lang="en-US" altLang="zh-CN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模型细节明确，提供代码</a:t>
                </a:r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" y="3722"/>
                <a:ext cx="7109" cy="5006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8" y="3720"/>
                <a:ext cx="6724" cy="4869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50" y="4178"/>
                <a:ext cx="4573" cy="4095"/>
              </a:xfrm>
              <a:prstGeom prst="rect">
                <a:avLst/>
              </a:prstGeom>
            </p:spPr>
          </p:pic>
          <p:sp>
            <p:nvSpPr>
              <p:cNvPr id="11" name="矩形 10"/>
              <p:cNvSpPr/>
              <p:nvPr/>
            </p:nvSpPr>
            <p:spPr>
              <a:xfrm>
                <a:off x="14433" y="6047"/>
                <a:ext cx="3061" cy="28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(5)</a:t>
            </a:r>
            <a:r>
              <a:rPr dirty="0"/>
              <a:t>——</a:t>
            </a:r>
            <a:r>
              <a:rPr lang="zh-CN" dirty="0"/>
              <a:t>正确的文献引用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16</a:t>
            </a:fld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79425" y="908685"/>
            <a:ext cx="11175365" cy="5669280"/>
            <a:chOff x="755" y="1431"/>
            <a:chExt cx="17599" cy="892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" y="4153"/>
              <a:ext cx="8619" cy="620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3" y="4153"/>
              <a:ext cx="8641" cy="620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 rot="20880000">
              <a:off x="1795" y="2459"/>
              <a:ext cx="50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五花八门的文献格式！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6" y="1431"/>
              <a:ext cx="2965" cy="2781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1201" y="1848"/>
              <a:ext cx="6864" cy="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美其名曰：</a:t>
              </a:r>
            </a:p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谷歌学术的格式就是这样！</a:t>
              </a:r>
            </a:p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某篇</a:t>
              </a:r>
              <a:r>
                <a:rPr lang="en-US" altLang="zh-CN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类论文的格式就是这样！</a:t>
              </a:r>
            </a:p>
            <a:p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信息就是找不到！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(5)</a:t>
            </a:r>
            <a:r>
              <a:rPr dirty="0"/>
              <a:t>——</a:t>
            </a:r>
            <a:r>
              <a:rPr lang="zh-CN" dirty="0"/>
              <a:t>正确的文献引用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17</a:t>
            </a:fld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407035" y="1052830"/>
            <a:ext cx="11594465" cy="5659755"/>
            <a:chOff x="641" y="1658"/>
            <a:chExt cx="18259" cy="8913"/>
          </a:xfrm>
        </p:grpSpPr>
        <p:sp>
          <p:nvSpPr>
            <p:cNvPr id="3" name="文本框 2"/>
            <p:cNvSpPr txBox="1"/>
            <p:nvPr/>
          </p:nvSpPr>
          <p:spPr>
            <a:xfrm>
              <a:off x="1095" y="1658"/>
              <a:ext cx="16633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Tips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：(1)遵守会议/期刊标准模板</a:t>
              </a:r>
              <a:r>
                <a:rPr lang="en-US" altLang="zh-CN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(2)</a:t>
              </a:r>
              <a:r>
                <a:rPr lang="en-US" altLang="zh-CN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快速、准确导入文献信息</a:t>
              </a:r>
              <a:r>
                <a:rPr lang="en-US" altLang="zh-CN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(3)</a:t>
              </a:r>
              <a:r>
                <a:rPr lang="en-US" altLang="zh-CN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认真、多次检查文献格式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95" y="2883"/>
              <a:ext cx="282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期刊/会议标准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" y="3991"/>
              <a:ext cx="5915" cy="6533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15" y="4039"/>
              <a:ext cx="6250" cy="653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02" y="4039"/>
              <a:ext cx="5899" cy="5688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6992" y="2905"/>
              <a:ext cx="376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DBLP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参考文献信息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3229" y="2879"/>
              <a:ext cx="5558" cy="1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一键完善论文参考文献信息:</a:t>
              </a:r>
            </a:p>
            <a:p>
              <a:pPr algn="l"/>
              <a:r>
                <a:rPr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  <a:hlinkClick r:id="rId6" action="ppaction://hlinkfile"/>
                </a:rPr>
                <a:t>https://github.com/yuchenlin/rebiber</a:t>
              </a:r>
              <a:endPara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(6)</a:t>
            </a:r>
            <a:r>
              <a:rPr dirty="0"/>
              <a:t>——</a:t>
            </a:r>
            <a:r>
              <a:rPr lang="zh-CN" dirty="0"/>
              <a:t>坚守的学术道德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18</a:t>
            </a:fld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85445" y="1069975"/>
            <a:ext cx="11598910" cy="5755005"/>
            <a:chOff x="607" y="1685"/>
            <a:chExt cx="18266" cy="9063"/>
          </a:xfrm>
        </p:grpSpPr>
        <p:grpSp>
          <p:nvGrpSpPr>
            <p:cNvPr id="20" name="组合 19"/>
            <p:cNvGrpSpPr/>
            <p:nvPr/>
          </p:nvGrpSpPr>
          <p:grpSpPr>
            <a:xfrm>
              <a:off x="607" y="1708"/>
              <a:ext cx="18266" cy="9041"/>
              <a:chOff x="1095" y="1658"/>
              <a:chExt cx="18266" cy="904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" y="1658"/>
                <a:ext cx="4812" cy="9041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6" y="4713"/>
                <a:ext cx="6115" cy="5286"/>
              </a:xfrm>
              <a:prstGeom prst="rect">
                <a:avLst/>
              </a:prstGeom>
            </p:spPr>
          </p:pic>
          <p:sp>
            <p:nvSpPr>
              <p:cNvPr id="9" name="文本框 8"/>
              <p:cNvSpPr txBox="1"/>
              <p:nvPr/>
            </p:nvSpPr>
            <p:spPr>
              <a:xfrm>
                <a:off x="6352" y="7328"/>
                <a:ext cx="5808" cy="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24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对自己一辈子声誉的影响 </a:t>
                </a: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24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对合作者的影响 </a:t>
                </a: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24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对所在学校/单位的影响</a:t>
                </a:r>
              </a:p>
              <a:p>
                <a:pPr algn="l">
                  <a:lnSpc>
                    <a:spcPct val="130000"/>
                  </a:lnSpc>
                </a:pPr>
                <a:r>
                  <a:rPr lang="en-US" altLang="zh-CN" sz="24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......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3584" y="2213"/>
                <a:ext cx="4208" cy="1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28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严守学术道德，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zh-CN" altLang="en-US" sz="28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切记抄袭!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518" y="1685"/>
              <a:ext cx="7303" cy="5294"/>
              <a:chOff x="5518" y="1685"/>
              <a:chExt cx="7303" cy="5294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7" y="1685"/>
                <a:ext cx="7084" cy="207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8" y="3925"/>
                <a:ext cx="7199" cy="30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(7)</a:t>
            </a:r>
            <a:r>
              <a:rPr dirty="0"/>
              <a:t>——</a:t>
            </a:r>
            <a:r>
              <a:rPr lang="zh-CN" dirty="0"/>
              <a:t>精简的表达方式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19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-43180" y="1052830"/>
            <a:ext cx="12432030" cy="5571490"/>
            <a:chOff x="-68" y="1658"/>
            <a:chExt cx="19578" cy="8774"/>
          </a:xfrm>
        </p:grpSpPr>
        <p:sp>
          <p:nvSpPr>
            <p:cNvPr id="23" name="文本框 22"/>
            <p:cNvSpPr txBox="1"/>
            <p:nvPr/>
          </p:nvSpPr>
          <p:spPr>
            <a:xfrm>
              <a:off x="14930" y="4492"/>
              <a:ext cx="4581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一句话命名方法及问题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一句话突出方法目标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一句话介绍方法创新</a:t>
              </a: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-68" y="1658"/>
              <a:ext cx="19355" cy="8775"/>
              <a:chOff x="-68" y="1658"/>
              <a:chExt cx="19355" cy="8775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2" y="1658"/>
                <a:ext cx="2732" cy="2493"/>
              </a:xfrm>
              <a:prstGeom prst="rect">
                <a:avLst/>
              </a:prstGeom>
            </p:spPr>
          </p:pic>
          <p:sp>
            <p:nvSpPr>
              <p:cNvPr id="4" name="圆角矩形 3"/>
              <p:cNvSpPr/>
              <p:nvPr/>
            </p:nvSpPr>
            <p:spPr>
              <a:xfrm>
                <a:off x="5291" y="1885"/>
                <a:ext cx="11680" cy="2154"/>
              </a:xfrm>
              <a:prstGeom prst="roundRect">
                <a:avLst/>
              </a:prstGeom>
              <a:noFill/>
              <a:ln w="3810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518" y="1957"/>
                <a:ext cx="11026" cy="2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     </a:t>
                </a: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论文只是一个载体，是为了向同行们宣告你的科研发现，是科学领域交流的重要工具。所以，在科研论文写作时，一定要谨记于心的就是:</a:t>
                </a:r>
                <a:r>
                  <a:rPr lang="en-US" altLang="zh-CN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用最简单的话表达最明白的意思!</a:t>
                </a:r>
              </a:p>
              <a:p>
                <a:pPr algn="r"/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——施一公</a:t>
                </a:r>
              </a:p>
            </p:txBody>
          </p: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4" y="4266"/>
                <a:ext cx="5903" cy="4596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67" y="4266"/>
                <a:ext cx="5165" cy="4529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>
                <a:off x="0" y="4153"/>
                <a:ext cx="4384" cy="19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-68" y="4379"/>
                <a:ext cx="4338" cy="1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表达：一句话</a:t>
                </a:r>
                <a:r>
                  <a:rPr lang="en-US" altLang="zh-CN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3</a:t>
                </a:r>
                <a:r>
                  <a:rPr lang="zh-CN" altLang="en-US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个从句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问题：混淆方法和问题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无重点！有语病！</a:t>
                </a: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0" y="6420"/>
                <a:ext cx="4384" cy="192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0" y="6658"/>
                <a:ext cx="4396" cy="1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表达：一句话</a:t>
                </a:r>
                <a:r>
                  <a:rPr lang="en-US" altLang="zh-CN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44</a:t>
                </a:r>
                <a:r>
                  <a:rPr lang="zh-CN" altLang="en-US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个单词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问题：加入太多细节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无重点！有语病！</a:t>
                </a: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4930" y="4266"/>
                <a:ext cx="4269" cy="19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4502" y="6534"/>
                <a:ext cx="4685" cy="103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4589" y="6760"/>
                <a:ext cx="469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>
                    <a:solidFill>
                      <a:schemeClr val="accent4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一句话表达核心方法思路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404" y="8795"/>
                <a:ext cx="1888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最初版本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1981" y="8801"/>
                <a:ext cx="1888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最终版本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29" y="9709"/>
                <a:ext cx="17335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Tips</a:t>
                </a:r>
                <a:r>
                  <a:rPr lang="zh-CN" alt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</a:t>
                </a:r>
                <a:r>
                  <a:rPr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(1)</a:t>
                </a:r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一句话只表达一个意思!</a:t>
                </a:r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</a:t>
                </a:r>
                <a:r>
                  <a:rPr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(2) 减少中文翻译英文!</a:t>
                </a:r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 </a:t>
                </a:r>
                <a:r>
                  <a:rPr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(3)</a:t>
                </a:r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sz="240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避免重复表达! </a:t>
                </a: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14930" y="4492"/>
              <a:ext cx="4581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一句话命名方法及问题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一句话突出方法目标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一句话介绍方法创新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(8)</a:t>
            </a:r>
            <a:r>
              <a:rPr dirty="0"/>
              <a:t>——</a:t>
            </a:r>
            <a:r>
              <a:rPr lang="zh-CN" dirty="0"/>
              <a:t>严谨的叙述逻辑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20</a:t>
            </a:fld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551180" y="981075"/>
            <a:ext cx="10248265" cy="5657215"/>
            <a:chOff x="868" y="1772"/>
            <a:chExt cx="16139" cy="8909"/>
          </a:xfrm>
        </p:grpSpPr>
        <p:sp>
          <p:nvSpPr>
            <p:cNvPr id="6" name="文本框 5"/>
            <p:cNvSpPr txBox="1"/>
            <p:nvPr/>
          </p:nvSpPr>
          <p:spPr>
            <a:xfrm>
              <a:off x="868" y="1772"/>
              <a:ext cx="11577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假设审稿人还有一个小时审稿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deadline，</a:t>
              </a:r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刚打开你的论文，读到...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82" y="3019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这么一句话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2" y="3813"/>
              <a:ext cx="1440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we introduce a generalized multimodal learning framework </a:t>
              </a:r>
              <a:r>
                <a:rPr lang="zh-CN" altLang="en-US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MMnas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via neural architecture search, 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89" y="2792"/>
              <a:ext cx="2418" cy="7662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982" y="4898"/>
              <a:ext cx="31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这么一个公式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82" y="6502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这么一个图</a:t>
              </a: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57" y="6097"/>
              <a:ext cx="5286" cy="458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18" y="4431"/>
              <a:ext cx="7050" cy="1555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8020" y="4327"/>
              <a:ext cx="793" cy="5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1648" y="4431"/>
              <a:ext cx="793" cy="5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227" y="4431"/>
              <a:ext cx="793" cy="61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772" y="5128"/>
              <a:ext cx="793" cy="5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0174" y="5150"/>
              <a:ext cx="793" cy="5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384" y="9028"/>
              <a:ext cx="1475" cy="89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8012" y="9028"/>
              <a:ext cx="1475" cy="89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3930" y="7781"/>
              <a:ext cx="6104" cy="89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(8)</a:t>
            </a:r>
            <a:r>
              <a:rPr dirty="0"/>
              <a:t>——</a:t>
            </a:r>
            <a:r>
              <a:rPr lang="zh-CN" dirty="0"/>
              <a:t>严谨的叙述逻辑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21</a:t>
            </a:fld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479425" y="1484630"/>
            <a:ext cx="10915650" cy="3842385"/>
            <a:chOff x="755" y="1998"/>
            <a:chExt cx="17190" cy="6051"/>
          </a:xfrm>
        </p:grpSpPr>
        <p:sp>
          <p:nvSpPr>
            <p:cNvPr id="3" name="文本框 2"/>
            <p:cNvSpPr txBox="1"/>
            <p:nvPr/>
          </p:nvSpPr>
          <p:spPr>
            <a:xfrm>
              <a:off x="868" y="1998"/>
              <a:ext cx="944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Tips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（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1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）在术语使用前定义与解释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" y="4153"/>
              <a:ext cx="10758" cy="327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95" y="2679"/>
              <a:ext cx="5850" cy="5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(8)</a:t>
            </a:r>
            <a:r>
              <a:rPr dirty="0"/>
              <a:t>——</a:t>
            </a:r>
            <a:r>
              <a:rPr lang="zh-CN" dirty="0"/>
              <a:t>严谨的叙述逻辑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22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51180" y="1268730"/>
            <a:ext cx="95561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Tips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）给出公式后集中对定义及公式中的符号进行解释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055" y="2564765"/>
            <a:ext cx="5924550" cy="2543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64765"/>
            <a:ext cx="6067425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(8)</a:t>
            </a:r>
            <a:r>
              <a:rPr dirty="0"/>
              <a:t>——</a:t>
            </a:r>
            <a:r>
              <a:rPr lang="zh-CN" dirty="0"/>
              <a:t>严谨的叙述逻辑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23</a:t>
            </a:fld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551180" y="908685"/>
            <a:ext cx="11675745" cy="5975350"/>
            <a:chOff x="868" y="1431"/>
            <a:chExt cx="18387" cy="9410"/>
          </a:xfrm>
        </p:grpSpPr>
        <p:sp>
          <p:nvSpPr>
            <p:cNvPr id="3" name="文本框 2"/>
            <p:cNvSpPr txBox="1"/>
            <p:nvPr/>
          </p:nvSpPr>
          <p:spPr>
            <a:xfrm>
              <a:off x="868" y="1431"/>
              <a:ext cx="1403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Tips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（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3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）有清晰的段落结构， 段落/章节之间有过度!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" y="2338"/>
              <a:ext cx="9032" cy="842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41" y="2668"/>
              <a:ext cx="4155" cy="7956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1528" y="3561"/>
              <a:ext cx="4423" cy="9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5950" y="3422"/>
              <a:ext cx="3062" cy="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873" y="3422"/>
              <a:ext cx="3382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为了解决上述问题，</a:t>
              </a:r>
            </a:p>
            <a:p>
              <a:r>
                <a:rPr lang="en-US" altLang="zh-CN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等人又提出了</a:t>
              </a:r>
              <a:r>
                <a:rPr lang="en-US" altLang="zh-CN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094" y="7668"/>
              <a:ext cx="4547" cy="262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094" y="6761"/>
              <a:ext cx="4546" cy="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559" y="6761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引出注意力机制，</a:t>
              </a:r>
            </a:p>
            <a:p>
              <a:r>
                <a:rPr lang="en-US" altLang="zh-CN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等人提出</a:t>
              </a:r>
              <a:r>
                <a:rPr lang="en-US" altLang="zh-CN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 sz="16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105" y="10503"/>
              <a:ext cx="4547" cy="33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1528" y="2565"/>
              <a:ext cx="4423" cy="90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1596" y="2230"/>
              <a:ext cx="5131" cy="5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528" y="2225"/>
              <a:ext cx="52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但是他们的方法有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的不足之处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1596" y="5211"/>
              <a:ext cx="4437" cy="74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2616" y="4631"/>
              <a:ext cx="5131" cy="5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548" y="4626"/>
              <a:ext cx="52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但是这些方法又存在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不足之处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1640" y="6006"/>
              <a:ext cx="4534" cy="464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684" y="6029"/>
              <a:ext cx="3243" cy="396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5841" y="6140"/>
              <a:ext cx="2854" cy="3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我们认为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并提出我们的思路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设计了两个单元：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SA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、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GA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设计了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MCA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层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提出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MCAN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英语写作规范</a:t>
            </a:r>
            <a:r>
              <a:rPr lang="en-US" dirty="0"/>
              <a:t>(8)</a:t>
            </a:r>
            <a:r>
              <a:rPr dirty="0"/>
              <a:t>——</a:t>
            </a:r>
            <a:r>
              <a:rPr lang="zh-CN" dirty="0"/>
              <a:t>严谨的叙述逻辑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24</a:t>
            </a:fld>
            <a:endParaRPr lang="zh-CN" alt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62890" y="909320"/>
            <a:ext cx="11878945" cy="5596255"/>
            <a:chOff x="414" y="1432"/>
            <a:chExt cx="18707" cy="881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" y="6421"/>
              <a:ext cx="10290" cy="382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5" y="2225"/>
              <a:ext cx="6804" cy="4166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99" y="2452"/>
              <a:ext cx="11223" cy="381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74" y="6648"/>
              <a:ext cx="7020" cy="2880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68" y="1432"/>
              <a:ext cx="16915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Tips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（</a:t>
              </a:r>
              <a:r>
                <a:rPr lang="en-US" altLang="zh-CN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4</a:t>
              </a:r>
              <a:r>
                <a:rPr lang="zh-CN" altLang="en-US" sz="2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）图表文字清晰直接表达内容，与图注、表注、正文一致!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93506" y="2139079"/>
            <a:ext cx="10004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感谢聆听，敬请指正！</a:t>
            </a:r>
            <a:endParaRPr kumimoji="1" lang="en-US" altLang="zh-CN" sz="6000" b="1" dirty="0">
              <a:solidFill>
                <a:srgbClr val="20386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03B2-A378-42BD-B5EC-F7748F169FE0}" type="slidenum">
              <a:rPr lang="en-US" altLang="zh-CN" smtClean="0"/>
              <a:t>25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35" y="124839"/>
            <a:ext cx="1331089" cy="1331089"/>
          </a:xfrm>
          <a:prstGeom prst="rect">
            <a:avLst/>
          </a:prstGeom>
        </p:spPr>
      </p:pic>
      <p:pic>
        <p:nvPicPr>
          <p:cNvPr id="13" name="图片 12" descr="图片包含 天空, 建筑物, 户外, 道路&#10;&#10;已生成极高可信度的说明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4" b="12793"/>
          <a:stretch>
            <a:fillRect/>
          </a:stretch>
        </p:blipFill>
        <p:spPr>
          <a:xfrm>
            <a:off x="0" y="4484225"/>
            <a:ext cx="12192000" cy="237276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0" y="4484225"/>
            <a:ext cx="12192000" cy="2360665"/>
          </a:xfrm>
          <a:prstGeom prst="rect">
            <a:avLst/>
          </a:prstGeom>
          <a:solidFill>
            <a:srgbClr val="0448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91440"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488d6-013d-4f79-b99c-07d6bdc768d8"/>
  <p:tag name="COMMONDATA" val="eyJoZGlkIjoiNTVlZmI5NWM4MTA1NmIyYjhiNmEzMGRhODMxNjEyM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1923</Words>
  <Application>Microsoft Macintosh PowerPoint</Application>
  <PresentationFormat>宽屏</PresentationFormat>
  <Paragraphs>246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等线</vt:lpstr>
      <vt:lpstr>黑体</vt:lpstr>
      <vt:lpstr>微软雅黑</vt:lpstr>
      <vt:lpstr>Arial</vt:lpstr>
      <vt:lpstr>Calibri</vt:lpstr>
      <vt:lpstr>Segoe Print</vt:lpstr>
      <vt:lpstr>Times New Roman</vt:lpstr>
      <vt:lpstr>Wingdings</vt:lpstr>
      <vt:lpstr>Office 主题</vt:lpstr>
      <vt:lpstr>第六讲:英文学术论文之写作规范 </vt:lpstr>
      <vt:lpstr> 英语写作规范——八项注意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英语写作规范(1)——专业的学术用语</vt:lpstr>
      <vt:lpstr> 英语写作规范(2)——规范的符号使用</vt:lpstr>
      <vt:lpstr> 英语写作规范(2)——规范的符号使用</vt:lpstr>
      <vt:lpstr> 英语写作规范(3)——标准的学术术语</vt:lpstr>
      <vt:lpstr> 英语写作规范(4)——客观的图表绘制</vt:lpstr>
      <vt:lpstr> 英语写作规范(5)——正确的文献引用</vt:lpstr>
      <vt:lpstr> 英语写作规范(5)——正确的文献引用</vt:lpstr>
      <vt:lpstr> 英语写作规范(6)——坚守的学术道德</vt:lpstr>
      <vt:lpstr> 英语写作规范(7)——精简的表达方式</vt:lpstr>
      <vt:lpstr> 英语写作规范(8)——严谨的叙述逻辑</vt:lpstr>
      <vt:lpstr> 英语写作规范(8)——严谨的叙述逻辑</vt:lpstr>
      <vt:lpstr> 英语写作规范(8)——严谨的叙述逻辑</vt:lpstr>
      <vt:lpstr> 英语写作规范(8)——严谨的叙述逻辑</vt:lpstr>
      <vt:lpstr> 英语写作规范(8)——严谨的叙述逻辑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 Gao</dc:creator>
  <cp:lastModifiedBy>Microsoft Office User</cp:lastModifiedBy>
  <cp:revision>1005</cp:revision>
  <dcterms:created xsi:type="dcterms:W3CDTF">2022-11-28T09:44:00Z</dcterms:created>
  <dcterms:modified xsi:type="dcterms:W3CDTF">2024-10-16T07:18:40Z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420D3A0B25728E146BFE55632B83E334</vt:lpwstr>
  </property>
  <property fmtid="{D5CDD505-2E9C-101B-9397-08002B2CF9AE}" pid="3" name="KSOProductBuildVer">
    <vt:lpwstr>2052-11.1.0.12763</vt:lpwstr>
  </property>
</Properties>
</file>