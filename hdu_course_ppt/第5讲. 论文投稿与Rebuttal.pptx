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handoutMasterIdLst>
    <p:handoutMasterId r:id="rId39"/>
  </p:handoutMasterIdLst>
  <p:sldIdLst>
    <p:sldId id="256" r:id="rId2"/>
    <p:sldId id="512" r:id="rId3"/>
    <p:sldId id="527" r:id="rId4"/>
    <p:sldId id="530" r:id="rId5"/>
    <p:sldId id="421" r:id="rId6"/>
    <p:sldId id="419" r:id="rId7"/>
    <p:sldId id="420" r:id="rId8"/>
    <p:sldId id="425" r:id="rId9"/>
    <p:sldId id="426" r:id="rId10"/>
    <p:sldId id="433" r:id="rId11"/>
    <p:sldId id="423" r:id="rId12"/>
    <p:sldId id="424" r:id="rId13"/>
    <p:sldId id="535" r:id="rId14"/>
    <p:sldId id="430" r:id="rId15"/>
    <p:sldId id="532" r:id="rId16"/>
    <p:sldId id="531" r:id="rId17"/>
    <p:sldId id="537" r:id="rId18"/>
    <p:sldId id="536" r:id="rId19"/>
    <p:sldId id="539" r:id="rId20"/>
    <p:sldId id="544" r:id="rId21"/>
    <p:sldId id="538" r:id="rId22"/>
    <p:sldId id="432" r:id="rId23"/>
    <p:sldId id="542" r:id="rId24"/>
    <p:sldId id="533" r:id="rId25"/>
    <p:sldId id="543" r:id="rId26"/>
    <p:sldId id="545" r:id="rId27"/>
    <p:sldId id="546" r:id="rId28"/>
    <p:sldId id="547" r:id="rId29"/>
    <p:sldId id="548" r:id="rId30"/>
    <p:sldId id="549" r:id="rId31"/>
    <p:sldId id="550" r:id="rId32"/>
    <p:sldId id="552" r:id="rId33"/>
    <p:sldId id="534" r:id="rId34"/>
    <p:sldId id="551" r:id="rId35"/>
    <p:sldId id="540" r:id="rId36"/>
    <p:sldId id="475" r:id="rId37"/>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0F0F0"/>
    <a:srgbClr val="F8F8F8"/>
    <a:srgbClr val="F1F1F1"/>
    <a:srgbClr val="B07B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53" autoAdjust="0"/>
    <p:restoredTop sz="70656" autoAdjust="0"/>
  </p:normalViewPr>
  <p:slideViewPr>
    <p:cSldViewPr>
      <p:cViewPr varScale="1">
        <p:scale>
          <a:sx n="72" d="100"/>
          <a:sy n="72" d="100"/>
        </p:scale>
        <p:origin x="1024" y="192"/>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5C6822-2CF9-407B-97F6-B5C3F0D04FD0}" type="datetimeFigureOut">
              <a:rPr lang="zh-CN" altLang="en-US" smtClean="0"/>
              <a:t>2025/10/27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93BB54-13A4-4BBD-86B6-C67793120F98}" type="slidenum">
              <a:rPr lang="zh-CN" altLang="en-US" smtClean="0"/>
              <a:t>‹#›</a:t>
            </a:fld>
            <a:endParaRPr lang="zh-CN" altLang="en-US"/>
          </a:p>
        </p:txBody>
      </p:sp>
    </p:spTree>
    <p:extLst>
      <p:ext uri="{BB962C8B-B14F-4D97-AF65-F5344CB8AC3E}">
        <p14:creationId xmlns:p14="http://schemas.microsoft.com/office/powerpoint/2010/main" val="11899359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4F64D2-B46D-458F-8F5A-49B31CD8FEF4}" type="datetimeFigureOut">
              <a:rPr lang="zh-CN" altLang="en-US" smtClean="0"/>
              <a:t>2025/10/27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1280D9-CCCD-4530-9608-C2BA9AEF16EE}" type="slidenum">
              <a:rPr lang="zh-CN" altLang="en-US" smtClean="0"/>
              <a:t>‹#›</a:t>
            </a:fld>
            <a:endParaRPr lang="zh-CN" altLang="en-US"/>
          </a:p>
        </p:txBody>
      </p:sp>
    </p:spTree>
    <p:extLst>
      <p:ext uri="{BB962C8B-B14F-4D97-AF65-F5344CB8AC3E}">
        <p14:creationId xmlns:p14="http://schemas.microsoft.com/office/powerpoint/2010/main" val="128896510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1280D9-CCCD-4530-9608-C2BA9AEF16EE}" type="slidenum">
              <a:rPr lang="zh-CN" altLang="en-US" smtClean="0"/>
              <a:t>1</a:t>
            </a:fld>
            <a:endParaRPr lang="zh-CN" altLang="en-US"/>
          </a:p>
        </p:txBody>
      </p:sp>
    </p:spTree>
    <p:extLst>
      <p:ext uri="{BB962C8B-B14F-4D97-AF65-F5344CB8AC3E}">
        <p14:creationId xmlns:p14="http://schemas.microsoft.com/office/powerpoint/2010/main" val="1536899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本次报告的提纲如下，</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11920E77-9BE9-420C-B698-3E0ECA1FA4F1}" type="slidenum">
              <a:rPr lang="zh-CN" altLang="en-US" smtClean="0"/>
              <a:t>2</a:t>
            </a:fld>
            <a:endParaRPr lang="zh-CN" altLang="en-US"/>
          </a:p>
        </p:txBody>
      </p:sp>
    </p:spTree>
    <p:extLst>
      <p:ext uri="{BB962C8B-B14F-4D97-AF65-F5344CB8AC3E}">
        <p14:creationId xmlns:p14="http://schemas.microsoft.com/office/powerpoint/2010/main" val="312889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3B1280D9-CCCD-4530-9608-C2BA9AEF16EE}" type="slidenum">
              <a:rPr lang="zh-CN" altLang="en-US" smtClean="0"/>
              <a:t>8</a:t>
            </a:fld>
            <a:endParaRPr lang="zh-CN" altLang="en-US"/>
          </a:p>
        </p:txBody>
      </p:sp>
    </p:spTree>
    <p:extLst>
      <p:ext uri="{BB962C8B-B14F-4D97-AF65-F5344CB8AC3E}">
        <p14:creationId xmlns:p14="http://schemas.microsoft.com/office/powerpoint/2010/main" val="2096847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3B1280D9-CCCD-4530-9608-C2BA9AEF16EE}" type="slidenum">
              <a:rPr lang="zh-CN" altLang="en-US" smtClean="0"/>
              <a:t>9</a:t>
            </a:fld>
            <a:endParaRPr lang="zh-CN" altLang="en-US"/>
          </a:p>
        </p:txBody>
      </p:sp>
    </p:spTree>
    <p:extLst>
      <p:ext uri="{BB962C8B-B14F-4D97-AF65-F5344CB8AC3E}">
        <p14:creationId xmlns:p14="http://schemas.microsoft.com/office/powerpoint/2010/main" val="701167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没有新的实验结果，就没有提分！</a:t>
            </a:r>
            <a:endParaRPr kumimoji="1" lang="en-US" altLang="zh-CN" dirty="0"/>
          </a:p>
          <a:p>
            <a:endParaRPr kumimoji="1" lang="en-US" altLang="zh-CN" dirty="0"/>
          </a:p>
          <a:p>
            <a:r>
              <a:rPr kumimoji="1" lang="zh-CN" altLang="en-US" dirty="0"/>
              <a:t>这样看起来</a:t>
            </a:r>
            <a:r>
              <a:rPr kumimoji="1" lang="en-US" altLang="zh-CN" dirty="0"/>
              <a:t>Rebuttal</a:t>
            </a:r>
            <a:r>
              <a:rPr kumimoji="1" lang="zh-CN" altLang="en-US" dirty="0"/>
              <a:t>就有很多实验要补，可以提前预知</a:t>
            </a:r>
            <a:r>
              <a:rPr kumimoji="1" lang="zh-CN" altLang="en-US"/>
              <a:t>，提前准备！</a:t>
            </a:r>
            <a:endParaRPr kumimoji="1" lang="zh-CN" altLang="en-US" dirty="0"/>
          </a:p>
        </p:txBody>
      </p:sp>
      <p:sp>
        <p:nvSpPr>
          <p:cNvPr id="4" name="灯片编号占位符 3"/>
          <p:cNvSpPr>
            <a:spLocks noGrp="1"/>
          </p:cNvSpPr>
          <p:nvPr>
            <p:ph type="sldNum" sz="quarter" idx="5"/>
          </p:nvPr>
        </p:nvSpPr>
        <p:spPr/>
        <p:txBody>
          <a:bodyPr/>
          <a:lstStyle/>
          <a:p>
            <a:fld id="{3B1280D9-CCCD-4530-9608-C2BA9AEF16EE}" type="slidenum">
              <a:rPr lang="zh-CN" altLang="en-US" smtClean="0"/>
              <a:t>23</a:t>
            </a:fld>
            <a:endParaRPr lang="zh-CN" altLang="en-US"/>
          </a:p>
        </p:txBody>
      </p:sp>
    </p:spTree>
    <p:extLst>
      <p:ext uri="{BB962C8B-B14F-4D97-AF65-F5344CB8AC3E}">
        <p14:creationId xmlns:p14="http://schemas.microsoft.com/office/powerpoint/2010/main" val="3483399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 y="931863"/>
            <a:ext cx="3963988" cy="2230437"/>
          </a:xfrm>
        </p:spPr>
      </p:sp>
      <p:sp>
        <p:nvSpPr>
          <p:cNvPr id="3" name="备注占位符 2"/>
          <p:cNvSpPr>
            <a:spLocks noGrp="1"/>
          </p:cNvSpPr>
          <p:nvPr>
            <p:ph type="body" idx="1"/>
          </p:nvPr>
        </p:nvSpPr>
        <p:spPr/>
        <p:txBody>
          <a:bodyPr/>
          <a:lstStyle/>
          <a:p>
            <a:r>
              <a:rPr lang="zh-CN" altLang="en-US" dirty="0"/>
              <a:t>以上是我汇报的全部内容，请各位专家指正</a:t>
            </a:r>
          </a:p>
        </p:txBody>
      </p:sp>
      <p:sp>
        <p:nvSpPr>
          <p:cNvPr id="4" name="页眉占位符 3"/>
          <p:cNvSpPr>
            <a:spLocks noGrp="1"/>
          </p:cNvSpPr>
          <p:nvPr>
            <p:ph type="hdr" sz="quarter"/>
          </p:nvPr>
        </p:nvSpPr>
        <p:spPr/>
        <p:txBody>
          <a:bodyPr/>
          <a:lstStyle/>
          <a:p>
            <a:r>
              <a:rPr lang="en-US"/>
              <a:t>Presentation Title</a:t>
            </a:r>
            <a:endParaRPr lang="en-US" dirty="0"/>
          </a:p>
        </p:txBody>
      </p:sp>
      <p:sp>
        <p:nvSpPr>
          <p:cNvPr id="5" name="日期占位符 4"/>
          <p:cNvSpPr>
            <a:spLocks noGrp="1"/>
          </p:cNvSpPr>
          <p:nvPr>
            <p:ph type="dt" idx="1"/>
          </p:nvPr>
        </p:nvSpPr>
        <p:spPr/>
        <p:txBody>
          <a:bodyPr/>
          <a:lstStyle/>
          <a:p>
            <a:fld id="{6953BD76-09F8-4556-8F7F-1E413B4F017A}" type="datetime1">
              <a:rPr lang="en-US" altLang="zh-CN" smtClean="0"/>
              <a:t>10/27/25</a:t>
            </a:fld>
            <a:endParaRPr lang="en-US"/>
          </a:p>
        </p:txBody>
      </p:sp>
      <p:sp>
        <p:nvSpPr>
          <p:cNvPr id="6" name="页脚占位符 5"/>
          <p:cNvSpPr>
            <a:spLocks noGrp="1"/>
          </p:cNvSpPr>
          <p:nvPr>
            <p:ph type="ftr" sz="quarter" idx="4"/>
          </p:nvPr>
        </p:nvSpPr>
        <p:spPr/>
        <p:txBody>
          <a:bodyPr/>
          <a:lstStyle/>
          <a:p>
            <a:r>
              <a:rPr lang="en-US"/>
              <a:t>Confidentiality Label</a:t>
            </a:r>
          </a:p>
        </p:txBody>
      </p:sp>
      <p:sp>
        <p:nvSpPr>
          <p:cNvPr id="7" name="灯片编号占位符 6"/>
          <p:cNvSpPr>
            <a:spLocks noGrp="1"/>
          </p:cNvSpPr>
          <p:nvPr>
            <p:ph type="sldNum" sz="quarter" idx="5"/>
          </p:nvPr>
        </p:nvSpPr>
        <p:spPr/>
        <p:txBody>
          <a:bodyPr/>
          <a:lstStyle/>
          <a:p>
            <a:fld id="{57788AFD-C26B-478C-B2D8-3A933D69C95F}" type="slidenum">
              <a:rPr lang="en-US" smtClean="0"/>
              <a:t>36</a:t>
            </a:fld>
            <a:endParaRPr lang="en-US"/>
          </a:p>
        </p:txBody>
      </p:sp>
    </p:spTree>
    <p:extLst>
      <p:ext uri="{BB962C8B-B14F-4D97-AF65-F5344CB8AC3E}">
        <p14:creationId xmlns:p14="http://schemas.microsoft.com/office/powerpoint/2010/main" val="14443104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1">
        <a:schemeClr val="bg1"/>
      </p:bgRef>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0" y="2348881"/>
            <a:ext cx="12192000" cy="1470025"/>
          </a:xfrm>
          <a:solidFill>
            <a:schemeClr val="accent1">
              <a:lumMod val="75000"/>
            </a:schemeClr>
          </a:solidFill>
          <a:ln>
            <a:noFill/>
          </a:ln>
          <a:effectLst>
            <a:outerShdw blurRad="50800" dist="38100" dir="2700000" algn="tl" rotWithShape="0">
              <a:prstClr val="black">
                <a:alpha val="40000"/>
              </a:prstClr>
            </a:outerShdw>
          </a:effectLst>
        </p:spPr>
        <p:txBody>
          <a:bodyPr>
            <a:normAutofit/>
          </a:bodyPr>
          <a:lstStyle>
            <a:lvl1pPr>
              <a:defRPr sz="4400" b="1" baseline="0">
                <a:solidFill>
                  <a:schemeClr val="bg1">
                    <a:lumMod val="95000"/>
                  </a:schemeClr>
                </a:solidFill>
                <a:effectLst>
                  <a:outerShdw blurRad="50800" dist="38100" algn="l" rotWithShape="0">
                    <a:prstClr val="black">
                      <a:alpha val="40000"/>
                    </a:prstClr>
                  </a:outerShdw>
                </a:effectLst>
                <a:latin typeface="等线" panose="02010600030101010101" pitchFamily="2" charset="-122"/>
                <a:ea typeface="楷体" panose="02010609060101010101" pitchFamily="49" charset="-122"/>
                <a:cs typeface="Segoe Print" panose="02000600000000000000" charset="0"/>
              </a:defRPr>
            </a:lvl1pPr>
          </a:lstStyle>
          <a:p>
            <a:r>
              <a:rPr lang="en-US" altLang="zh-CN" dirty="0"/>
              <a:t>Title</a:t>
            </a:r>
            <a:endParaRPr lang="zh-CN" altLang="en-US" dirty="0"/>
          </a:p>
        </p:txBody>
      </p:sp>
      <p:sp>
        <p:nvSpPr>
          <p:cNvPr id="3" name="副标题 2"/>
          <p:cNvSpPr>
            <a:spLocks noGrp="1"/>
          </p:cNvSpPr>
          <p:nvPr>
            <p:ph type="subTitle" idx="1" hasCustomPrompt="1"/>
          </p:nvPr>
        </p:nvSpPr>
        <p:spPr>
          <a:xfrm>
            <a:off x="1828800" y="4038285"/>
            <a:ext cx="8534400" cy="1983003"/>
          </a:xfrm>
        </p:spPr>
        <p:txBody>
          <a:bodyPr anchor="ctr" anchorCtr="1">
            <a:noAutofit/>
          </a:bodyPr>
          <a:lstStyle>
            <a:lvl1pPr marL="0" indent="0" algn="ctr">
              <a:lnSpc>
                <a:spcPct val="150000"/>
              </a:lnSpc>
              <a:spcBef>
                <a:spcPts val="0"/>
              </a:spcBef>
              <a:spcAft>
                <a:spcPts val="0"/>
              </a:spcAft>
              <a:buNone/>
              <a:defRPr sz="1800" b="0">
                <a:solidFill>
                  <a:schemeClr val="tx1">
                    <a:lumMod val="75000"/>
                    <a:lumOff val="25000"/>
                  </a:schemeClr>
                </a:solidFill>
                <a:latin typeface="等线" panose="02010600030101010101" pitchFamily="2" charset="-122"/>
                <a:ea typeface="等线" panose="02010600030101010101" pitchFamily="2"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Reporter</a:t>
            </a:r>
          </a:p>
          <a:p>
            <a:r>
              <a:rPr lang="en-US" altLang="zh-CN" dirty="0"/>
              <a:t>Hangzhou </a:t>
            </a:r>
            <a:r>
              <a:rPr lang="en-US" altLang="zh-CN" dirty="0" err="1"/>
              <a:t>Dianzi</a:t>
            </a:r>
            <a:r>
              <a:rPr lang="en-US" altLang="zh-CN" dirty="0"/>
              <a:t> University</a:t>
            </a:r>
          </a:p>
          <a:p>
            <a:r>
              <a:rPr lang="en-US" altLang="zh-CN" dirty="0"/>
              <a:t>Email: </a:t>
            </a:r>
          </a:p>
          <a:p>
            <a:r>
              <a:rPr lang="en-US" altLang="zh-CN" dirty="0"/>
              <a:t>http://camalab.hdu.edu.cn</a:t>
            </a:r>
            <a:endParaRPr lang="zh-CN" altLang="en-US" dirty="0"/>
          </a:p>
        </p:txBody>
      </p:sp>
      <p:sp>
        <p:nvSpPr>
          <p:cNvPr id="6" name="梯形 5"/>
          <p:cNvSpPr/>
          <p:nvPr userDrawn="1"/>
        </p:nvSpPr>
        <p:spPr>
          <a:xfrm rot="18949264">
            <a:off x="-555650" y="540832"/>
            <a:ext cx="2849619" cy="457480"/>
          </a:xfrm>
          <a:prstGeom prst="trapezoid">
            <a:avLst>
              <a:gd name="adj" fmla="val 946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rPr>
              <a:t>论文写作指导</a:t>
            </a:r>
          </a:p>
        </p:txBody>
      </p:sp>
      <p:pic>
        <p:nvPicPr>
          <p:cNvPr id="7" name="图片 6"/>
          <p:cNvPicPr>
            <a:picLocks noChangeAspect="1"/>
          </p:cNvPicPr>
          <p:nvPr userDrawn="1"/>
        </p:nvPicPr>
        <p:blipFill>
          <a:blip r:embed="rId2"/>
          <a:stretch>
            <a:fillRect/>
          </a:stretch>
        </p:blipFill>
        <p:spPr>
          <a:xfrm>
            <a:off x="11064552" y="44624"/>
            <a:ext cx="1016177" cy="1008112"/>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0" y="202630"/>
            <a:ext cx="12192000" cy="562074"/>
          </a:xfrm>
          <a:noFill/>
          <a:ln>
            <a:noFill/>
          </a:ln>
        </p:spPr>
        <p:txBody>
          <a:bodyPr>
            <a:noAutofit/>
          </a:bodyPr>
          <a:lstStyle>
            <a:lvl1pPr marL="360045" algn="l">
              <a:defRPr sz="3600" b="1" baseline="0">
                <a:solidFill>
                  <a:schemeClr val="tx2">
                    <a:lumMod val="75000"/>
                  </a:schemeClr>
                </a:solidFill>
                <a:latin typeface="等线" panose="02010600030101010101" pitchFamily="2" charset="-122"/>
                <a:ea typeface="楷体" panose="02010609060101010101" pitchFamily="49" charset="-122"/>
              </a:defRPr>
            </a:lvl1pPr>
          </a:lstStyle>
          <a:p>
            <a:r>
              <a:rPr lang="en-US" altLang="zh-CN" dirty="0"/>
              <a:t>Title</a:t>
            </a:r>
            <a:endParaRPr lang="zh-CN" altLang="en-US" dirty="0"/>
          </a:p>
        </p:txBody>
      </p:sp>
      <p:sp>
        <p:nvSpPr>
          <p:cNvPr id="3" name="内容占位符 2"/>
          <p:cNvSpPr>
            <a:spLocks noGrp="1"/>
          </p:cNvSpPr>
          <p:nvPr>
            <p:ph idx="1" hasCustomPrompt="1"/>
          </p:nvPr>
        </p:nvSpPr>
        <p:spPr>
          <a:xfrm>
            <a:off x="479376" y="908720"/>
            <a:ext cx="11103024" cy="5328592"/>
          </a:xfrm>
        </p:spPr>
        <p:txBody>
          <a:bodyPr/>
          <a:lstStyle>
            <a:lvl1pPr>
              <a:defRPr b="0" baseline="0">
                <a:solidFill>
                  <a:schemeClr val="tx1"/>
                </a:solidFill>
                <a:latin typeface="Times New Roman" panose="02020603050405020304" pitchFamily="18" charset="0"/>
                <a:ea typeface="黑体" panose="02010609060101010101" pitchFamily="49" charset="-122"/>
              </a:defRPr>
            </a:lvl1pPr>
            <a:lvl2pPr>
              <a:defRPr sz="2400">
                <a:latin typeface="Times New Roman" panose="02020603050405020304" pitchFamily="18" charset="0"/>
                <a:ea typeface="黑体" panose="02010609060101010101" pitchFamily="49" charset="-122"/>
              </a:defRPr>
            </a:lvl2pPr>
            <a:lvl3pPr>
              <a:defRPr sz="2000">
                <a:latin typeface="Times New Roman" panose="02020603050405020304" pitchFamily="18" charset="0"/>
                <a:ea typeface="黑体" panose="02010609060101010101" pitchFamily="49" charset="-122"/>
              </a:defRPr>
            </a:lvl3pPr>
            <a:lvl4pPr>
              <a:defRPr>
                <a:latin typeface="Times New Roman" panose="02020603050405020304" pitchFamily="18" charset="0"/>
                <a:ea typeface="黑体" panose="02010609060101010101" pitchFamily="49" charset="-122"/>
              </a:defRPr>
            </a:lvl4pPr>
            <a:lvl5pPr>
              <a:defRPr baseline="0">
                <a:latin typeface="Times New Roman" panose="02020603050405020304" pitchFamily="18" charset="0"/>
                <a:ea typeface="黑体" panose="02010609060101010101" pitchFamily="49" charset="-122"/>
              </a:defRPr>
            </a:lvl5pPr>
          </a:lstStyle>
          <a:p>
            <a:pPr lvl="0"/>
            <a:r>
              <a:rPr lang="en-US" altLang="zh-CN" dirty="0"/>
              <a:t>Title</a:t>
            </a:r>
            <a:endParaRPr lang="zh-CN" altLang="en-US" dirty="0"/>
          </a:p>
          <a:p>
            <a:pPr lvl="1"/>
            <a:r>
              <a:rPr lang="en-US" altLang="zh-CN" dirty="0"/>
              <a:t>First Level</a:t>
            </a:r>
            <a:endParaRPr lang="zh-CN" altLang="en-US" dirty="0"/>
          </a:p>
          <a:p>
            <a:pPr lvl="2"/>
            <a:r>
              <a:rPr lang="en-US" altLang="zh-CN" dirty="0"/>
              <a:t>Second Level</a:t>
            </a:r>
            <a:endParaRPr lang="zh-CN" altLang="en-US" dirty="0"/>
          </a:p>
          <a:p>
            <a:pPr lvl="3"/>
            <a:r>
              <a:rPr lang="en-US" altLang="zh-CN" dirty="0"/>
              <a:t>Third Level</a:t>
            </a:r>
            <a:endParaRPr lang="zh-CN" altLang="en-US" dirty="0"/>
          </a:p>
          <a:p>
            <a:pPr lvl="4"/>
            <a:r>
              <a:rPr lang="en-US" altLang="zh-CN" dirty="0"/>
              <a:t>Fourth Level</a:t>
            </a:r>
            <a:endParaRPr lang="zh-CN" altLang="en-US" dirty="0"/>
          </a:p>
        </p:txBody>
      </p:sp>
      <p:cxnSp>
        <p:nvCxnSpPr>
          <p:cNvPr id="5" name="直接连接符 4"/>
          <p:cNvCxnSpPr/>
          <p:nvPr userDrawn="1"/>
        </p:nvCxnSpPr>
        <p:spPr>
          <a:xfrm>
            <a:off x="479376" y="836712"/>
            <a:ext cx="11103024" cy="0"/>
          </a:xfrm>
          <a:prstGeom prst="line">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userDrawn="1"/>
        </p:nvPicPr>
        <p:blipFill>
          <a:blip r:embed="rId2"/>
          <a:stretch>
            <a:fillRect/>
          </a:stretch>
        </p:blipFill>
        <p:spPr>
          <a:xfrm>
            <a:off x="11496600" y="82361"/>
            <a:ext cx="615218" cy="610335"/>
          </a:xfrm>
          <a:prstGeom prst="rect">
            <a:avLst/>
          </a:prstGeom>
        </p:spPr>
      </p:pic>
      <p:sp>
        <p:nvSpPr>
          <p:cNvPr id="6" name="Slide Number Placeholder 3"/>
          <p:cNvSpPr>
            <a:spLocks noGrp="1"/>
          </p:cNvSpPr>
          <p:nvPr>
            <p:ph type="sldNum" sz="quarter" idx="12"/>
          </p:nvPr>
        </p:nvSpPr>
        <p:spPr>
          <a:xfrm>
            <a:off x="9336360" y="6381328"/>
            <a:ext cx="2743200" cy="365125"/>
          </a:xfrm>
          <a:prstGeom prst="rect">
            <a:avLst/>
          </a:prstGeom>
        </p:spPr>
        <p:txBody>
          <a:bodyPr/>
          <a:lstStyle>
            <a:lvl1pPr>
              <a:defRPr sz="2400" b="1">
                <a:solidFill>
                  <a:schemeClr val="tx1"/>
                </a:solidFill>
                <a:latin typeface="Times New Roman" panose="02020603050405020304" pitchFamily="18" charset="0"/>
                <a:cs typeface="Times New Roman" panose="02020603050405020304" pitchFamily="18" charset="0"/>
              </a:defRPr>
            </a:lvl1pPr>
          </a:lstStyle>
          <a:p>
            <a:pPr algn="r"/>
            <a:fld id="{CBD803B2-A378-42BD-B5EC-F7748F169FE0}" type="slidenum">
              <a:rPr lang="en-US" altLang="zh-CN"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4"/>
            <a:ext cx="2743200" cy="365125"/>
          </a:xfrm>
          <a:prstGeom prst="rect">
            <a:avLst/>
          </a:prstGeom>
        </p:spPr>
        <p:txBody>
          <a:bodyPr/>
          <a:lstStyle/>
          <a:p>
            <a:endParaRPr lang="en-US" dirty="0"/>
          </a:p>
        </p:txBody>
      </p:sp>
      <p:sp>
        <p:nvSpPr>
          <p:cNvPr id="3" name="Footer Placeholder 2"/>
          <p:cNvSpPr>
            <a:spLocks noGrp="1"/>
          </p:cNvSpPr>
          <p:nvPr>
            <p:ph type="ftr" sz="quarter" idx="11"/>
          </p:nvPr>
        </p:nvSpPr>
        <p:spPr>
          <a:xfrm>
            <a:off x="4038600" y="6356354"/>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9448800" y="6356353"/>
            <a:ext cx="2743200" cy="365125"/>
          </a:xfrm>
          <a:prstGeom prst="rect">
            <a:avLst/>
          </a:prstGeom>
        </p:spPr>
        <p:txBody>
          <a:bodyPr/>
          <a:lstStyle>
            <a:lvl1pPr>
              <a:defRPr sz="2000" b="1">
                <a:solidFill>
                  <a:schemeClr val="tx1"/>
                </a:solidFill>
                <a:latin typeface="Times New Roman" panose="02020603050405020304" pitchFamily="18" charset="0"/>
                <a:cs typeface="Times New Roman" panose="02020603050405020304" pitchFamily="18" charset="0"/>
              </a:defRPr>
            </a:lvl1pPr>
          </a:lstStyle>
          <a:p>
            <a:fld id="{CBD803B2-A378-42BD-B5EC-F7748F169FE0}" type="slidenum">
              <a:rPr lang="en-US" altLang="zh-CN"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562074"/>
          </a:xfrm>
          <a:prstGeom prst="rect">
            <a:avLst/>
          </a:prstGeom>
          <a:solidFill>
            <a:srgbClr val="C00000"/>
          </a:solidFill>
          <a:ln>
            <a:solidFill>
              <a:srgbClr val="C00000"/>
            </a:solidFill>
          </a:ln>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052736"/>
            <a:ext cx="10972800" cy="532859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defTabSz="914400" rtl="0" eaLnBrk="1" latinLnBrk="0" hangingPunct="1">
        <a:spcBef>
          <a:spcPct val="0"/>
        </a:spcBef>
        <a:buNone/>
        <a:defRPr sz="3200" b="0" kern="1200">
          <a:solidFill>
            <a:schemeClr val="bg1"/>
          </a:solidFill>
          <a:latin typeface="Segoe Print" panose="02000600000000000000" charset="0"/>
          <a:ea typeface="宋体" panose="02010600030101010101" pitchFamily="2" charset="-122"/>
          <a:cs typeface="+mj-cs"/>
        </a:defRPr>
      </a:lvl1pPr>
    </p:titleStyle>
    <p:bodyStyle>
      <a:lvl1pPr marL="342900" indent="-342900" algn="l" defTabSz="914400" rtl="0" eaLnBrk="1" latinLnBrk="0" hangingPunct="1">
        <a:lnSpc>
          <a:spcPct val="125000"/>
        </a:lnSpc>
        <a:spcBef>
          <a:spcPts val="1200"/>
        </a:spcBef>
        <a:spcAft>
          <a:spcPts val="600"/>
        </a:spcAft>
        <a:buFont typeface="Arial" panose="020B0604020202020204" pitchFamily="34" charset="0"/>
        <a:buChar char="•"/>
        <a:defRPr sz="2800" b="1" kern="1200">
          <a:solidFill>
            <a:srgbClr val="0070C0"/>
          </a:solidFill>
          <a:latin typeface="Segoe Print" panose="02000600000000000000" charset="0"/>
          <a:ea typeface="黑体" panose="02010609060101010101" pitchFamily="49" charset="-122"/>
          <a:cs typeface="+mn-cs"/>
        </a:defRPr>
      </a:lvl1pPr>
      <a:lvl2pPr marL="742950" indent="-285750" algn="l" defTabSz="914400" rtl="0" eaLnBrk="1" latinLnBrk="0" hangingPunct="1">
        <a:lnSpc>
          <a:spcPct val="125000"/>
        </a:lnSpc>
        <a:spcBef>
          <a:spcPts val="0"/>
        </a:spcBef>
        <a:spcAft>
          <a:spcPts val="600"/>
        </a:spcAft>
        <a:buFont typeface="Arial" panose="020B0604020202020204" pitchFamily="34" charset="0"/>
        <a:buChar char="–"/>
        <a:defRPr sz="2800" kern="1200">
          <a:solidFill>
            <a:schemeClr val="tx1"/>
          </a:solidFill>
          <a:latin typeface="Segoe Print" panose="02000600000000000000" charset="0"/>
          <a:ea typeface="黑体" panose="02010609060101010101" pitchFamily="49" charset="-122"/>
          <a:cs typeface="+mn-cs"/>
        </a:defRPr>
      </a:lvl2pPr>
      <a:lvl3pPr marL="1143000" indent="-228600" algn="l" defTabSz="914400" rtl="0" eaLnBrk="1" latinLnBrk="0" hangingPunct="1">
        <a:lnSpc>
          <a:spcPct val="125000"/>
        </a:lnSpc>
        <a:spcBef>
          <a:spcPts val="0"/>
        </a:spcBef>
        <a:spcAft>
          <a:spcPts val="600"/>
        </a:spcAft>
        <a:buFont typeface="Arial" panose="020B0604020202020204" pitchFamily="34" charset="0"/>
        <a:buChar char="•"/>
        <a:defRPr sz="2400" kern="1200">
          <a:solidFill>
            <a:schemeClr val="tx1"/>
          </a:solidFill>
          <a:latin typeface="Segoe Print" panose="02000600000000000000" charset="0"/>
          <a:ea typeface="黑体" panose="02010609060101010101" pitchFamily="49" charset="-122"/>
          <a:cs typeface="+mn-cs"/>
        </a:defRPr>
      </a:lvl3pPr>
      <a:lvl4pPr marL="1600200" indent="-228600" algn="l" defTabSz="914400" rtl="0" eaLnBrk="1" latinLnBrk="0" hangingPunct="1">
        <a:lnSpc>
          <a:spcPct val="125000"/>
        </a:lnSpc>
        <a:spcBef>
          <a:spcPts val="0"/>
        </a:spcBef>
        <a:spcAft>
          <a:spcPts val="600"/>
        </a:spcAft>
        <a:buFont typeface="Arial" panose="020B0604020202020204" pitchFamily="34" charset="0"/>
        <a:buChar char="–"/>
        <a:defRPr sz="2000" kern="1200">
          <a:solidFill>
            <a:schemeClr val="tx1"/>
          </a:solidFill>
          <a:latin typeface="Segoe Print" panose="02000600000000000000" charset="0"/>
          <a:ea typeface="黑体" panose="02010609060101010101" pitchFamily="49" charset="-122"/>
          <a:cs typeface="+mn-cs"/>
        </a:defRPr>
      </a:lvl4pPr>
      <a:lvl5pPr marL="2057400" indent="-228600" algn="l" defTabSz="914400" rtl="0" eaLnBrk="1" latinLnBrk="0" hangingPunct="1">
        <a:lnSpc>
          <a:spcPct val="125000"/>
        </a:lnSpc>
        <a:spcBef>
          <a:spcPts val="0"/>
        </a:spcBef>
        <a:spcAft>
          <a:spcPts val="600"/>
        </a:spcAft>
        <a:buFont typeface="Arial" panose="020B0604020202020204" pitchFamily="34" charset="0"/>
        <a:buChar char="»"/>
        <a:defRPr sz="2000" kern="1200">
          <a:solidFill>
            <a:schemeClr val="tx1"/>
          </a:solidFill>
          <a:latin typeface="Segoe Print" panose="02000600000000000000" charset="0"/>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hyperlink" Target="https://ccf.atom.i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ccfddl.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zhuanlan.zhihu.com/p/147770737"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zhuanlan.zhihu.com/p/104298923"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310903"/>
            <a:ext cx="12192000" cy="1470025"/>
          </a:xfrm>
          <a:noFill/>
          <a:effectLst/>
        </p:spPr>
        <p:txBody>
          <a:bodyPr>
            <a:noAutofit/>
          </a:bodyPr>
          <a:lstStyle/>
          <a:p>
            <a:pPr>
              <a:spcBef>
                <a:spcPts val="600"/>
              </a:spcBef>
            </a:pPr>
            <a:r>
              <a:rPr lang="zh-CN" altLang="en-US" sz="5400" dirty="0">
                <a:solidFill>
                  <a:srgbClr val="002060"/>
                </a:solidFill>
                <a:effectLst/>
                <a:latin typeface="+mj-lt"/>
                <a:ea typeface="+mj-ea"/>
              </a:rPr>
              <a:t>学术论文之投稿流程与</a:t>
            </a:r>
            <a:r>
              <a:rPr lang="en-US" altLang="zh-CN" sz="5400" dirty="0">
                <a:solidFill>
                  <a:srgbClr val="002060"/>
                </a:solidFill>
                <a:effectLst/>
                <a:latin typeface="+mj-lt"/>
                <a:ea typeface="+mj-ea"/>
              </a:rPr>
              <a:t>Rebuttal</a:t>
            </a:r>
            <a:endParaRPr lang="zh-CN" altLang="en-US" sz="5400" dirty="0">
              <a:solidFill>
                <a:srgbClr val="002060"/>
              </a:solidFill>
              <a:effectLst/>
              <a:latin typeface="+mj-lt"/>
              <a:ea typeface="+mj-ea"/>
            </a:endParaRPr>
          </a:p>
        </p:txBody>
      </p:sp>
      <p:sp>
        <p:nvSpPr>
          <p:cNvPr id="3" name="副标题 2"/>
          <p:cNvSpPr>
            <a:spLocks noGrp="1"/>
          </p:cNvSpPr>
          <p:nvPr>
            <p:ph type="subTitle" idx="1"/>
          </p:nvPr>
        </p:nvSpPr>
        <p:spPr>
          <a:xfrm>
            <a:off x="1775520" y="2780928"/>
            <a:ext cx="8534400" cy="1584175"/>
          </a:xfrm>
        </p:spPr>
        <p:txBody>
          <a:bodyPr/>
          <a:lstStyle/>
          <a:p>
            <a:r>
              <a:rPr lang="zh-CN" altLang="en-US" sz="4000" b="1" dirty="0">
                <a:latin typeface="+mn-lt"/>
                <a:ea typeface="楷体" panose="02010609060101010101" pitchFamily="49" charset="-122"/>
              </a:rPr>
              <a:t>陈铭浩</a:t>
            </a:r>
            <a:endParaRPr lang="en-US" altLang="zh-CN" sz="4000" b="1" dirty="0">
              <a:latin typeface="+mn-lt"/>
              <a:ea typeface="楷体" panose="02010609060101010101" pitchFamily="49" charset="-122"/>
            </a:endParaRPr>
          </a:p>
          <a:p>
            <a:r>
              <a:rPr lang="zh-CN" altLang="en-US" sz="2800" dirty="0">
                <a:latin typeface="Times New Roman" panose="02020603050405020304" pitchFamily="18" charset="0"/>
                <a:ea typeface="+mj-ea"/>
                <a:cs typeface="Times New Roman" panose="02020603050405020304" pitchFamily="18" charset="0"/>
              </a:rPr>
              <a:t>杭州电子科技大学计算机学院</a:t>
            </a:r>
            <a:endParaRPr lang="en-US" altLang="zh-CN" sz="2800" dirty="0">
              <a:latin typeface="Times New Roman" panose="02020603050405020304" pitchFamily="18" charset="0"/>
              <a:ea typeface="+mj-ea"/>
              <a:cs typeface="Times New Roman" panose="02020603050405020304" pitchFamily="18" charset="0"/>
            </a:endParaRPr>
          </a:p>
        </p:txBody>
      </p:sp>
      <p:pic>
        <p:nvPicPr>
          <p:cNvPr id="6" name="图片 5"/>
          <p:cNvPicPr>
            <a:picLocks noChangeAspect="1"/>
          </p:cNvPicPr>
          <p:nvPr/>
        </p:nvPicPr>
        <p:blipFill rotWithShape="1">
          <a:blip r:embed="rId3">
            <a:extLst>
              <a:ext uri="{28A0092B-C50C-407E-A947-70E740481C1C}">
                <a14:useLocalDpi xmlns:a14="http://schemas.microsoft.com/office/drawing/2010/main" val="0"/>
              </a:ext>
            </a:extLst>
          </a:blip>
          <a:srcRect t="16245" r="499" b="3131"/>
          <a:stretch>
            <a:fillRect/>
          </a:stretch>
        </p:blipFill>
        <p:spPr>
          <a:xfrm>
            <a:off x="0" y="4653136"/>
            <a:ext cx="12192000" cy="21949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dirty="0"/>
              <a:t>（回顾）AI领域主要会议及期刊</a:t>
            </a:r>
          </a:p>
        </p:txBody>
      </p:sp>
      <p:sp>
        <p:nvSpPr>
          <p:cNvPr id="5" name="灯片编号占位符 4"/>
          <p:cNvSpPr>
            <a:spLocks noGrp="1"/>
          </p:cNvSpPr>
          <p:nvPr>
            <p:ph type="sldNum" sz="quarter" idx="12"/>
          </p:nvPr>
        </p:nvSpPr>
        <p:spPr/>
        <p:txBody>
          <a:bodyPr/>
          <a:lstStyle/>
          <a:p>
            <a:pPr algn="r"/>
            <a:fld id="{CBD803B2-A378-42BD-B5EC-F7748F169FE0}" type="slidenum">
              <a:rPr lang="en-US" altLang="zh-CN" smtClean="0"/>
              <a:t>2</a:t>
            </a:fld>
            <a:endParaRPr lang="zh-CN" altLang="en-US" dirty="0"/>
          </a:p>
        </p:txBody>
      </p:sp>
      <p:graphicFrame>
        <p:nvGraphicFramePr>
          <p:cNvPr id="6" name="表格 5"/>
          <p:cNvGraphicFramePr/>
          <p:nvPr>
            <p:custDataLst>
              <p:tags r:id="rId1"/>
            </p:custDataLst>
          </p:nvPr>
        </p:nvGraphicFramePr>
        <p:xfrm>
          <a:off x="839470" y="1341120"/>
          <a:ext cx="10372725" cy="3816072"/>
        </p:xfrm>
        <a:graphic>
          <a:graphicData uri="http://schemas.openxmlformats.org/drawingml/2006/table">
            <a:tbl>
              <a:tblPr firstRow="1" bandRow="1">
                <a:tableStyleId>{5C22544A-7EE6-4342-B048-85BDC9FD1C3A}</a:tableStyleId>
              </a:tblPr>
              <a:tblGrid>
                <a:gridCol w="2082165">
                  <a:extLst>
                    <a:ext uri="{9D8B030D-6E8A-4147-A177-3AD203B41FA5}">
                      <a16:colId xmlns:a16="http://schemas.microsoft.com/office/drawing/2014/main" val="20000"/>
                    </a:ext>
                  </a:extLst>
                </a:gridCol>
                <a:gridCol w="4832985">
                  <a:extLst>
                    <a:ext uri="{9D8B030D-6E8A-4147-A177-3AD203B41FA5}">
                      <a16:colId xmlns:a16="http://schemas.microsoft.com/office/drawing/2014/main" val="20001"/>
                    </a:ext>
                  </a:extLst>
                </a:gridCol>
                <a:gridCol w="3457575">
                  <a:extLst>
                    <a:ext uri="{9D8B030D-6E8A-4147-A177-3AD203B41FA5}">
                      <a16:colId xmlns:a16="http://schemas.microsoft.com/office/drawing/2014/main" val="20002"/>
                    </a:ext>
                  </a:extLst>
                </a:gridCol>
              </a:tblGrid>
              <a:tr h="525145">
                <a:tc>
                  <a:txBody>
                    <a:bodyPr/>
                    <a:lstStyle/>
                    <a:p>
                      <a:pPr algn="ctr">
                        <a:buNone/>
                      </a:pPr>
                      <a:r>
                        <a:rPr lang="zh-CN" altLang="en-US">
                          <a:latin typeface="黑体" panose="02010609060101010101" pitchFamily="49" charset="-122"/>
                          <a:ea typeface="黑体" panose="02010609060101010101" pitchFamily="49" charset="-122"/>
                          <a:cs typeface="Times New Roman" panose="02020603050405020304" pitchFamily="18" charset="0"/>
                        </a:rPr>
                        <a:t>研究方向</a:t>
                      </a:r>
                    </a:p>
                  </a:txBody>
                  <a:tcPr/>
                </a:tc>
                <a:tc>
                  <a:txBody>
                    <a:bodyPr/>
                    <a:lstStyle/>
                    <a:p>
                      <a:pPr algn="ctr">
                        <a:buNone/>
                      </a:pPr>
                      <a:r>
                        <a:rPr lang="zh-CN" altLang="en-US">
                          <a:latin typeface="黑体" panose="02010609060101010101" pitchFamily="49" charset="-122"/>
                          <a:ea typeface="黑体" panose="02010609060101010101" pitchFamily="49" charset="-122"/>
                          <a:cs typeface="Times New Roman" panose="02020603050405020304" pitchFamily="18" charset="0"/>
                        </a:rPr>
                        <a:t>主要会议</a:t>
                      </a:r>
                    </a:p>
                  </a:txBody>
                  <a:tcPr/>
                </a:tc>
                <a:tc>
                  <a:txBody>
                    <a:bodyPr/>
                    <a:lstStyle/>
                    <a:p>
                      <a:pPr algn="ctr">
                        <a:buNone/>
                      </a:pPr>
                      <a:r>
                        <a:rPr lang="zh-CN" altLang="en-US">
                          <a:latin typeface="黑体" panose="02010609060101010101" pitchFamily="49" charset="-122"/>
                          <a:ea typeface="黑体" panose="02010609060101010101" pitchFamily="49" charset="-122"/>
                          <a:cs typeface="Times New Roman" panose="02020603050405020304" pitchFamily="18" charset="0"/>
                        </a:rPr>
                        <a:t>主要期刊</a:t>
                      </a:r>
                    </a:p>
                  </a:txBody>
                  <a:tcPr/>
                </a:tc>
                <a:extLst>
                  <a:ext uri="{0D108BD9-81ED-4DB2-BD59-A6C34878D82A}">
                    <a16:rowId xmlns:a16="http://schemas.microsoft.com/office/drawing/2014/main" val="10000"/>
                  </a:ext>
                </a:extLst>
              </a:tr>
              <a:tr h="986671">
                <a:tc>
                  <a:txBody>
                    <a:bodyPr/>
                    <a:lstStyle/>
                    <a:p>
                      <a:pPr>
                        <a:buNone/>
                      </a:pPr>
                      <a:r>
                        <a:rPr lang="zh-CN" altLang="en-US" dirty="0">
                          <a:latin typeface="黑体" panose="02010609060101010101" pitchFamily="49" charset="-122"/>
                          <a:ea typeface="黑体" panose="02010609060101010101" pitchFamily="49" charset="-122"/>
                          <a:cs typeface="黑体" panose="02010609060101010101" pitchFamily="49" charset="-122"/>
                        </a:rPr>
                        <a:t>机器学习</a:t>
                      </a:r>
                      <a:r>
                        <a:rPr lang="en-US" altLang="zh-CN" dirty="0">
                          <a:latin typeface="黑体" panose="02010609060101010101" pitchFamily="49" charset="-122"/>
                          <a:ea typeface="黑体" panose="02010609060101010101" pitchFamily="49" charset="-122"/>
                          <a:cs typeface="黑体" panose="02010609060101010101" pitchFamily="49" charset="-122"/>
                        </a:rPr>
                        <a:t>/</a:t>
                      </a:r>
                    </a:p>
                    <a:p>
                      <a:pPr>
                        <a:buNone/>
                      </a:pPr>
                      <a:r>
                        <a:rPr lang="zh-CN" altLang="en-US" dirty="0">
                          <a:latin typeface="黑体" panose="02010609060101010101" pitchFamily="49" charset="-122"/>
                          <a:ea typeface="黑体" panose="02010609060101010101" pitchFamily="49" charset="-122"/>
                          <a:cs typeface="黑体" panose="02010609060101010101" pitchFamily="49" charset="-122"/>
                        </a:rPr>
                        <a:t>人工智能</a:t>
                      </a:r>
                    </a:p>
                  </a:txBody>
                  <a:tcPr anchor="ctr"/>
                </a:tc>
                <a:tc>
                  <a:txBody>
                    <a:bodyPr/>
                    <a:lstStyle/>
                    <a:p>
                      <a:pPr>
                        <a:buNone/>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人工智能三大顶会：</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NeurIPS, ICML, ICLR</a:t>
                      </a:r>
                    </a:p>
                    <a:p>
                      <a:pPr>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IJCAI, AAAI; ICRA</a:t>
                      </a:r>
                    </a:p>
                  </a:txBody>
                  <a:tcPr anchor="ctr"/>
                </a:tc>
                <a:tc>
                  <a:txBody>
                    <a:bodyPr/>
                    <a:lstStyle/>
                    <a:p>
                      <a:pPr>
                        <a:buNone/>
                      </a:pP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dk1"/>
                          </a:solidFill>
                          <a:latin typeface="Times New Roman" panose="02020603050405020304" pitchFamily="18" charset="0"/>
                          <a:ea typeface="+mn-ea"/>
                          <a:cs typeface="Times New Roman" panose="02020603050405020304" pitchFamily="18" charset="0"/>
                        </a:rPr>
                        <a:t>TPAMI</a:t>
                      </a:r>
                      <a:r>
                        <a:rPr lang="zh-CN" altLang="en-US" sz="1800" kern="1200" dirty="0">
                          <a:solidFill>
                            <a:schemeClr val="dk1"/>
                          </a:solidFill>
                          <a:latin typeface="Times New Roman" panose="02020603050405020304" pitchFamily="18" charset="0"/>
                          <a:ea typeface="+mn-ea"/>
                          <a:cs typeface="Times New Roman" panose="02020603050405020304" pitchFamily="18" charset="0"/>
                        </a:rPr>
                        <a:t>, </a:t>
                      </a:r>
                      <a:r>
                        <a:rPr lang="en-US" altLang="zh-CN" sz="1800" kern="1200" dirty="0">
                          <a:solidFill>
                            <a:schemeClr val="dk1"/>
                          </a:solidFill>
                          <a:latin typeface="Times New Roman" panose="02020603050405020304" pitchFamily="18" charset="0"/>
                          <a:ea typeface="+mn-ea"/>
                          <a:cs typeface="Times New Roman" panose="02020603050405020304" pitchFamily="18" charset="0"/>
                        </a:rPr>
                        <a:t>JMLR,</a:t>
                      </a:r>
                      <a:r>
                        <a:rPr lang="zh-CN" altLang="en-US" sz="1800" kern="1200" dirty="0">
                          <a:solidFill>
                            <a:schemeClr val="dk1"/>
                          </a:solidFill>
                          <a:latin typeface="Times New Roman" panose="02020603050405020304" pitchFamily="18" charset="0"/>
                          <a:ea typeface="+mn-ea"/>
                          <a:cs typeface="Times New Roman" panose="02020603050405020304" pitchFamily="18" charset="0"/>
                        </a:rPr>
                        <a:t> TNNLS</a:t>
                      </a:r>
                    </a:p>
                  </a:txBody>
                  <a:tcPr/>
                </a:tc>
                <a:extLst>
                  <a:ext uri="{0D108BD9-81ED-4DB2-BD59-A6C34878D82A}">
                    <a16:rowId xmlns:a16="http://schemas.microsoft.com/office/drawing/2014/main" val="10001"/>
                  </a:ext>
                </a:extLst>
              </a:tr>
              <a:tr h="792088">
                <a:tc>
                  <a:txBody>
                    <a:bodyPr/>
                    <a:lstStyle/>
                    <a:p>
                      <a:pPr>
                        <a:buNone/>
                      </a:pPr>
                      <a:r>
                        <a:rPr lang="zh-CN" altLang="en-US" dirty="0">
                          <a:latin typeface="黑体" panose="02010609060101010101" pitchFamily="49" charset="-122"/>
                          <a:ea typeface="黑体" panose="02010609060101010101" pitchFamily="49" charset="-122"/>
                          <a:cs typeface="黑体" panose="02010609060101010101" pitchFamily="49" charset="-122"/>
                        </a:rPr>
                        <a:t>计算机视觉/</a:t>
                      </a:r>
                    </a:p>
                    <a:p>
                      <a:pPr>
                        <a:buNone/>
                      </a:pPr>
                      <a:r>
                        <a:rPr lang="zh-CN" altLang="en-US" dirty="0">
                          <a:latin typeface="黑体" panose="02010609060101010101" pitchFamily="49" charset="-122"/>
                          <a:ea typeface="黑体" panose="02010609060101010101" pitchFamily="49" charset="-122"/>
                          <a:cs typeface="黑体" panose="02010609060101010101" pitchFamily="49" charset="-122"/>
                        </a:rPr>
                        <a:t>图形学与多媒体</a:t>
                      </a:r>
                    </a:p>
                  </a:txBody>
                  <a:tcPr anchor="ctr"/>
                </a:tc>
                <a:tc>
                  <a:txBody>
                    <a:bodyPr/>
                    <a:lstStyle/>
                    <a:p>
                      <a:pPr>
                        <a:buNone/>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计算机视觉三大会：</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CVPR,</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 ICCV, ECCV</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a:buNone/>
                      </a:pPr>
                      <a:r>
                        <a:rPr lang="zh-CN" altLang="en-US" dirty="0">
                          <a:latin typeface="Times New Roman" panose="02020603050405020304" pitchFamily="18" charset="0"/>
                          <a:ea typeface="黑体" panose="02010609060101010101" pitchFamily="49" charset="-122"/>
                          <a:cs typeface="Times New Roman" panose="02020603050405020304" pitchFamily="18" charset="0"/>
                        </a:rPr>
                        <a:t>ACM MM,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SIGGRAPH</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TIP,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TVCG,</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IJCV</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TMM, PR,</a:t>
                      </a:r>
                    </a:p>
                  </a:txBody>
                  <a:tcPr anchor="ctr"/>
                </a:tc>
                <a:extLst>
                  <a:ext uri="{0D108BD9-81ED-4DB2-BD59-A6C34878D82A}">
                    <a16:rowId xmlns:a16="http://schemas.microsoft.com/office/drawing/2014/main" val="10002"/>
                  </a:ext>
                </a:extLst>
              </a:tr>
              <a:tr h="719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黑体" panose="02010609060101010101" pitchFamily="49" charset="-122"/>
                          <a:ea typeface="黑体" panose="02010609060101010101" pitchFamily="49" charset="-122"/>
                          <a:cs typeface="Times New Roman" panose="02020603050405020304" pitchFamily="18" charset="0"/>
                        </a:rPr>
                        <a:t>自然语言处理</a:t>
                      </a:r>
                    </a:p>
                  </a:txBody>
                  <a:tcPr anchor="ctr"/>
                </a:tc>
                <a:tc>
                  <a:txBody>
                    <a:bodyPr/>
                    <a:lstStyle/>
                    <a:p>
                      <a:pPr algn="l">
                        <a:lnSpc>
                          <a:spcPct val="100000"/>
                        </a:lnSpc>
                        <a:buNone/>
                      </a:pPr>
                      <a:r>
                        <a:rPr lang="zh-CN" altLang="en-US" sz="1800" b="1" kern="1200" dirty="0">
                          <a:solidFill>
                            <a:schemeClr val="dk1"/>
                          </a:solidFill>
                          <a:latin typeface="+mj-ea"/>
                          <a:ea typeface="+mj-ea"/>
                          <a:cs typeface="Times New Roman" panose="02020603050405020304" pitchFamily="18" charset="0"/>
                        </a:rPr>
                        <a:t>自然语言处理两大会：</a:t>
                      </a:r>
                      <a:r>
                        <a:rPr lang="zh-CN" altLang="en-US" sz="1800" b="1" kern="1200" dirty="0">
                          <a:solidFill>
                            <a:schemeClr val="dk1"/>
                          </a:solidFill>
                          <a:latin typeface="Times New Roman" panose="02020603050405020304" pitchFamily="18" charset="0"/>
                          <a:ea typeface="+mn-ea"/>
                          <a:cs typeface="Times New Roman" panose="02020603050405020304" pitchFamily="18" charset="0"/>
                        </a:rPr>
                        <a:t>ACL</a:t>
                      </a:r>
                      <a:r>
                        <a:rPr lang="en-US" altLang="zh-CN" sz="1800" b="1" kern="1200" dirty="0">
                          <a:solidFill>
                            <a:schemeClr val="dk1"/>
                          </a:solidFill>
                          <a:latin typeface="Times New Roman" panose="02020603050405020304" pitchFamily="18" charset="0"/>
                          <a:ea typeface="+mn-ea"/>
                          <a:cs typeface="Times New Roman" panose="02020603050405020304" pitchFamily="18" charset="0"/>
                        </a:rPr>
                        <a:t>,</a:t>
                      </a:r>
                      <a:r>
                        <a:rPr lang="zh-CN" altLang="en-US" sz="1800" b="1" kern="1200" dirty="0">
                          <a:solidFill>
                            <a:schemeClr val="dk1"/>
                          </a:solidFill>
                          <a:latin typeface="Times New Roman" panose="02020603050405020304" pitchFamily="18" charset="0"/>
                          <a:ea typeface="+mn-ea"/>
                          <a:cs typeface="Times New Roman" panose="02020603050405020304" pitchFamily="18" charset="0"/>
                        </a:rPr>
                        <a:t> EMNLP</a:t>
                      </a:r>
                      <a:endParaRPr lang="en-US" altLang="zh-CN" sz="1800" b="1" kern="1200" dirty="0">
                        <a:solidFill>
                          <a:schemeClr val="dk1"/>
                        </a:solidFill>
                        <a:latin typeface="Times New Roman" panose="02020603050405020304" pitchFamily="18" charset="0"/>
                        <a:ea typeface="+mn-ea"/>
                        <a:cs typeface="Times New Roman" panose="02020603050405020304" pitchFamily="18" charset="0"/>
                      </a:endParaRPr>
                    </a:p>
                    <a:p>
                      <a:pPr algn="l">
                        <a:lnSpc>
                          <a:spcPct val="100000"/>
                        </a:lnSpc>
                        <a:buNone/>
                      </a:pPr>
                      <a:r>
                        <a:rPr lang="zh-CN" altLang="en-US" sz="1800" kern="1200" dirty="0">
                          <a:solidFill>
                            <a:schemeClr val="dk1"/>
                          </a:solidFill>
                          <a:latin typeface="Times New Roman" panose="02020603050405020304" pitchFamily="18" charset="0"/>
                          <a:ea typeface="+mn-ea"/>
                          <a:cs typeface="Times New Roman" panose="02020603050405020304" pitchFamily="18" charset="0"/>
                        </a:rPr>
                        <a:t>NAACL, COLING</a:t>
                      </a:r>
                      <a:endParaRPr lang="zh-CN" altLang="en-US" sz="1800" kern="1200" dirty="0">
                        <a:solidFill>
                          <a:schemeClr val="dk1"/>
                        </a:solidFill>
                        <a:latin typeface="+mj-ea"/>
                        <a:ea typeface="+mn-ea"/>
                        <a:cs typeface="+mj-ea"/>
                      </a:endParaRPr>
                    </a:p>
                  </a:txBody>
                  <a:tcPr anchor="ctr"/>
                </a:tc>
                <a:tc>
                  <a:txBody>
                    <a:bodyPr/>
                    <a:lstStyle/>
                    <a:p>
                      <a:pPr>
                        <a:buNone/>
                      </a:pPr>
                      <a:endParaRPr lang="zh-CN" altLang="en-US" dirty="0">
                        <a:latin typeface="Times New Roman" panose="02020603050405020304" pitchFamily="18" charset="0"/>
                        <a:ea typeface="+mj-ea"/>
                        <a:cs typeface="Times New Roman" panose="02020603050405020304" pitchFamily="18" charset="0"/>
                      </a:endParaRPr>
                    </a:p>
                  </a:txBody>
                  <a:tcPr anchor="ctr"/>
                </a:tc>
                <a:extLst>
                  <a:ext uri="{0D108BD9-81ED-4DB2-BD59-A6C34878D82A}">
                    <a16:rowId xmlns:a16="http://schemas.microsoft.com/office/drawing/2014/main" val="10003"/>
                  </a:ext>
                </a:extLst>
              </a:tr>
              <a:tr h="792713">
                <a:tc>
                  <a:txBody>
                    <a:bodyPr/>
                    <a:lstStyle/>
                    <a:p>
                      <a:pPr>
                        <a:buNone/>
                      </a:pPr>
                      <a:r>
                        <a:rPr lang="zh-CN" altLang="en-US" dirty="0">
                          <a:latin typeface="黑体" panose="02010609060101010101" pitchFamily="49" charset="-122"/>
                          <a:ea typeface="黑体" panose="02010609060101010101" pitchFamily="49" charset="-122"/>
                          <a:cs typeface="Times New Roman" panose="02020603050405020304" pitchFamily="18" charset="0"/>
                        </a:rPr>
                        <a:t>数据库</a:t>
                      </a:r>
                      <a:r>
                        <a:rPr lang="en-US" altLang="zh-CN" dirty="0">
                          <a:latin typeface="黑体" panose="02010609060101010101" pitchFamily="49" charset="-122"/>
                          <a:ea typeface="黑体" panose="02010609060101010101" pitchFamily="49" charset="-122"/>
                          <a:cs typeface="Times New Roman" panose="02020603050405020304" pitchFamily="18" charset="0"/>
                        </a:rPr>
                        <a:t>/</a:t>
                      </a:r>
                      <a:r>
                        <a:rPr lang="zh-CN" altLang="en-US" dirty="0">
                          <a:latin typeface="黑体" panose="02010609060101010101" pitchFamily="49" charset="-122"/>
                          <a:ea typeface="黑体" panose="02010609060101010101" pitchFamily="49" charset="-122"/>
                          <a:cs typeface="Times New Roman" panose="02020603050405020304" pitchFamily="18" charset="0"/>
                        </a:rPr>
                        <a:t>数据挖掘</a:t>
                      </a:r>
                    </a:p>
                  </a:txBody>
                  <a:tcPr anchor="ctr"/>
                </a:tc>
                <a:tc>
                  <a:txBody>
                    <a:bodyPr/>
                    <a:lstStyle/>
                    <a:p>
                      <a:pPr>
                        <a:buNone/>
                      </a:pPr>
                      <a:r>
                        <a:rPr lang="zh-CN" altLang="en-US" dirty="0">
                          <a:latin typeface="Times New Roman" panose="02020603050405020304" pitchFamily="18" charset="0"/>
                          <a:ea typeface="+mj-ea"/>
                          <a:cs typeface="Times New Roman" panose="02020603050405020304" pitchFamily="18" charset="0"/>
                        </a:rPr>
                        <a:t>SIGMOD, SIGKDD, </a:t>
                      </a:r>
                      <a:r>
                        <a:rPr lang="zh-CN" altLang="en-US" sz="1800" kern="1200" dirty="0">
                          <a:solidFill>
                            <a:schemeClr val="dk1"/>
                          </a:solidFill>
                          <a:latin typeface="Times New Roman" panose="02020603050405020304" pitchFamily="18" charset="0"/>
                          <a:ea typeface="+mn-ea"/>
                          <a:cs typeface="Times New Roman" panose="02020603050405020304" pitchFamily="18" charset="0"/>
                        </a:rPr>
                        <a:t>VLDB, </a:t>
                      </a:r>
                      <a:r>
                        <a:rPr lang="zh-CN" altLang="en-US" dirty="0">
                          <a:latin typeface="Times New Roman" panose="02020603050405020304" pitchFamily="18" charset="0"/>
                          <a:ea typeface="+mj-ea"/>
                          <a:cs typeface="Times New Roman" panose="02020603050405020304" pitchFamily="18" charset="0"/>
                        </a:rPr>
                        <a:t>ICDE, SIGIR, WWW</a:t>
                      </a:r>
                    </a:p>
                  </a:txBody>
                  <a:tcPr anchor="ctr"/>
                </a:tc>
                <a:tc>
                  <a:txBody>
                    <a:bodyPr/>
                    <a:lstStyle/>
                    <a:p>
                      <a:pPr>
                        <a:buNone/>
                      </a:pPr>
                      <a:r>
                        <a:rPr lang="zh-CN" altLang="en-US" dirty="0">
                          <a:latin typeface="Times New Roman" panose="02020603050405020304" pitchFamily="18" charset="0"/>
                          <a:ea typeface="+mj-ea"/>
                          <a:cs typeface="Times New Roman" panose="02020603050405020304" pitchFamily="18" charset="0"/>
                        </a:rPr>
                        <a:t>TKDE, VLDBJ</a:t>
                      </a:r>
                    </a:p>
                  </a:txBody>
                  <a:tcPr anchor="ctr"/>
                </a:tc>
                <a:extLst>
                  <a:ext uri="{0D108BD9-81ED-4DB2-BD59-A6C34878D82A}">
                    <a16:rowId xmlns:a16="http://schemas.microsoft.com/office/drawing/2014/main" val="10004"/>
                  </a:ext>
                </a:extLst>
              </a:tr>
            </a:tbl>
          </a:graphicData>
        </a:graphic>
      </p:graphicFrame>
      <p:sp>
        <p:nvSpPr>
          <p:cNvPr id="7" name="文本框 6"/>
          <p:cNvSpPr txBox="1"/>
          <p:nvPr/>
        </p:nvSpPr>
        <p:spPr>
          <a:xfrm>
            <a:off x="839470" y="6377940"/>
            <a:ext cx="6581140" cy="368300"/>
          </a:xfrm>
          <a:prstGeom prst="rect">
            <a:avLst/>
          </a:prstGeom>
          <a:noFill/>
        </p:spPr>
        <p:txBody>
          <a:bodyPr wrap="square" rtlCol="0" anchor="t">
            <a:spAutoFit/>
          </a:bodyPr>
          <a:lstStyle/>
          <a:p>
            <a:r>
              <a:rPr lang="zh-CN" altLang="en-US" dirty="0">
                <a:latin typeface="黑体" panose="02010609060101010101" pitchFamily="49" charset="-122"/>
                <a:ea typeface="黑体" panose="02010609060101010101" pitchFamily="49" charset="-122"/>
                <a:cs typeface="Times New Roman" panose="02020603050405020304" pitchFamily="18" charset="0"/>
                <a:hlinkClick r:id="rId4"/>
              </a:rPr>
              <a:t>参考《中国计算机学会推荐国际学术会议和期刊目录》</a:t>
            </a:r>
            <a:endParaRPr lang="zh-CN" altLang="en-US" dirty="0">
              <a:latin typeface="黑体" panose="02010609060101010101" pitchFamily="49" charset="-122"/>
              <a:ea typeface="黑体" panose="02010609060101010101" pitchFamily="49"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83986B-B520-30C7-637B-CDAA275D929D}"/>
              </a:ext>
            </a:extLst>
          </p:cNvPr>
          <p:cNvSpPr>
            <a:spLocks noGrp="1"/>
          </p:cNvSpPr>
          <p:nvPr>
            <p:ph type="title"/>
          </p:nvPr>
        </p:nvSpPr>
        <p:spPr/>
        <p:txBody>
          <a:bodyPr/>
          <a:lstStyle/>
          <a:p>
            <a:r>
              <a:rPr lang="zh-CN" altLang="en-US" dirty="0"/>
              <a:t> （回顾）AI领域主要会议及期刊</a:t>
            </a:r>
            <a:endParaRPr kumimoji="1" lang="zh-CN" altLang="en-US" dirty="0"/>
          </a:p>
        </p:txBody>
      </p:sp>
      <p:sp>
        <p:nvSpPr>
          <p:cNvPr id="3" name="内容占位符 2">
            <a:extLst>
              <a:ext uri="{FF2B5EF4-FFF2-40B4-BE49-F238E27FC236}">
                <a16:creationId xmlns:a16="http://schemas.microsoft.com/office/drawing/2014/main" id="{FB897EDB-F088-A996-62C5-3CFCE4962E24}"/>
              </a:ext>
            </a:extLst>
          </p:cNvPr>
          <p:cNvSpPr>
            <a:spLocks noGrp="1"/>
          </p:cNvSpPr>
          <p:nvPr>
            <p:ph idx="1"/>
          </p:nvPr>
        </p:nvSpPr>
        <p:spPr/>
        <p:txBody>
          <a:bodyPr/>
          <a:lstStyle/>
          <a:p>
            <a:r>
              <a:rPr kumimoji="1" lang="zh-CN" altLang="en-US" dirty="0"/>
              <a:t>注意投稿时间，好好规划：</a:t>
            </a:r>
            <a:r>
              <a:rPr kumimoji="1" lang="en-US" altLang="zh-CN" dirty="0">
                <a:hlinkClick r:id="rId2"/>
              </a:rPr>
              <a:t>https://</a:t>
            </a:r>
            <a:r>
              <a:rPr kumimoji="1" lang="en-US" altLang="zh-CN" dirty="0" err="1">
                <a:hlinkClick r:id="rId2"/>
              </a:rPr>
              <a:t>ccfddl.com</a:t>
            </a:r>
            <a:r>
              <a:rPr kumimoji="1" lang="en-US" altLang="zh-CN" dirty="0">
                <a:hlinkClick r:id="rId2"/>
              </a:rPr>
              <a:t>/</a:t>
            </a:r>
            <a:endParaRPr kumimoji="1" lang="zh-CN" altLang="en-US" dirty="0"/>
          </a:p>
        </p:txBody>
      </p:sp>
      <p:sp>
        <p:nvSpPr>
          <p:cNvPr id="4" name="灯片编号占位符 3">
            <a:extLst>
              <a:ext uri="{FF2B5EF4-FFF2-40B4-BE49-F238E27FC236}">
                <a16:creationId xmlns:a16="http://schemas.microsoft.com/office/drawing/2014/main" id="{15B8C9B7-40AC-5AA0-CC7D-85BA84FC0C72}"/>
              </a:ext>
            </a:extLst>
          </p:cNvPr>
          <p:cNvSpPr>
            <a:spLocks noGrp="1"/>
          </p:cNvSpPr>
          <p:nvPr>
            <p:ph type="sldNum" sz="quarter" idx="12"/>
          </p:nvPr>
        </p:nvSpPr>
        <p:spPr/>
        <p:txBody>
          <a:bodyPr/>
          <a:lstStyle/>
          <a:p>
            <a:pPr algn="r"/>
            <a:fld id="{CBD803B2-A378-42BD-B5EC-F7748F169FE0}" type="slidenum">
              <a:rPr lang="en-US" altLang="zh-CN" smtClean="0"/>
              <a:t>3</a:t>
            </a:fld>
            <a:endParaRPr lang="zh-CN" altLang="en-US" dirty="0"/>
          </a:p>
        </p:txBody>
      </p:sp>
      <p:pic>
        <p:nvPicPr>
          <p:cNvPr id="6" name="图片 5">
            <a:extLst>
              <a:ext uri="{FF2B5EF4-FFF2-40B4-BE49-F238E27FC236}">
                <a16:creationId xmlns:a16="http://schemas.microsoft.com/office/drawing/2014/main" id="{94F9A54E-64B6-28B9-368A-D3CBF70051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4688" y="1880764"/>
            <a:ext cx="7772400" cy="4977236"/>
          </a:xfrm>
          <a:prstGeom prst="rect">
            <a:avLst/>
          </a:prstGeom>
        </p:spPr>
      </p:pic>
    </p:spTree>
    <p:extLst>
      <p:ext uri="{BB962C8B-B14F-4D97-AF65-F5344CB8AC3E}">
        <p14:creationId xmlns:p14="http://schemas.microsoft.com/office/powerpoint/2010/main" val="919398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360A5-89CA-2422-9C2D-5CA6D9E07296}"/>
              </a:ext>
            </a:extLst>
          </p:cNvPr>
          <p:cNvSpPr>
            <a:spLocks noGrp="1"/>
          </p:cNvSpPr>
          <p:nvPr>
            <p:ph type="title"/>
          </p:nvPr>
        </p:nvSpPr>
        <p:spPr/>
        <p:txBody>
          <a:bodyPr/>
          <a:lstStyle/>
          <a:p>
            <a:r>
              <a:rPr lang="en-US" altLang="zh-CN" dirty="0"/>
              <a:t> </a:t>
            </a:r>
            <a:r>
              <a:rPr lang="zh-CN" altLang="en-US" dirty="0"/>
              <a:t>（回顾）投稿会议之前需要了解什么？</a:t>
            </a:r>
            <a:endParaRPr kumimoji="1" lang="zh-CN" altLang="en-US" dirty="0"/>
          </a:p>
        </p:txBody>
      </p:sp>
      <p:pic>
        <p:nvPicPr>
          <p:cNvPr id="6" name="内容占位符 5">
            <a:extLst>
              <a:ext uri="{FF2B5EF4-FFF2-40B4-BE49-F238E27FC236}">
                <a16:creationId xmlns:a16="http://schemas.microsoft.com/office/drawing/2014/main" id="{D79D6EE9-1A3F-D0DD-915D-CA071D26F5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5428" y="999133"/>
            <a:ext cx="10241144" cy="5747320"/>
          </a:xfrm>
        </p:spPr>
      </p:pic>
      <p:sp>
        <p:nvSpPr>
          <p:cNvPr id="4" name="灯片编号占位符 3">
            <a:extLst>
              <a:ext uri="{FF2B5EF4-FFF2-40B4-BE49-F238E27FC236}">
                <a16:creationId xmlns:a16="http://schemas.microsoft.com/office/drawing/2014/main" id="{A24E5922-C01D-20C3-6BB2-7E6FA7545B7D}"/>
              </a:ext>
            </a:extLst>
          </p:cNvPr>
          <p:cNvSpPr>
            <a:spLocks noGrp="1"/>
          </p:cNvSpPr>
          <p:nvPr>
            <p:ph type="sldNum" sz="quarter" idx="12"/>
          </p:nvPr>
        </p:nvSpPr>
        <p:spPr/>
        <p:txBody>
          <a:bodyPr/>
          <a:lstStyle/>
          <a:p>
            <a:pPr algn="r"/>
            <a:fld id="{CBD803B2-A378-42BD-B5EC-F7748F169FE0}" type="slidenum">
              <a:rPr lang="en-US" altLang="zh-CN" smtClean="0"/>
              <a:t>4</a:t>
            </a:fld>
            <a:endParaRPr lang="zh-CN" altLang="en-US" dirty="0"/>
          </a:p>
        </p:txBody>
      </p:sp>
      <p:pic>
        <p:nvPicPr>
          <p:cNvPr id="8" name="图片 7">
            <a:extLst>
              <a:ext uri="{FF2B5EF4-FFF2-40B4-BE49-F238E27FC236}">
                <a16:creationId xmlns:a16="http://schemas.microsoft.com/office/drawing/2014/main" id="{9B919D3D-BEE5-1595-929C-721FD4F664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019" y="999133"/>
            <a:ext cx="10397890" cy="5747320"/>
          </a:xfrm>
          <a:prstGeom prst="rect">
            <a:avLst/>
          </a:prstGeom>
        </p:spPr>
      </p:pic>
      <p:sp>
        <p:nvSpPr>
          <p:cNvPr id="9" name="文本框 8">
            <a:extLst>
              <a:ext uri="{FF2B5EF4-FFF2-40B4-BE49-F238E27FC236}">
                <a16:creationId xmlns:a16="http://schemas.microsoft.com/office/drawing/2014/main" id="{A796BC19-E827-70CA-4F2A-AA8F7062B867}"/>
              </a:ext>
            </a:extLst>
          </p:cNvPr>
          <p:cNvSpPr txBox="1"/>
          <p:nvPr/>
        </p:nvSpPr>
        <p:spPr>
          <a:xfrm>
            <a:off x="9448941" y="4581128"/>
            <a:ext cx="2743059" cy="523220"/>
          </a:xfrm>
          <a:prstGeom prst="rect">
            <a:avLst/>
          </a:prstGeom>
          <a:noFill/>
        </p:spPr>
        <p:txBody>
          <a:bodyPr wrap="none" rtlCol="0">
            <a:spAutoFit/>
          </a:bodyPr>
          <a:lstStyle/>
          <a:p>
            <a:pPr algn="l"/>
            <a:r>
              <a:rPr lang="zh-CN" altLang="en-US" sz="2800" b="1" i="1"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一定要看仔细！</a:t>
            </a:r>
          </a:p>
        </p:txBody>
      </p:sp>
    </p:spTree>
    <p:extLst>
      <p:ext uri="{BB962C8B-B14F-4D97-AF65-F5344CB8AC3E}">
        <p14:creationId xmlns:p14="http://schemas.microsoft.com/office/powerpoint/2010/main" val="478812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 Open Access</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5</a:t>
            </a:fld>
            <a:endParaRPr lang="zh-CN" altLang="en-US" dirty="0"/>
          </a:p>
        </p:txBody>
      </p:sp>
      <p:pic>
        <p:nvPicPr>
          <p:cNvPr id="12292" name="图片 5"/>
          <p:cNvPicPr>
            <a:picLocks noChangeAspect="1"/>
          </p:cNvPicPr>
          <p:nvPr/>
        </p:nvPicPr>
        <p:blipFill>
          <a:blip r:embed="rId2"/>
          <a:stretch>
            <a:fillRect/>
          </a:stretch>
        </p:blipFill>
        <p:spPr>
          <a:xfrm>
            <a:off x="550863" y="1412558"/>
            <a:ext cx="7553325" cy="433387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 </a:t>
            </a:r>
            <a:r>
              <a:rPr lang="zh-CN" altLang="en-US" dirty="0"/>
              <a:t>投稿期刊之前需要了解什么？</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6</a:t>
            </a:fld>
            <a:endParaRPr lang="zh-CN" altLang="en-US" dirty="0"/>
          </a:p>
        </p:txBody>
      </p:sp>
      <p:sp>
        <p:nvSpPr>
          <p:cNvPr id="5" name="内容占位符 4"/>
          <p:cNvSpPr>
            <a:spLocks noGrp="1"/>
          </p:cNvSpPr>
          <p:nvPr>
            <p:ph idx="1"/>
          </p:nvPr>
        </p:nvSpPr>
        <p:spPr/>
        <p:txBody>
          <a:bodyPr>
            <a:normAutofit fontScale="97500"/>
          </a:bodyPr>
          <a:lstStyle/>
          <a:p>
            <a:r>
              <a:rPr lang="zh-CN" altLang="en-US" sz="28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版费 </a:t>
            </a:r>
            <a:endParaRPr lang="en-US" altLang="zh-CN" dirty="0"/>
          </a:p>
          <a:p>
            <a:r>
              <a:rPr lang="zh-CN" altLang="en-US" dirty="0"/>
              <a:t>稿件主题是否适合于期刊的范围</a:t>
            </a:r>
          </a:p>
          <a:p>
            <a:r>
              <a:rPr lang="zh-CN" altLang="en-US" dirty="0"/>
              <a:t>稿件被接受至发表的时滞</a:t>
            </a:r>
          </a:p>
          <a:p>
            <a:pPr lvl="1"/>
            <a:r>
              <a:rPr lang="zh-CN" altLang="en-US" sz="2400" dirty="0"/>
              <a:t>观察收稿日期（</a:t>
            </a:r>
            <a:r>
              <a:rPr lang="en-US" altLang="zh-CN" sz="2400" dirty="0"/>
              <a:t>Submitted Date</a:t>
            </a:r>
            <a:r>
              <a:rPr lang="zh-CN" altLang="en-US" sz="2400" dirty="0"/>
              <a:t>）和接受日期（</a:t>
            </a:r>
            <a:r>
              <a:rPr lang="en-US" altLang="zh-CN" sz="2400" dirty="0"/>
              <a:t>Accepted Date</a:t>
            </a:r>
            <a:r>
              <a:rPr lang="zh-CN" altLang="en-US" sz="2400" dirty="0"/>
              <a:t>）</a:t>
            </a:r>
          </a:p>
          <a:p>
            <a:pPr lvl="0"/>
            <a:endParaRPr lang="en-US" altLang="zh-CN" b="0" i="0" dirty="0">
              <a:solidFill>
                <a:srgbClr val="121212"/>
              </a:solidFill>
              <a:effectLst/>
              <a:latin typeface="-apple-system"/>
            </a:endParaRPr>
          </a:p>
          <a:p>
            <a:pPr lvl="0"/>
            <a:r>
              <a:rPr lang="zh-CN" altLang="en-US" b="1" i="0" dirty="0">
                <a:solidFill>
                  <a:srgbClr val="121212"/>
                </a:solidFill>
                <a:effectLst/>
                <a:latin typeface="-apple-system"/>
              </a:rPr>
              <a:t>期刊投稿和审稿都没有</a:t>
            </a:r>
            <a:r>
              <a:rPr lang="en-US" altLang="zh-CN" b="1" i="0" dirty="0">
                <a:solidFill>
                  <a:srgbClr val="121212"/>
                </a:solidFill>
                <a:effectLst/>
                <a:latin typeface="-apple-system"/>
              </a:rPr>
              <a:t>deadline</a:t>
            </a:r>
            <a:r>
              <a:rPr lang="zh-CN" altLang="en-US" b="0" i="0" dirty="0">
                <a:solidFill>
                  <a:srgbClr val="121212"/>
                </a:solidFill>
                <a:effectLst/>
                <a:latin typeface="-apple-system"/>
              </a:rPr>
              <a:t>（期刊的</a:t>
            </a:r>
            <a:r>
              <a:rPr lang="en-US" altLang="zh-CN" b="0" i="0" dirty="0">
                <a:solidFill>
                  <a:srgbClr val="121212"/>
                </a:solidFill>
                <a:effectLst/>
                <a:latin typeface="-apple-system"/>
              </a:rPr>
              <a:t>special issue</a:t>
            </a:r>
            <a:r>
              <a:rPr lang="zh-CN" altLang="en-US" b="0" i="0" dirty="0">
                <a:solidFill>
                  <a:srgbClr val="121212"/>
                </a:solidFill>
                <a:effectLst/>
                <a:latin typeface="-apple-system"/>
              </a:rPr>
              <a:t>除外），因此期刊审稿意见的“出炉”时间往往极不确定且普遍周期较长（</a:t>
            </a:r>
            <a:r>
              <a:rPr lang="en-US" altLang="zh-CN" b="0" i="0" dirty="0">
                <a:solidFill>
                  <a:srgbClr val="121212"/>
                </a:solidFill>
                <a:effectLst/>
                <a:latin typeface="-apple-system"/>
              </a:rPr>
              <a:t>3-8</a:t>
            </a:r>
            <a:r>
              <a:rPr lang="zh-CN" altLang="en-US" b="0" i="0" dirty="0">
                <a:solidFill>
                  <a:srgbClr val="121212"/>
                </a:solidFill>
                <a:effectLst/>
                <a:latin typeface="-apple-system"/>
              </a:rPr>
              <a:t>个月不等）</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 Open Access</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7</a:t>
            </a:fld>
            <a:endParaRPr lang="zh-CN" altLang="en-US" dirty="0"/>
          </a:p>
        </p:txBody>
      </p:sp>
      <p:pic>
        <p:nvPicPr>
          <p:cNvPr id="11267" name="图片 4"/>
          <p:cNvPicPr>
            <a:picLocks noChangeAspect="1"/>
          </p:cNvPicPr>
          <p:nvPr/>
        </p:nvPicPr>
        <p:blipFill>
          <a:blip r:embed="rId2"/>
          <a:stretch>
            <a:fillRect/>
          </a:stretch>
        </p:blipFill>
        <p:spPr>
          <a:xfrm>
            <a:off x="622935" y="1412875"/>
            <a:ext cx="10828655" cy="533336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 </a:t>
            </a:r>
            <a:r>
              <a:rPr lang="zh-CN" altLang="en-US"/>
              <a:t>投稿信写作（</a:t>
            </a:r>
            <a:r>
              <a:rPr lang="en-US" altLang="zh-CN"/>
              <a:t>cover letter</a:t>
            </a:r>
            <a:r>
              <a:rPr lang="zh-CN" altLang="en-US"/>
              <a:t>）</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8</a:t>
            </a:fld>
            <a:endParaRPr lang="zh-CN" altLang="en-US" dirty="0"/>
          </a:p>
        </p:txBody>
      </p:sp>
      <p:sp>
        <p:nvSpPr>
          <p:cNvPr id="5" name="内容占位符 4"/>
          <p:cNvSpPr>
            <a:spLocks noGrp="1"/>
          </p:cNvSpPr>
          <p:nvPr>
            <p:ph idx="1"/>
          </p:nvPr>
        </p:nvSpPr>
        <p:spPr/>
        <p:txBody>
          <a:bodyPr>
            <a:normAutofit/>
          </a:bodyPr>
          <a:lstStyle/>
          <a:p>
            <a:pPr eaLnBrk="1" hangingPunct="1">
              <a:lnSpc>
                <a:spcPct val="120000"/>
              </a:lnSpc>
              <a:spcAft>
                <a:spcPct val="10000"/>
              </a:spcAft>
            </a:pPr>
            <a:endParaRPr lang="zh-CN" altLang="en-US" dirty="0">
              <a:latin typeface="黑体" panose="02010609060101010101" pitchFamily="49" charset="-122"/>
              <a:ea typeface="黑体" panose="02010609060101010101" pitchFamily="49" charset="-122"/>
              <a:cs typeface="黑体" panose="02010609060101010101" pitchFamily="49" charset="-122"/>
              <a:sym typeface="+mn-ea"/>
              <a:hlinkClick r:id="rId3"/>
            </a:endParaRPr>
          </a:p>
          <a:p>
            <a:pPr eaLnBrk="1" hangingPunct="1">
              <a:lnSpc>
                <a:spcPct val="120000"/>
              </a:lnSpc>
              <a:spcAft>
                <a:spcPct val="10000"/>
              </a:spcAft>
            </a:pPr>
            <a:r>
              <a:rPr lang="zh-CN" altLang="en-US" dirty="0">
                <a:latin typeface="黑体" panose="02010609060101010101" pitchFamily="49" charset="-122"/>
                <a:ea typeface="黑体" panose="02010609060101010101" pitchFamily="49" charset="-122"/>
                <a:cs typeface="黑体" panose="02010609060101010101" pitchFamily="49" charset="-122"/>
                <a:sym typeface="+mn-ea"/>
                <a:hlinkClick r:id="rId3"/>
              </a:rPr>
              <a:t>超实用模板 </a:t>
            </a:r>
            <a:r>
              <a:rPr lang="en-US" altLang="zh-CN" dirty="0">
                <a:latin typeface="黑体" panose="02010609060101010101" pitchFamily="49" charset="-122"/>
                <a:ea typeface="黑体" panose="02010609060101010101" pitchFamily="49" charset="-122"/>
                <a:cs typeface="黑体" panose="02010609060101010101" pitchFamily="49" charset="-122"/>
                <a:sym typeface="+mn-ea"/>
                <a:hlinkClick r:id="rId3"/>
              </a:rPr>
              <a:t>| </a:t>
            </a:r>
            <a:r>
              <a:rPr lang="en-US" altLang="en-US" dirty="0">
                <a:latin typeface="黑体" panose="02010609060101010101" pitchFamily="49" charset="-122"/>
                <a:ea typeface="黑体" panose="02010609060101010101" pitchFamily="49" charset="-122"/>
                <a:cs typeface="黑体" panose="02010609060101010101" pitchFamily="49" charset="-122"/>
                <a:sym typeface="+mn-ea"/>
                <a:hlinkClick r:id="rId3"/>
              </a:rPr>
              <a:t>SCI</a:t>
            </a:r>
            <a:r>
              <a:rPr lang="zh-CN" altLang="en-US" dirty="0">
                <a:latin typeface="黑体" panose="02010609060101010101" pitchFamily="49" charset="-122"/>
                <a:ea typeface="黑体" panose="02010609060101010101" pitchFamily="49" charset="-122"/>
                <a:cs typeface="黑体" panose="02010609060101010101" pitchFamily="49" charset="-122"/>
                <a:sym typeface="+mn-ea"/>
                <a:hlinkClick r:id="rId3"/>
              </a:rPr>
              <a:t>投稿时</a:t>
            </a:r>
            <a:r>
              <a:rPr lang="en-US" altLang="en-US" dirty="0">
                <a:latin typeface="黑体" panose="02010609060101010101" pitchFamily="49" charset="-122"/>
                <a:ea typeface="黑体" panose="02010609060101010101" pitchFamily="49" charset="-122"/>
                <a:cs typeface="黑体" panose="02010609060101010101" pitchFamily="49" charset="-122"/>
                <a:sym typeface="+mn-ea"/>
                <a:hlinkClick r:id="rId3"/>
              </a:rPr>
              <a:t>Cover Letter</a:t>
            </a:r>
            <a:r>
              <a:rPr lang="zh-CN" altLang="en-US" dirty="0">
                <a:latin typeface="黑体" panose="02010609060101010101" pitchFamily="49" charset="-122"/>
                <a:ea typeface="黑体" panose="02010609060101010101" pitchFamily="49" charset="-122"/>
                <a:cs typeface="黑体" panose="02010609060101010101" pitchFamily="49" charset="-122"/>
                <a:sym typeface="+mn-ea"/>
                <a:hlinkClick r:id="rId3"/>
              </a:rPr>
              <a:t>的撰写 </a:t>
            </a:r>
            <a:r>
              <a:rPr lang="en-US" altLang="zh-CN" dirty="0">
                <a:latin typeface="黑体" panose="02010609060101010101" pitchFamily="49" charset="-122"/>
                <a:ea typeface="黑体" panose="02010609060101010101" pitchFamily="49" charset="-122"/>
                <a:cs typeface="黑体" panose="02010609060101010101" pitchFamily="49" charset="-122"/>
                <a:sym typeface="+mn-ea"/>
                <a:hlinkClick r:id="rId3"/>
              </a:rPr>
              <a:t>- </a:t>
            </a:r>
            <a:r>
              <a:rPr lang="zh-CN" altLang="en-US" dirty="0">
                <a:latin typeface="黑体" panose="02010609060101010101" pitchFamily="49" charset="-122"/>
                <a:ea typeface="黑体" panose="02010609060101010101" pitchFamily="49" charset="-122"/>
                <a:cs typeface="黑体" panose="02010609060101010101" pitchFamily="49" charset="-122"/>
                <a:sym typeface="+mn-ea"/>
                <a:hlinkClick r:id="rId3"/>
              </a:rPr>
              <a:t>知乎 </a:t>
            </a:r>
            <a:r>
              <a:rPr lang="en-US" altLang="zh-CN" dirty="0">
                <a:latin typeface="黑体" panose="02010609060101010101" pitchFamily="49" charset="-122"/>
                <a:ea typeface="黑体" panose="02010609060101010101" pitchFamily="49" charset="-122"/>
                <a:cs typeface="黑体" panose="02010609060101010101" pitchFamily="49" charset="-122"/>
                <a:sym typeface="+mn-ea"/>
                <a:hlinkClick r:id="rId3"/>
              </a:rPr>
              <a:t>(</a:t>
            </a:r>
            <a:r>
              <a:rPr lang="en-US" altLang="en-US" dirty="0">
                <a:latin typeface="黑体" panose="02010609060101010101" pitchFamily="49" charset="-122"/>
                <a:ea typeface="黑体" panose="02010609060101010101" pitchFamily="49" charset="-122"/>
                <a:cs typeface="黑体" panose="02010609060101010101" pitchFamily="49" charset="-122"/>
                <a:sym typeface="+mn-ea"/>
                <a:hlinkClick r:id="rId3"/>
              </a:rPr>
              <a:t>zhihu.com)</a:t>
            </a:r>
            <a:endParaRPr lang="en-US" altLang="en-US" dirty="0">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120000"/>
              </a:lnSpc>
              <a:spcAft>
                <a:spcPct val="10000"/>
              </a:spcAft>
            </a:pPr>
            <a:endParaRPr lang="en-US" altLang="zh-CN">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120000"/>
              </a:lnSpc>
              <a:spcAft>
                <a:spcPct val="10000"/>
              </a:spcAft>
            </a:pPr>
            <a:endParaRPr lang="en-US" altLang="zh-CN">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120000"/>
              </a:lnSpc>
              <a:spcAft>
                <a:spcPct val="10000"/>
              </a:spcAft>
            </a:pPr>
            <a:r>
              <a:rPr lang="en-US" altLang="zh-CN">
                <a:latin typeface="黑体" panose="02010609060101010101" pitchFamily="49" charset="-122"/>
                <a:ea typeface="黑体" panose="02010609060101010101" pitchFamily="49" charset="-122"/>
                <a:cs typeface="黑体" panose="02010609060101010101" pitchFamily="49" charset="-122"/>
              </a:rPr>
              <a:t>许多期刊都要求作者附上Cover Letter,即使有时期刊规定Cover Letter是可选的，稿件提交时也最好包含一个Cover Letter。Cover Letter是写给该期刊的总编辑的。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 </a:t>
            </a:r>
            <a:r>
              <a:rPr lang="zh-CN" altLang="en-US"/>
              <a:t>投稿信写作（</a:t>
            </a:r>
            <a:r>
              <a:rPr lang="en-US" altLang="zh-CN"/>
              <a:t>cover letter</a:t>
            </a:r>
            <a:r>
              <a:rPr lang="zh-CN" altLang="en-US"/>
              <a:t>）</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9</a:t>
            </a:fld>
            <a:endParaRPr lang="zh-CN" altLang="en-US" dirty="0"/>
          </a:p>
        </p:txBody>
      </p:sp>
      <p:sp>
        <p:nvSpPr>
          <p:cNvPr id="5" name="内容占位符 4"/>
          <p:cNvSpPr>
            <a:spLocks noGrp="1"/>
          </p:cNvSpPr>
          <p:nvPr>
            <p:ph idx="1"/>
          </p:nvPr>
        </p:nvSpPr>
        <p:spPr/>
        <p:txBody>
          <a:bodyPr>
            <a:normAutofit lnSpcReduction="10000"/>
          </a:bodyPr>
          <a:lstStyle/>
          <a:p>
            <a:pPr eaLnBrk="1" hangingPunct="1">
              <a:lnSpc>
                <a:spcPct val="120000"/>
              </a:lnSpc>
              <a:spcAft>
                <a:spcPct val="10000"/>
              </a:spcAft>
            </a:pPr>
            <a:r>
              <a:rPr lang="zh-CN" altLang="en-US" dirty="0">
                <a:solidFill>
                  <a:srgbClr val="121212"/>
                </a:solidFill>
                <a:latin typeface="黑体" panose="02010609060101010101" pitchFamily="49" charset="-122"/>
                <a:ea typeface="黑体" panose="02010609060101010101" pitchFamily="49" charset="-122"/>
                <a:cs typeface="黑体" panose="02010609060101010101" pitchFamily="49" charset="-122"/>
                <a:sym typeface="+mn-ea"/>
              </a:rPr>
              <a:t>如果目标期刊的作者说明中包含</a:t>
            </a:r>
            <a:r>
              <a:rPr lang="en-US" altLang="zh-CN" dirty="0">
                <a:solidFill>
                  <a:srgbClr val="121212"/>
                </a:solidFill>
                <a:latin typeface="黑体" panose="02010609060101010101" pitchFamily="49" charset="-122"/>
                <a:ea typeface="黑体" panose="02010609060101010101" pitchFamily="49" charset="-122"/>
                <a:cs typeface="黑体" panose="02010609060101010101" pitchFamily="49" charset="-122"/>
                <a:sym typeface="+mn-ea"/>
              </a:rPr>
              <a:t>Cover Letter</a:t>
            </a:r>
            <a:r>
              <a:rPr lang="zh-CN" altLang="en-US" dirty="0">
                <a:solidFill>
                  <a:srgbClr val="121212"/>
                </a:solidFill>
                <a:latin typeface="黑体" panose="02010609060101010101" pitchFamily="49" charset="-122"/>
                <a:ea typeface="黑体" panose="02010609060101010101" pitchFamily="49" charset="-122"/>
                <a:cs typeface="黑体" panose="02010609060101010101" pitchFamily="49" charset="-122"/>
                <a:sym typeface="+mn-ea"/>
              </a:rPr>
              <a:t>的规格，请根据期刊的要求进行适当调整。</a:t>
            </a:r>
            <a:endParaRPr lang="en-US" altLang="zh-CN" dirty="0">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120000"/>
              </a:lnSpc>
              <a:spcBef>
                <a:spcPct val="30000"/>
              </a:spcBef>
            </a:pPr>
            <a:r>
              <a:rPr lang="zh-CN" altLang="en-US" dirty="0">
                <a:latin typeface="黑体" panose="02010609060101010101" pitchFamily="49" charset="-122"/>
                <a:ea typeface="黑体" panose="02010609060101010101" pitchFamily="49" charset="-122"/>
                <a:cs typeface="黑体" panose="02010609060101010101" pitchFamily="49" charset="-122"/>
                <a:sym typeface="+mn-ea"/>
              </a:rPr>
              <a:t>简短明了，重点突出，最好不要超过一页。 </a:t>
            </a:r>
            <a:endParaRPr lang="zh-CN" altLang="en-US" dirty="0">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120000"/>
              </a:lnSpc>
              <a:spcBef>
                <a:spcPct val="30000"/>
              </a:spcBef>
            </a:pPr>
            <a:r>
              <a:rPr lang="zh-CN" altLang="en-US" dirty="0">
                <a:solidFill>
                  <a:schemeClr val="accent1">
                    <a:lumMod val="50000"/>
                  </a:schemeClr>
                </a:solidFill>
                <a:latin typeface="黑体" panose="02010609060101010101" pitchFamily="49" charset="-122"/>
                <a:ea typeface="黑体" panose="02010609060101010101" pitchFamily="49" charset="-122"/>
                <a:cs typeface="黑体" panose="02010609060101010101" pitchFamily="49" charset="-122"/>
                <a:sym typeface="+mn-ea"/>
              </a:rPr>
              <a:t>投稿信的基本内容：</a:t>
            </a:r>
          </a:p>
          <a:p>
            <a:pPr lvl="1" eaLnBrk="1" hangingPunct="1">
              <a:lnSpc>
                <a:spcPct val="120000"/>
              </a:lnSpc>
              <a:spcBef>
                <a:spcPct val="30000"/>
              </a:spcBef>
            </a:pPr>
            <a:r>
              <a:rPr lang="zh-CN" altLang="en-US" dirty="0">
                <a:latin typeface="黑体" panose="02010609060101010101" pitchFamily="49" charset="-122"/>
                <a:ea typeface="黑体" panose="02010609060101010101" pitchFamily="49" charset="-122"/>
                <a:cs typeface="黑体" panose="02010609060101010101" pitchFamily="49" charset="-122"/>
                <a:sym typeface="+mn-ea"/>
              </a:rPr>
              <a:t>稿件的栏目类型</a:t>
            </a:r>
            <a:r>
              <a:rPr lang="en-US" altLang="zh-CN" dirty="0">
                <a:latin typeface="黑体" panose="02010609060101010101" pitchFamily="49" charset="-122"/>
                <a:ea typeface="黑体" panose="02010609060101010101" pitchFamily="49" charset="-122"/>
                <a:cs typeface="黑体" panose="02010609060101010101" pitchFamily="49" charset="-122"/>
                <a:sym typeface="+mn-ea"/>
              </a:rPr>
              <a:t>; </a:t>
            </a:r>
            <a:r>
              <a:rPr lang="zh-CN" altLang="en-US" dirty="0">
                <a:latin typeface="黑体" panose="02010609060101010101" pitchFamily="49" charset="-122"/>
                <a:ea typeface="黑体" panose="02010609060101010101" pitchFamily="49" charset="-122"/>
                <a:cs typeface="黑体" panose="02010609060101010101" pitchFamily="49" charset="-122"/>
                <a:sym typeface="+mn-ea"/>
              </a:rPr>
              <a:t>（例如：</a:t>
            </a:r>
            <a:r>
              <a:rPr lang="en-US" altLang="zh-CN" dirty="0">
                <a:latin typeface="黑体" panose="02010609060101010101" pitchFamily="49" charset="-122"/>
                <a:ea typeface="黑体" panose="02010609060101010101" pitchFamily="49" charset="-122"/>
                <a:cs typeface="黑体" panose="02010609060101010101" pitchFamily="49" charset="-122"/>
                <a:sym typeface="+mn-ea"/>
              </a:rPr>
              <a:t>regular paper</a:t>
            </a:r>
            <a:r>
              <a:rPr lang="zh-CN" altLang="en-US" dirty="0">
                <a:latin typeface="黑体" panose="02010609060101010101" pitchFamily="49" charset="-122"/>
                <a:ea typeface="黑体" panose="02010609060101010101" pitchFamily="49" charset="-122"/>
                <a:cs typeface="黑体" panose="02010609060101010101" pitchFamily="49" charset="-122"/>
                <a:sym typeface="+mn-ea"/>
              </a:rPr>
              <a:t>）</a:t>
            </a:r>
          </a:p>
          <a:p>
            <a:pPr lvl="1" eaLnBrk="1" hangingPunct="1">
              <a:lnSpc>
                <a:spcPct val="120000"/>
              </a:lnSpc>
              <a:spcBef>
                <a:spcPct val="30000"/>
              </a:spcBef>
            </a:pPr>
            <a:r>
              <a:rPr lang="zh-CN" altLang="en-US" dirty="0">
                <a:latin typeface="黑体" panose="02010609060101010101" pitchFamily="49" charset="-122"/>
                <a:ea typeface="黑体" panose="02010609060101010101" pitchFamily="49" charset="-122"/>
                <a:cs typeface="黑体" panose="02010609060101010101" pitchFamily="49" charset="-122"/>
                <a:sym typeface="+mn-ea"/>
              </a:rPr>
              <a:t>论文的创新点</a:t>
            </a:r>
            <a:r>
              <a:rPr lang="en-US" altLang="zh-CN" dirty="0">
                <a:latin typeface="黑体" panose="02010609060101010101" pitchFamily="49" charset="-122"/>
                <a:ea typeface="黑体" panose="02010609060101010101" pitchFamily="49" charset="-122"/>
                <a:cs typeface="黑体" panose="02010609060101010101" pitchFamily="49" charset="-122"/>
                <a:sym typeface="+mn-ea"/>
              </a:rPr>
              <a:t>;    </a:t>
            </a:r>
          </a:p>
          <a:p>
            <a:pPr lvl="1" eaLnBrk="1" hangingPunct="1">
              <a:lnSpc>
                <a:spcPct val="120000"/>
              </a:lnSpc>
              <a:spcBef>
                <a:spcPct val="30000"/>
              </a:spcBef>
            </a:pPr>
            <a:r>
              <a:rPr lang="zh-CN" altLang="en-US" dirty="0">
                <a:latin typeface="黑体" panose="02010609060101010101" pitchFamily="49" charset="-122"/>
                <a:ea typeface="黑体" panose="02010609060101010101" pitchFamily="49" charset="-122"/>
                <a:cs typeface="黑体" panose="02010609060101010101" pitchFamily="49" charset="-122"/>
                <a:sym typeface="+mn-ea"/>
              </a:rPr>
              <a:t>论文的基金资助情况</a:t>
            </a:r>
            <a:r>
              <a:rPr lang="en-US" altLang="zh-CN" dirty="0">
                <a:latin typeface="黑体" panose="02010609060101010101" pitchFamily="49" charset="-122"/>
                <a:ea typeface="黑体" panose="02010609060101010101" pitchFamily="49" charset="-122"/>
                <a:cs typeface="黑体" panose="02010609060101010101" pitchFamily="49" charset="-122"/>
                <a:sym typeface="+mn-ea"/>
              </a:rPr>
              <a:t>;</a:t>
            </a:r>
          </a:p>
          <a:p>
            <a:pPr lvl="1" eaLnBrk="1" hangingPunct="1">
              <a:lnSpc>
                <a:spcPct val="120000"/>
              </a:lnSpc>
              <a:spcBef>
                <a:spcPct val="30000"/>
              </a:spcBef>
            </a:pPr>
            <a:r>
              <a:rPr lang="zh-CN" altLang="en-US" dirty="0">
                <a:latin typeface="黑体" panose="02010609060101010101" pitchFamily="49" charset="-122"/>
                <a:ea typeface="黑体" panose="02010609060101010101" pitchFamily="49" charset="-122"/>
                <a:cs typeface="黑体" panose="02010609060101010101" pitchFamily="49" charset="-122"/>
                <a:sym typeface="+mn-ea"/>
              </a:rPr>
              <a:t>建议的审稿人或需回避的审稿人；</a:t>
            </a:r>
          </a:p>
          <a:p>
            <a:pPr lvl="1" eaLnBrk="1" hangingPunct="1">
              <a:lnSpc>
                <a:spcPct val="120000"/>
              </a:lnSpc>
              <a:spcBef>
                <a:spcPct val="30000"/>
              </a:spcBef>
            </a:pPr>
            <a:r>
              <a:rPr lang="zh-CN" altLang="en-US" dirty="0">
                <a:latin typeface="黑体" panose="02010609060101010101" pitchFamily="49" charset="-122"/>
                <a:ea typeface="黑体" panose="02010609060101010101" pitchFamily="49" charset="-122"/>
                <a:cs typeface="黑体" panose="02010609060101010101" pitchFamily="49" charset="-122"/>
                <a:sym typeface="+mn-ea"/>
              </a:rPr>
              <a:t>联系人或通讯作者详细的联系地址、电话、</a:t>
            </a:r>
            <a:r>
              <a:rPr lang="en-US" altLang="zh-CN" dirty="0">
                <a:latin typeface="黑体" panose="02010609060101010101" pitchFamily="49" charset="-122"/>
                <a:ea typeface="黑体" panose="02010609060101010101" pitchFamily="49" charset="-122"/>
                <a:cs typeface="黑体" panose="02010609060101010101" pitchFamily="49" charset="-122"/>
                <a:sym typeface="+mn-ea"/>
              </a:rPr>
              <a:t>E-mail</a:t>
            </a:r>
            <a:endParaRPr lang="en-US" altLang="zh-CN" dirty="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 </a:t>
            </a:r>
            <a:r>
              <a:rPr lang="zh-CN" altLang="en-US" dirty="0"/>
              <a:t>会议审稿流程</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10</a:t>
            </a:fld>
            <a:endParaRPr lang="zh-CN" altLang="en-US" dirty="0"/>
          </a:p>
        </p:txBody>
      </p:sp>
      <p:sp>
        <p:nvSpPr>
          <p:cNvPr id="6" name="文本框 5"/>
          <p:cNvSpPr txBox="1"/>
          <p:nvPr/>
        </p:nvSpPr>
        <p:spPr>
          <a:xfrm>
            <a:off x="1376129" y="2053435"/>
            <a:ext cx="1703569" cy="521888"/>
          </a:xfrm>
          <a:prstGeom prst="rect">
            <a:avLst/>
          </a:prstGeom>
          <a:solidFill>
            <a:srgbClr val="FFC000"/>
          </a:solidFill>
        </p:spPr>
        <p:txBody>
          <a:bodyPr wrap="square" rtlCol="0">
            <a:spAutoFit/>
          </a:bodyPr>
          <a:lstStyle/>
          <a:p>
            <a:r>
              <a:rPr lang="zh-CN" altLang="en-US" sz="2800" dirty="0">
                <a:latin typeface="黑体" panose="02010609060101010101" pitchFamily="49" charset="-122"/>
                <a:ea typeface="黑体" panose="02010609060101010101" pitchFamily="49" charset="-122"/>
              </a:rPr>
              <a:t>作者投稿</a:t>
            </a:r>
          </a:p>
        </p:txBody>
      </p:sp>
      <p:sp>
        <p:nvSpPr>
          <p:cNvPr id="7" name="文本框 6"/>
          <p:cNvSpPr txBox="1"/>
          <p:nvPr/>
        </p:nvSpPr>
        <p:spPr>
          <a:xfrm>
            <a:off x="4511823" y="2052769"/>
            <a:ext cx="2999584" cy="523220"/>
          </a:xfrm>
          <a:prstGeom prst="rect">
            <a:avLst/>
          </a:prstGeom>
          <a:solidFill>
            <a:srgbClr val="00B050"/>
          </a:solidFill>
        </p:spPr>
        <p:txBody>
          <a:bodyPr wrap="square" rtlCol="0">
            <a:spAutoFit/>
          </a:bodyPr>
          <a:lstStyle/>
          <a:p>
            <a:pPr algn="ctr"/>
            <a:r>
              <a:rPr lang="en-US" altLang="zh-CN" sz="2800" dirty="0">
                <a:latin typeface="黑体" panose="02010609060101010101" pitchFamily="49" charset="-122"/>
                <a:ea typeface="黑体" panose="02010609060101010101" pitchFamily="49" charset="-122"/>
              </a:rPr>
              <a:t>PC</a:t>
            </a:r>
            <a:r>
              <a:rPr lang="zh-CN" altLang="en-US" sz="2800" dirty="0">
                <a:latin typeface="黑体" panose="02010609060101010101" pitchFamily="49" charset="-122"/>
                <a:ea typeface="黑体" panose="02010609060101010101" pitchFamily="49" charset="-122"/>
              </a:rPr>
              <a:t> </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 </a:t>
            </a:r>
            <a:r>
              <a:rPr lang="en-US" altLang="zh-CN" sz="2800" dirty="0">
                <a:latin typeface="黑体" panose="02010609060101010101" pitchFamily="49" charset="-122"/>
                <a:ea typeface="黑体" panose="02010609060101010101" pitchFamily="49" charset="-122"/>
              </a:rPr>
              <a:t>SAC</a:t>
            </a:r>
            <a:r>
              <a:rPr lang="zh-CN" altLang="en-US" sz="2800" dirty="0">
                <a:latin typeface="黑体" panose="02010609060101010101" pitchFamily="49" charset="-122"/>
                <a:ea typeface="黑体" panose="02010609060101010101" pitchFamily="49" charset="-122"/>
              </a:rPr>
              <a:t>初审</a:t>
            </a:r>
          </a:p>
        </p:txBody>
      </p:sp>
      <p:sp>
        <p:nvSpPr>
          <p:cNvPr id="8" name="文本框 7"/>
          <p:cNvSpPr txBox="1"/>
          <p:nvPr/>
        </p:nvSpPr>
        <p:spPr>
          <a:xfrm>
            <a:off x="8469119" y="1851484"/>
            <a:ext cx="2323566" cy="954107"/>
          </a:xfrm>
          <a:prstGeom prst="rect">
            <a:avLst/>
          </a:prstGeom>
          <a:solidFill>
            <a:schemeClr val="accent5">
              <a:lumMod val="60000"/>
              <a:lumOff val="40000"/>
            </a:schemeClr>
          </a:solid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拒稿</a:t>
            </a:r>
            <a:endParaRPr lang="en-US" altLang="zh-CN" sz="2800" dirty="0">
              <a:latin typeface="黑体" panose="02010609060101010101" pitchFamily="49" charset="-122"/>
              <a:ea typeface="黑体" panose="02010609060101010101" pitchFamily="49" charset="-122"/>
            </a:endParaRPr>
          </a:p>
          <a:p>
            <a:pPr algn="ctr"/>
            <a:r>
              <a:rPr lang="zh-CN" altLang="en-US" sz="2800" dirty="0">
                <a:solidFill>
                  <a:srgbClr val="0A0A0A"/>
                </a:solidFill>
                <a:latin typeface="Arial" panose="020B0604020202020204" pitchFamily="34" charset="0"/>
                <a:ea typeface="黑体" panose="02010609060101010101" pitchFamily="49" charset="-122"/>
              </a:rPr>
              <a:t>（</a:t>
            </a:r>
            <a:r>
              <a:rPr lang="en-US" altLang="zh-CN" sz="2800" b="0" i="0" dirty="0">
                <a:solidFill>
                  <a:srgbClr val="0A0A0A"/>
                </a:solidFill>
                <a:effectLst/>
                <a:latin typeface="Arial" panose="020B0604020202020204" pitchFamily="34" charset="0"/>
              </a:rPr>
              <a:t>Desk reject</a:t>
            </a:r>
            <a:r>
              <a:rPr lang="zh-CN" altLang="en-US" sz="2800" b="0" i="0" dirty="0">
                <a:solidFill>
                  <a:srgbClr val="0A0A0A"/>
                </a:solidFill>
                <a:effectLst/>
                <a:latin typeface="Arial" panose="020B0604020202020204" pitchFamily="34" charset="0"/>
              </a:rPr>
              <a:t>）</a:t>
            </a:r>
            <a:endParaRPr lang="zh-CN" altLang="en-US" sz="2800" dirty="0">
              <a:latin typeface="黑体" panose="02010609060101010101" pitchFamily="49" charset="-122"/>
              <a:ea typeface="黑体" panose="02010609060101010101" pitchFamily="49" charset="-122"/>
            </a:endParaRPr>
          </a:p>
        </p:txBody>
      </p:sp>
      <p:sp>
        <p:nvSpPr>
          <p:cNvPr id="9" name="文本框 8"/>
          <p:cNvSpPr txBox="1"/>
          <p:nvPr/>
        </p:nvSpPr>
        <p:spPr>
          <a:xfrm>
            <a:off x="4511823" y="3381212"/>
            <a:ext cx="2999584" cy="954107"/>
          </a:xfrm>
          <a:prstGeom prst="rect">
            <a:avLst/>
          </a:prstGeom>
          <a:solidFill>
            <a:schemeClr val="accent1">
              <a:lumMod val="60000"/>
              <a:lumOff val="40000"/>
            </a:schemeClr>
          </a:solidFill>
        </p:spPr>
        <p:txBody>
          <a:bodyPr wrap="square" rtlCol="0">
            <a:spAutoFit/>
          </a:bodyPr>
          <a:lstStyle/>
          <a:p>
            <a:pPr algn="ctr"/>
            <a:r>
              <a:rPr lang="en-US" altLang="zh-CN" sz="2800" dirty="0">
                <a:latin typeface="黑体" panose="02010609060101010101" pitchFamily="49" charset="-122"/>
                <a:ea typeface="黑体" panose="02010609060101010101" pitchFamily="49" charset="-122"/>
                <a:cs typeface="黑体" panose="02010609060101010101" pitchFamily="49" charset="-122"/>
              </a:rPr>
              <a:t>Rebuttal</a:t>
            </a:r>
            <a:r>
              <a:rPr lang="zh-CN" altLang="en-US" sz="2800" dirty="0">
                <a:latin typeface="黑体" panose="02010609060101010101" pitchFamily="49" charset="-122"/>
                <a:ea typeface="黑体" panose="02010609060101010101" pitchFamily="49" charset="-122"/>
                <a:cs typeface="黑体" panose="02010609060101010101" pitchFamily="49" charset="-122"/>
              </a:rPr>
              <a:t>阶段</a:t>
            </a:r>
            <a:endParaRPr lang="en-US" altLang="zh-CN" sz="2800" dirty="0">
              <a:latin typeface="黑体" panose="02010609060101010101" pitchFamily="49" charset="-122"/>
              <a:ea typeface="黑体" panose="02010609060101010101" pitchFamily="49" charset="-122"/>
              <a:cs typeface="黑体" panose="02010609060101010101" pitchFamily="49" charset="-122"/>
            </a:endParaRPr>
          </a:p>
          <a:p>
            <a:pPr algn="ctr"/>
            <a:r>
              <a:rPr lang="zh-CN" altLang="en-US" sz="2800" dirty="0">
                <a:latin typeface="黑体" panose="02010609060101010101" pitchFamily="49" charset="-122"/>
                <a:ea typeface="黑体" panose="02010609060101010101" pitchFamily="49" charset="-122"/>
                <a:cs typeface="黑体" panose="02010609060101010101" pitchFamily="49" charset="-122"/>
              </a:rPr>
              <a:t>（少数会议没有）</a:t>
            </a:r>
            <a:endParaRPr lang="en-US" altLang="zh-CN" sz="2800" dirty="0">
              <a:latin typeface="黑体" panose="02010609060101010101" pitchFamily="49" charset="-122"/>
              <a:ea typeface="黑体" panose="02010609060101010101" pitchFamily="49" charset="-122"/>
              <a:cs typeface="黑体" panose="02010609060101010101" pitchFamily="49" charset="-122"/>
            </a:endParaRPr>
          </a:p>
        </p:txBody>
      </p:sp>
      <p:sp>
        <p:nvSpPr>
          <p:cNvPr id="10" name="文本框 9"/>
          <p:cNvSpPr txBox="1"/>
          <p:nvPr/>
        </p:nvSpPr>
        <p:spPr>
          <a:xfrm>
            <a:off x="8535375" y="6147472"/>
            <a:ext cx="948823" cy="521888"/>
          </a:xfrm>
          <a:prstGeom prst="rect">
            <a:avLst/>
          </a:prstGeom>
          <a:solidFill>
            <a:schemeClr val="accent3">
              <a:lumMod val="20000"/>
              <a:lumOff val="80000"/>
            </a:schemeClr>
          </a:solidFill>
        </p:spPr>
        <p:txBody>
          <a:bodyPr wrap="square" rtlCol="0">
            <a:spAutoFit/>
          </a:bodyPr>
          <a:lstStyle/>
          <a:p>
            <a:r>
              <a:rPr lang="zh-CN" altLang="en-US" sz="2800" dirty="0">
                <a:latin typeface="黑体" panose="02010609060101010101" pitchFamily="49" charset="-122"/>
                <a:ea typeface="黑体" panose="02010609060101010101" pitchFamily="49" charset="-122"/>
              </a:rPr>
              <a:t>录用</a:t>
            </a:r>
          </a:p>
        </p:txBody>
      </p:sp>
      <p:sp>
        <p:nvSpPr>
          <p:cNvPr id="11" name="文本框 10"/>
          <p:cNvSpPr txBox="1"/>
          <p:nvPr/>
        </p:nvSpPr>
        <p:spPr>
          <a:xfrm>
            <a:off x="1212603" y="3360029"/>
            <a:ext cx="1880243" cy="954107"/>
          </a:xfrm>
          <a:prstGeom prst="rect">
            <a:avLst/>
          </a:prstGeom>
          <a:solidFill>
            <a:schemeClr val="bg1">
              <a:lumMod val="85000"/>
            </a:schemeClr>
          </a:solidFill>
        </p:spPr>
        <p:txBody>
          <a:bodyPr wrap="square" rtlCol="0">
            <a:spAutoFit/>
          </a:bodyPr>
          <a:lstStyle/>
          <a:p>
            <a:pPr algn="ctr"/>
            <a:r>
              <a:rPr lang="en-US" altLang="zh-CN" sz="2800" dirty="0">
                <a:latin typeface="黑体" panose="02010609060101010101" pitchFamily="49" charset="-122"/>
                <a:ea typeface="黑体" panose="02010609060101010101" pitchFamily="49" charset="-122"/>
              </a:rPr>
              <a:t>Reviewers</a:t>
            </a:r>
            <a:r>
              <a:rPr lang="zh-CN" altLang="en-US" sz="2800" dirty="0">
                <a:latin typeface="黑体" panose="02010609060101010101" pitchFamily="49" charset="-122"/>
                <a:ea typeface="黑体" panose="02010609060101010101" pitchFamily="49" charset="-122"/>
              </a:rPr>
              <a:t>初审</a:t>
            </a:r>
          </a:p>
        </p:txBody>
      </p:sp>
      <p:sp>
        <p:nvSpPr>
          <p:cNvPr id="13" name="文本框 12"/>
          <p:cNvSpPr txBox="1"/>
          <p:nvPr/>
        </p:nvSpPr>
        <p:spPr>
          <a:xfrm>
            <a:off x="8535375" y="5126964"/>
            <a:ext cx="948823" cy="521888"/>
          </a:xfrm>
          <a:prstGeom prst="rect">
            <a:avLst/>
          </a:prstGeom>
          <a:solidFill>
            <a:schemeClr val="accent5">
              <a:lumMod val="60000"/>
              <a:lumOff val="40000"/>
            </a:schemeClr>
          </a:solidFill>
        </p:spPr>
        <p:txBody>
          <a:bodyPr wrap="square" rtlCol="0">
            <a:spAutoFit/>
          </a:bodyPr>
          <a:lstStyle>
            <a:defPPr>
              <a:defRPr lang="zh-CN"/>
            </a:defPPr>
            <a:lvl1pPr>
              <a:defRPr sz="2800">
                <a:latin typeface="黑体" panose="02010609060101010101" pitchFamily="49" charset="-122"/>
                <a:ea typeface="黑体" panose="02010609060101010101" pitchFamily="49" charset="-122"/>
              </a:defRPr>
            </a:lvl1pPr>
          </a:lstStyle>
          <a:p>
            <a:r>
              <a:rPr lang="zh-CN" altLang="en-US" dirty="0"/>
              <a:t>拒稿</a:t>
            </a:r>
          </a:p>
        </p:txBody>
      </p:sp>
      <p:cxnSp>
        <p:nvCxnSpPr>
          <p:cNvPr id="15" name="直接箭头连接符 14"/>
          <p:cNvCxnSpPr>
            <a:stCxn id="6" idx="3"/>
            <a:endCxn id="7" idx="1"/>
          </p:cNvCxnSpPr>
          <p:nvPr/>
        </p:nvCxnSpPr>
        <p:spPr>
          <a:xfrm>
            <a:off x="3079698" y="2314379"/>
            <a:ext cx="1432125" cy="0"/>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cxnSpLocks/>
            <a:stCxn id="7" idx="3"/>
            <a:endCxn id="8" idx="1"/>
          </p:cNvCxnSpPr>
          <p:nvPr/>
        </p:nvCxnSpPr>
        <p:spPr>
          <a:xfrm>
            <a:off x="7511407" y="2314379"/>
            <a:ext cx="957712" cy="14159"/>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cxnSpLocks/>
            <a:stCxn id="11" idx="3"/>
            <a:endCxn id="9" idx="1"/>
          </p:cNvCxnSpPr>
          <p:nvPr/>
        </p:nvCxnSpPr>
        <p:spPr>
          <a:xfrm>
            <a:off x="3092846" y="3837083"/>
            <a:ext cx="1418977" cy="21183"/>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cxnSpLocks/>
            <a:stCxn id="7" idx="2"/>
            <a:endCxn id="11" idx="0"/>
          </p:cNvCxnSpPr>
          <p:nvPr/>
        </p:nvCxnSpPr>
        <p:spPr>
          <a:xfrm flipH="1">
            <a:off x="2152725" y="2575989"/>
            <a:ext cx="3858890" cy="784040"/>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416360" y="4910940"/>
            <a:ext cx="2879439" cy="954107"/>
          </a:xfrm>
          <a:prstGeom prst="rect">
            <a:avLst/>
          </a:prstGeom>
          <a:solidFill>
            <a:schemeClr val="bg1">
              <a:lumMod val="85000"/>
            </a:schemeClr>
          </a:solidFill>
        </p:spPr>
        <p:txBody>
          <a:bodyPr wrap="square" rtlCol="0">
            <a:spAutoFit/>
          </a:bodyPr>
          <a:lstStyle>
            <a:defPPr>
              <a:defRPr lang="zh-CN"/>
            </a:defPPr>
            <a:lvl1pPr algn="ctr">
              <a:defRPr sz="2800">
                <a:latin typeface="黑体" panose="02010609060101010101" pitchFamily="49" charset="-122"/>
                <a:ea typeface="黑体" panose="02010609060101010101" pitchFamily="49" charset="-122"/>
              </a:defRPr>
            </a:lvl1pPr>
          </a:lstStyle>
          <a:p>
            <a:r>
              <a:rPr lang="en-US" altLang="zh-CN" sz="2800" dirty="0">
                <a:latin typeface="黑体" panose="02010609060101010101" pitchFamily="49" charset="-122"/>
                <a:ea typeface="黑体" panose="02010609060101010101" pitchFamily="49" charset="-122"/>
              </a:rPr>
              <a:t>Reviewers</a:t>
            </a:r>
            <a:r>
              <a:rPr lang="zh-CN" altLang="en-US" dirty="0"/>
              <a:t>讨论，</a:t>
            </a:r>
            <a:r>
              <a:rPr lang="en-US" altLang="zh-CN" dirty="0"/>
              <a:t>AC</a:t>
            </a:r>
            <a:r>
              <a:rPr lang="zh-CN" altLang="en-US" dirty="0"/>
              <a:t>给推荐意见</a:t>
            </a:r>
          </a:p>
        </p:txBody>
      </p:sp>
      <p:cxnSp>
        <p:nvCxnSpPr>
          <p:cNvPr id="47" name="直接箭头连接符 46"/>
          <p:cNvCxnSpPr>
            <a:stCxn id="9" idx="3"/>
            <a:endCxn id="59" idx="1"/>
          </p:cNvCxnSpPr>
          <p:nvPr/>
        </p:nvCxnSpPr>
        <p:spPr>
          <a:xfrm>
            <a:off x="7511407" y="3858266"/>
            <a:ext cx="957712" cy="0"/>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6" idx="3"/>
            <a:endCxn id="13" idx="1"/>
          </p:cNvCxnSpPr>
          <p:nvPr/>
        </p:nvCxnSpPr>
        <p:spPr>
          <a:xfrm flipV="1">
            <a:off x="4295799" y="5387908"/>
            <a:ext cx="4239576" cy="86"/>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58" idx="3"/>
          </p:cNvCxnSpPr>
          <p:nvPr/>
        </p:nvCxnSpPr>
        <p:spPr>
          <a:xfrm>
            <a:off x="7175238" y="5419184"/>
            <a:ext cx="1317067" cy="817902"/>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8469119" y="3381212"/>
            <a:ext cx="948824" cy="954107"/>
          </a:xfrm>
          <a:prstGeom prst="rect">
            <a:avLst/>
          </a:prstGeom>
          <a:solidFill>
            <a:schemeClr val="accent1">
              <a:lumMod val="60000"/>
              <a:lumOff val="40000"/>
            </a:schemeClr>
          </a:solid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cs typeface="黑体" panose="02010609060101010101" pitchFamily="49" charset="-122"/>
              </a:rPr>
              <a:t>作者</a:t>
            </a:r>
            <a:endParaRPr lang="en-US" altLang="zh-CN" sz="2800" dirty="0">
              <a:latin typeface="黑体" panose="02010609060101010101" pitchFamily="49" charset="-122"/>
              <a:ea typeface="黑体" panose="02010609060101010101" pitchFamily="49" charset="-122"/>
              <a:cs typeface="黑体" panose="02010609060101010101" pitchFamily="49" charset="-122"/>
            </a:endParaRPr>
          </a:p>
          <a:p>
            <a:pPr algn="ctr"/>
            <a:r>
              <a:rPr lang="zh-CN" altLang="en-US" sz="2800" dirty="0">
                <a:latin typeface="黑体" panose="02010609060101010101" pitchFamily="49" charset="-122"/>
                <a:ea typeface="黑体" panose="02010609060101010101" pitchFamily="49" charset="-122"/>
                <a:cs typeface="黑体" panose="02010609060101010101" pitchFamily="49" charset="-122"/>
              </a:rPr>
              <a:t>回复</a:t>
            </a:r>
            <a:endParaRPr lang="en-US" altLang="zh-CN" sz="2800" dirty="0">
              <a:latin typeface="黑体" panose="02010609060101010101" pitchFamily="49" charset="-122"/>
              <a:ea typeface="黑体" panose="02010609060101010101" pitchFamily="49" charset="-122"/>
              <a:cs typeface="黑体" panose="02010609060101010101" pitchFamily="49" charset="-122"/>
            </a:endParaRPr>
          </a:p>
        </p:txBody>
      </p:sp>
      <p:sp>
        <p:nvSpPr>
          <p:cNvPr id="58" name="文本框 57"/>
          <p:cNvSpPr txBox="1"/>
          <p:nvPr/>
        </p:nvSpPr>
        <p:spPr>
          <a:xfrm>
            <a:off x="4967743" y="4942130"/>
            <a:ext cx="2207495" cy="954107"/>
          </a:xfrm>
          <a:prstGeom prst="rect">
            <a:avLst/>
          </a:prstGeom>
          <a:solidFill>
            <a:schemeClr val="bg1">
              <a:lumMod val="85000"/>
            </a:schemeClr>
          </a:solidFill>
        </p:spPr>
        <p:txBody>
          <a:bodyPr wrap="square" rtlCol="0">
            <a:spAutoFit/>
          </a:bodyPr>
          <a:lstStyle>
            <a:defPPr>
              <a:defRPr lang="zh-CN"/>
            </a:defPPr>
            <a:lvl1pPr algn="ctr">
              <a:defRPr sz="2800">
                <a:latin typeface="黑体" panose="02010609060101010101" pitchFamily="49" charset="-122"/>
                <a:ea typeface="黑体" panose="02010609060101010101" pitchFamily="49" charset="-122"/>
              </a:defRPr>
            </a:lvl1pPr>
          </a:lstStyle>
          <a:p>
            <a:r>
              <a:rPr lang="en-US" altLang="zh-CN" sz="2800" dirty="0">
                <a:latin typeface="黑体" panose="02010609060101010101" pitchFamily="49" charset="-122"/>
                <a:ea typeface="黑体" panose="02010609060101010101" pitchFamily="49" charset="-122"/>
              </a:rPr>
              <a:t>SAC</a:t>
            </a:r>
            <a:r>
              <a:rPr lang="zh-CN" altLang="en-US" sz="2800" dirty="0">
                <a:latin typeface="黑体" panose="02010609060101010101" pitchFamily="49" charset="-122"/>
                <a:ea typeface="黑体" panose="02010609060101010101" pitchFamily="49" charset="-122"/>
              </a:rPr>
              <a:t> </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 </a:t>
            </a:r>
            <a:r>
              <a:rPr lang="en-US" altLang="zh-CN" sz="2800" dirty="0">
                <a:latin typeface="黑体" panose="02010609060101010101" pitchFamily="49" charset="-122"/>
                <a:ea typeface="黑体" panose="02010609060101010101" pitchFamily="49" charset="-122"/>
              </a:rPr>
              <a:t>AC</a:t>
            </a:r>
            <a:r>
              <a:rPr lang="zh-CN" altLang="en-US" dirty="0"/>
              <a:t>最终决定</a:t>
            </a:r>
          </a:p>
        </p:txBody>
      </p:sp>
      <p:cxnSp>
        <p:nvCxnSpPr>
          <p:cNvPr id="65" name="直接箭头连接符 64"/>
          <p:cNvCxnSpPr>
            <a:stCxn id="59" idx="2"/>
            <a:endCxn id="46" idx="0"/>
          </p:cNvCxnSpPr>
          <p:nvPr/>
        </p:nvCxnSpPr>
        <p:spPr>
          <a:xfrm flipH="1">
            <a:off x="2856080" y="4335319"/>
            <a:ext cx="6087451" cy="575621"/>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B2FFAAC5-A50F-02B4-269A-60A8B95A494E}"/>
              </a:ext>
            </a:extLst>
          </p:cNvPr>
          <p:cNvSpPr txBox="1"/>
          <p:nvPr/>
        </p:nvSpPr>
        <p:spPr>
          <a:xfrm>
            <a:off x="551384" y="992953"/>
            <a:ext cx="11161240" cy="463009"/>
          </a:xfrm>
          <a:prstGeom prst="rect">
            <a:avLst/>
          </a:prstGeom>
          <a:noFill/>
        </p:spPr>
        <p:txBody>
          <a:bodyPr wrap="square">
            <a:spAutoFit/>
          </a:bodyPr>
          <a:lstStyle/>
          <a:p>
            <a:r>
              <a:rPr lang="en-US" altLang="zh-CN" sz="2400" b="1" i="0" dirty="0">
                <a:solidFill>
                  <a:srgbClr val="121212"/>
                </a:solidFill>
                <a:effectLst/>
                <a:latin typeface="-apple-system"/>
              </a:rPr>
              <a:t>PC</a:t>
            </a:r>
            <a:r>
              <a:rPr lang="zh-CN" altLang="en-US" sz="2400" b="1" i="0" dirty="0">
                <a:solidFill>
                  <a:srgbClr val="121212"/>
                </a:solidFill>
                <a:effectLst/>
                <a:latin typeface="-apple-system"/>
              </a:rPr>
              <a:t>（</a:t>
            </a:r>
            <a:r>
              <a:rPr lang="en-US" altLang="zh-CN" sz="2400" b="1" i="0" dirty="0">
                <a:solidFill>
                  <a:srgbClr val="121212"/>
                </a:solidFill>
                <a:effectLst/>
                <a:latin typeface="-apple-system"/>
              </a:rPr>
              <a:t>Program Chair</a:t>
            </a:r>
            <a:r>
              <a:rPr lang="zh-CN" altLang="en-US" sz="2400" b="1" i="0" dirty="0">
                <a:solidFill>
                  <a:srgbClr val="121212"/>
                </a:solidFill>
                <a:effectLst/>
                <a:latin typeface="-apple-system"/>
              </a:rPr>
              <a:t>）</a:t>
            </a:r>
            <a:r>
              <a:rPr lang="en-US" altLang="zh-CN" sz="2400" b="1" dirty="0">
                <a:solidFill>
                  <a:srgbClr val="121212"/>
                </a:solidFill>
                <a:latin typeface="-apple-system"/>
              </a:rPr>
              <a:t>→ </a:t>
            </a:r>
            <a:r>
              <a:rPr lang="zh-CN" altLang="en-US" sz="2400" b="1" dirty="0">
                <a:solidFill>
                  <a:srgbClr val="121212"/>
                </a:solidFill>
                <a:latin typeface="-apple-system"/>
              </a:rPr>
              <a:t> </a:t>
            </a:r>
            <a:r>
              <a:rPr lang="en-US" altLang="zh-CN" sz="2400" b="1" dirty="0"/>
              <a:t>SAC</a:t>
            </a:r>
            <a:r>
              <a:rPr lang="zh-CN" altLang="en-US" sz="2400" b="1" dirty="0"/>
              <a:t>（</a:t>
            </a:r>
            <a:r>
              <a:rPr lang="en-US" altLang="zh-CN" sz="2400" b="1" dirty="0"/>
              <a:t>Senior</a:t>
            </a:r>
            <a:r>
              <a:rPr lang="zh-CN" altLang="en-US" sz="2400" b="1" dirty="0"/>
              <a:t> </a:t>
            </a:r>
            <a:r>
              <a:rPr lang="en-US" altLang="zh-CN" sz="2400" b="1" i="0" dirty="0">
                <a:solidFill>
                  <a:srgbClr val="121212"/>
                </a:solidFill>
                <a:effectLst/>
                <a:latin typeface="-apple-system"/>
              </a:rPr>
              <a:t>Area Chair</a:t>
            </a:r>
            <a:r>
              <a:rPr lang="zh-CN" altLang="en-US" sz="2400" b="1" dirty="0"/>
              <a:t>）</a:t>
            </a:r>
            <a:r>
              <a:rPr lang="en-US" altLang="zh-CN" sz="2400" b="1" dirty="0">
                <a:solidFill>
                  <a:srgbClr val="121212"/>
                </a:solidFill>
                <a:latin typeface="-apple-system"/>
              </a:rPr>
              <a:t>→ </a:t>
            </a:r>
            <a:r>
              <a:rPr lang="en-US" altLang="zh-CN" sz="2400" b="1" dirty="0"/>
              <a:t>AC</a:t>
            </a:r>
            <a:r>
              <a:rPr lang="zh-CN" altLang="en-US" sz="2400" b="1" dirty="0"/>
              <a:t>（</a:t>
            </a:r>
            <a:r>
              <a:rPr lang="en-US" altLang="zh-CN" sz="2400" b="1" i="0" dirty="0">
                <a:solidFill>
                  <a:srgbClr val="121212"/>
                </a:solidFill>
                <a:effectLst/>
                <a:latin typeface="-apple-system"/>
              </a:rPr>
              <a:t>Area Chair</a:t>
            </a:r>
            <a:r>
              <a:rPr lang="zh-CN" altLang="en-US" sz="2400" b="1" dirty="0"/>
              <a:t>）</a:t>
            </a:r>
            <a:r>
              <a:rPr lang="en-US" altLang="zh-CN" sz="2400" b="1" dirty="0">
                <a:solidFill>
                  <a:srgbClr val="121212"/>
                </a:solidFill>
                <a:latin typeface="-apple-system"/>
              </a:rPr>
              <a:t>→</a:t>
            </a:r>
            <a:r>
              <a:rPr lang="zh-CN" altLang="en-US" sz="2400" b="1" dirty="0">
                <a:solidFill>
                  <a:srgbClr val="121212"/>
                </a:solidFill>
                <a:latin typeface="-apple-system"/>
              </a:rPr>
              <a:t> </a:t>
            </a:r>
            <a:r>
              <a:rPr lang="en-US" altLang="zh-CN" sz="2400" b="1" dirty="0"/>
              <a:t>Reviewers</a:t>
            </a:r>
            <a:endParaRPr lang="zh-CN" altLang="en-US" sz="2400" b="1" dirty="0"/>
          </a:p>
        </p:txBody>
      </p:sp>
    </p:spTree>
    <p:extLst>
      <p:ext uri="{BB962C8B-B14F-4D97-AF65-F5344CB8AC3E}">
        <p14:creationId xmlns:p14="http://schemas.microsoft.com/office/powerpoint/2010/main" val="835622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 </a:t>
            </a:r>
            <a:r>
              <a:rPr lang="zh-CN" altLang="en-US" dirty="0"/>
              <a:t>期刊审稿流程</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11</a:t>
            </a:fld>
            <a:endParaRPr lang="zh-CN" altLang="en-US" dirty="0"/>
          </a:p>
        </p:txBody>
      </p:sp>
      <p:sp>
        <p:nvSpPr>
          <p:cNvPr id="6" name="文本框 5"/>
          <p:cNvSpPr txBox="1"/>
          <p:nvPr/>
        </p:nvSpPr>
        <p:spPr>
          <a:xfrm>
            <a:off x="1419200" y="1628800"/>
            <a:ext cx="1703569" cy="521888"/>
          </a:xfrm>
          <a:prstGeom prst="rect">
            <a:avLst/>
          </a:prstGeom>
          <a:solidFill>
            <a:srgbClr val="FFC000"/>
          </a:solidFill>
        </p:spPr>
        <p:txBody>
          <a:bodyPr wrap="square" rtlCol="0">
            <a:spAutoFit/>
          </a:bodyPr>
          <a:lstStyle/>
          <a:p>
            <a:r>
              <a:rPr lang="zh-CN" altLang="en-US" sz="2800" dirty="0">
                <a:latin typeface="黑体" panose="02010609060101010101" pitchFamily="49" charset="-122"/>
                <a:ea typeface="黑体" panose="02010609060101010101" pitchFamily="49" charset="-122"/>
              </a:rPr>
              <a:t>作者投稿</a:t>
            </a:r>
          </a:p>
        </p:txBody>
      </p:sp>
      <p:sp>
        <p:nvSpPr>
          <p:cNvPr id="7" name="文本框 6"/>
          <p:cNvSpPr txBox="1"/>
          <p:nvPr/>
        </p:nvSpPr>
        <p:spPr>
          <a:xfrm>
            <a:off x="5040632" y="1628800"/>
            <a:ext cx="1703569" cy="521888"/>
          </a:xfrm>
          <a:prstGeom prst="rect">
            <a:avLst/>
          </a:prstGeom>
          <a:solidFill>
            <a:srgbClr val="00B050"/>
          </a:solidFill>
        </p:spPr>
        <p:txBody>
          <a:bodyPr wrap="square" rtlCol="0">
            <a:spAutoFit/>
          </a:bodyPr>
          <a:lstStyle/>
          <a:p>
            <a:r>
              <a:rPr lang="zh-CN" altLang="en-US" sz="2800" dirty="0">
                <a:latin typeface="黑体" panose="02010609060101010101" pitchFamily="49" charset="-122"/>
                <a:ea typeface="黑体" panose="02010609060101010101" pitchFamily="49" charset="-122"/>
              </a:rPr>
              <a:t>编辑初审</a:t>
            </a:r>
          </a:p>
        </p:txBody>
      </p:sp>
      <p:sp>
        <p:nvSpPr>
          <p:cNvPr id="8" name="文本框 7"/>
          <p:cNvSpPr txBox="1"/>
          <p:nvPr/>
        </p:nvSpPr>
        <p:spPr>
          <a:xfrm>
            <a:off x="8219610" y="1431192"/>
            <a:ext cx="2529176" cy="954107"/>
          </a:xfrm>
          <a:prstGeom prst="rect">
            <a:avLst/>
          </a:prstGeom>
          <a:solidFill>
            <a:schemeClr val="accent5">
              <a:lumMod val="60000"/>
              <a:lumOff val="40000"/>
            </a:schemeClr>
          </a:solid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拒稿</a:t>
            </a:r>
            <a:endParaRPr lang="en-US" altLang="zh-CN" sz="2800" dirty="0">
              <a:latin typeface="黑体" panose="02010609060101010101" pitchFamily="49" charset="-122"/>
              <a:ea typeface="黑体" panose="02010609060101010101" pitchFamily="49" charset="-122"/>
            </a:endParaRPr>
          </a:p>
          <a:p>
            <a:pPr algn="ctr"/>
            <a:r>
              <a:rPr lang="zh-CN" altLang="en-US" sz="2800" dirty="0">
                <a:solidFill>
                  <a:srgbClr val="0A0A0A"/>
                </a:solidFill>
                <a:latin typeface="Arial" panose="020B0604020202020204" pitchFamily="34" charset="0"/>
                <a:ea typeface="黑体" panose="02010609060101010101" pitchFamily="49" charset="-122"/>
              </a:rPr>
              <a:t>（</a:t>
            </a:r>
            <a:r>
              <a:rPr lang="en-US" altLang="zh-CN" sz="2800" b="0" i="0" dirty="0">
                <a:solidFill>
                  <a:srgbClr val="0A0A0A"/>
                </a:solidFill>
                <a:effectLst/>
                <a:latin typeface="Arial" panose="020B0604020202020204" pitchFamily="34" charset="0"/>
              </a:rPr>
              <a:t>Desk reject</a:t>
            </a:r>
            <a:r>
              <a:rPr lang="zh-CN" altLang="en-US" sz="2800" b="0" i="0" dirty="0">
                <a:solidFill>
                  <a:srgbClr val="0A0A0A"/>
                </a:solidFill>
                <a:effectLst/>
                <a:latin typeface="Arial" panose="020B0604020202020204" pitchFamily="34" charset="0"/>
              </a:rPr>
              <a:t>）</a:t>
            </a:r>
            <a:endParaRPr lang="zh-CN" altLang="en-US" sz="2800" dirty="0">
              <a:latin typeface="黑体" panose="02010609060101010101" pitchFamily="49" charset="-122"/>
              <a:ea typeface="黑体" panose="02010609060101010101" pitchFamily="49" charset="-122"/>
            </a:endParaRPr>
          </a:p>
        </p:txBody>
      </p:sp>
      <p:sp>
        <p:nvSpPr>
          <p:cNvPr id="9" name="文本框 8"/>
          <p:cNvSpPr txBox="1"/>
          <p:nvPr/>
        </p:nvSpPr>
        <p:spPr>
          <a:xfrm>
            <a:off x="1419200" y="4631964"/>
            <a:ext cx="3136700" cy="954107"/>
          </a:xfrm>
          <a:prstGeom prst="rect">
            <a:avLst/>
          </a:prstGeom>
          <a:solidFill>
            <a:schemeClr val="accent1">
              <a:lumMod val="60000"/>
              <a:lumOff val="40000"/>
            </a:schemeClr>
          </a:solidFill>
        </p:spPr>
        <p:txBody>
          <a:bodyPr wrap="square" rtlCol="0">
            <a:spAutoFit/>
          </a:bodyPr>
          <a:lstStyle/>
          <a:p>
            <a:r>
              <a:rPr lang="zh-CN" altLang="en-US" sz="2800" dirty="0">
                <a:latin typeface="黑体" panose="02010609060101010101" pitchFamily="49" charset="-122"/>
                <a:ea typeface="黑体" panose="02010609060101010101" pitchFamily="49" charset="-122"/>
                <a:cs typeface="黑体" panose="02010609060101010101" pitchFamily="49" charset="-122"/>
              </a:rPr>
              <a:t>修改后录用</a:t>
            </a:r>
            <a:r>
              <a:rPr lang="en-US" altLang="zh-CN" sz="2800" dirty="0">
                <a:latin typeface="黑体" panose="02010609060101010101" pitchFamily="49" charset="-122"/>
                <a:ea typeface="黑体" panose="02010609060101010101" pitchFamily="49" charset="-122"/>
                <a:cs typeface="黑体" panose="02010609060101010101" pitchFamily="49" charset="-122"/>
              </a:rPr>
              <a:t>(minor)</a:t>
            </a:r>
          </a:p>
          <a:p>
            <a:pPr algn="ctr"/>
            <a:r>
              <a:rPr lang="en-US" altLang="zh-CN" sz="2800" dirty="0">
                <a:latin typeface="黑体" panose="02010609060101010101" pitchFamily="49" charset="-122"/>
                <a:ea typeface="黑体" panose="02010609060101010101" pitchFamily="49" charset="-122"/>
                <a:cs typeface="黑体" panose="02010609060101010101" pitchFamily="49" charset="-122"/>
              </a:rPr>
              <a:t>/</a:t>
            </a:r>
            <a:r>
              <a:rPr lang="zh-CN" altLang="en-US" sz="2800" dirty="0">
                <a:latin typeface="黑体" panose="02010609060101010101" pitchFamily="49" charset="-122"/>
                <a:ea typeface="黑体" panose="02010609060101010101" pitchFamily="49" charset="-122"/>
                <a:cs typeface="黑体" panose="02010609060101010101" pitchFamily="49" charset="-122"/>
              </a:rPr>
              <a:t>再审</a:t>
            </a:r>
            <a:r>
              <a:rPr lang="en-US" altLang="zh-CN" sz="2800" dirty="0">
                <a:latin typeface="黑体" panose="02010609060101010101" pitchFamily="49" charset="-122"/>
                <a:ea typeface="黑体" panose="02010609060101010101" pitchFamily="49" charset="-122"/>
                <a:cs typeface="黑体" panose="02010609060101010101" pitchFamily="49" charset="-122"/>
              </a:rPr>
              <a:t>(major)</a:t>
            </a:r>
          </a:p>
        </p:txBody>
      </p:sp>
      <p:sp>
        <p:nvSpPr>
          <p:cNvPr id="10" name="文本框 9"/>
          <p:cNvSpPr txBox="1"/>
          <p:nvPr/>
        </p:nvSpPr>
        <p:spPr>
          <a:xfrm>
            <a:off x="8535375" y="5601636"/>
            <a:ext cx="948823" cy="521888"/>
          </a:xfrm>
          <a:prstGeom prst="rect">
            <a:avLst/>
          </a:prstGeom>
          <a:solidFill>
            <a:schemeClr val="accent3">
              <a:lumMod val="20000"/>
              <a:lumOff val="80000"/>
            </a:schemeClr>
          </a:solidFill>
        </p:spPr>
        <p:txBody>
          <a:bodyPr wrap="square" rtlCol="0">
            <a:spAutoFit/>
          </a:bodyPr>
          <a:lstStyle/>
          <a:p>
            <a:r>
              <a:rPr lang="zh-CN" altLang="en-US" sz="2800" dirty="0">
                <a:latin typeface="黑体" panose="02010609060101010101" pitchFamily="49" charset="-122"/>
                <a:ea typeface="黑体" panose="02010609060101010101" pitchFamily="49" charset="-122"/>
              </a:rPr>
              <a:t>录用</a:t>
            </a:r>
          </a:p>
        </p:txBody>
      </p:sp>
      <p:sp>
        <p:nvSpPr>
          <p:cNvPr id="11" name="文本框 10"/>
          <p:cNvSpPr txBox="1"/>
          <p:nvPr/>
        </p:nvSpPr>
        <p:spPr>
          <a:xfrm>
            <a:off x="5040632" y="2796925"/>
            <a:ext cx="2458315" cy="953287"/>
          </a:xfrm>
          <a:prstGeom prst="rect">
            <a:avLst/>
          </a:prstGeom>
          <a:solidFill>
            <a:schemeClr val="bg1">
              <a:lumMod val="85000"/>
            </a:schemeClr>
          </a:solid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专家外审</a:t>
            </a:r>
          </a:p>
          <a:p>
            <a:pPr algn="ctr"/>
            <a:r>
              <a:rPr lang="zh-CN" altLang="en-US" sz="2800" dirty="0">
                <a:latin typeface="黑体" panose="02010609060101010101" pitchFamily="49" charset="-122"/>
                <a:ea typeface="黑体" panose="02010609060101010101" pitchFamily="49" charset="-122"/>
              </a:rPr>
              <a:t>（同行评议）</a:t>
            </a:r>
          </a:p>
        </p:txBody>
      </p:sp>
      <p:sp>
        <p:nvSpPr>
          <p:cNvPr id="12" name="文本框 11"/>
          <p:cNvSpPr txBox="1"/>
          <p:nvPr/>
        </p:nvSpPr>
        <p:spPr>
          <a:xfrm>
            <a:off x="1419200" y="3011958"/>
            <a:ext cx="2038559" cy="523220"/>
          </a:xfrm>
          <a:prstGeom prst="rect">
            <a:avLst/>
          </a:prstGeom>
          <a:solidFill>
            <a:schemeClr val="bg1">
              <a:lumMod val="65000"/>
            </a:schemeClr>
          </a:solidFill>
          <a:ln>
            <a:solidFill>
              <a:schemeClr val="bg1">
                <a:lumMod val="65000"/>
              </a:schemeClr>
            </a:solidFill>
          </a:ln>
        </p:spPr>
        <p:txBody>
          <a:bodyPr wrap="square" rtlCol="0">
            <a:spAutoFit/>
          </a:bodyPr>
          <a:lstStyle/>
          <a:p>
            <a:r>
              <a:rPr lang="zh-CN" altLang="en-US" sz="2800" dirty="0">
                <a:latin typeface="黑体" panose="02010609060101010101" pitchFamily="49" charset="-122"/>
                <a:ea typeface="黑体" panose="02010609060101010101" pitchFamily="49" charset="-122"/>
              </a:rPr>
              <a:t>副主编分配</a:t>
            </a:r>
          </a:p>
        </p:txBody>
      </p:sp>
      <p:sp>
        <p:nvSpPr>
          <p:cNvPr id="13" name="文本框 12"/>
          <p:cNvSpPr txBox="1"/>
          <p:nvPr/>
        </p:nvSpPr>
        <p:spPr>
          <a:xfrm>
            <a:off x="8535375" y="4581128"/>
            <a:ext cx="948823" cy="521888"/>
          </a:xfrm>
          <a:prstGeom prst="rect">
            <a:avLst/>
          </a:prstGeom>
          <a:solidFill>
            <a:schemeClr val="accent5">
              <a:lumMod val="60000"/>
              <a:lumOff val="40000"/>
            </a:schemeClr>
          </a:solidFill>
        </p:spPr>
        <p:txBody>
          <a:bodyPr wrap="square" rtlCol="0">
            <a:spAutoFit/>
          </a:bodyPr>
          <a:lstStyle>
            <a:defPPr>
              <a:defRPr lang="zh-CN"/>
            </a:defPPr>
            <a:lvl1pPr>
              <a:defRPr sz="2800">
                <a:latin typeface="黑体" panose="02010609060101010101" pitchFamily="49" charset="-122"/>
                <a:ea typeface="黑体" panose="02010609060101010101" pitchFamily="49" charset="-122"/>
              </a:defRPr>
            </a:lvl1pPr>
          </a:lstStyle>
          <a:p>
            <a:r>
              <a:rPr lang="zh-CN" altLang="en-US" dirty="0"/>
              <a:t>拒稿</a:t>
            </a:r>
          </a:p>
        </p:txBody>
      </p:sp>
      <p:sp>
        <p:nvSpPr>
          <p:cNvPr id="14" name="文本框 13"/>
          <p:cNvSpPr txBox="1"/>
          <p:nvPr/>
        </p:nvSpPr>
        <p:spPr>
          <a:xfrm>
            <a:off x="8535375" y="3012624"/>
            <a:ext cx="948823" cy="521888"/>
          </a:xfrm>
          <a:prstGeom prst="rect">
            <a:avLst/>
          </a:prstGeom>
          <a:solidFill>
            <a:schemeClr val="accent5">
              <a:lumMod val="60000"/>
              <a:lumOff val="40000"/>
            </a:schemeClr>
          </a:solidFill>
        </p:spPr>
        <p:txBody>
          <a:bodyPr wrap="square" rtlCol="0">
            <a:spAutoFit/>
          </a:bodyPr>
          <a:lstStyle>
            <a:defPPr>
              <a:defRPr lang="zh-CN"/>
            </a:defPPr>
            <a:lvl1pPr>
              <a:defRPr sz="2800">
                <a:latin typeface="黑体" panose="02010609060101010101" pitchFamily="49" charset="-122"/>
                <a:ea typeface="黑体" panose="02010609060101010101" pitchFamily="49" charset="-122"/>
              </a:defRPr>
            </a:lvl1pPr>
          </a:lstStyle>
          <a:p>
            <a:r>
              <a:rPr lang="zh-CN" altLang="en-US" dirty="0"/>
              <a:t>拒稿</a:t>
            </a:r>
          </a:p>
        </p:txBody>
      </p:sp>
      <p:cxnSp>
        <p:nvCxnSpPr>
          <p:cNvPr id="15" name="直接箭头连接符 14"/>
          <p:cNvCxnSpPr>
            <a:stCxn id="6" idx="3"/>
            <a:endCxn id="7" idx="1"/>
          </p:cNvCxnSpPr>
          <p:nvPr/>
        </p:nvCxnSpPr>
        <p:spPr>
          <a:xfrm>
            <a:off x="3122769" y="1889744"/>
            <a:ext cx="1917863" cy="0"/>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cxnSpLocks/>
            <a:stCxn id="7" idx="3"/>
            <a:endCxn id="8" idx="1"/>
          </p:cNvCxnSpPr>
          <p:nvPr/>
        </p:nvCxnSpPr>
        <p:spPr>
          <a:xfrm>
            <a:off x="6744201" y="1889744"/>
            <a:ext cx="1475409" cy="18502"/>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1" idx="2"/>
            <a:endCxn id="9" idx="0"/>
          </p:cNvCxnSpPr>
          <p:nvPr/>
        </p:nvCxnSpPr>
        <p:spPr>
          <a:xfrm flipH="1">
            <a:off x="2987550" y="3750212"/>
            <a:ext cx="3282240" cy="881752"/>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1" idx="3"/>
            <a:endCxn id="14" idx="1"/>
          </p:cNvCxnSpPr>
          <p:nvPr/>
        </p:nvCxnSpPr>
        <p:spPr>
          <a:xfrm flipV="1">
            <a:off x="7498947" y="3273568"/>
            <a:ext cx="1036428" cy="1"/>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2" idx="3"/>
            <a:endCxn id="11" idx="1"/>
          </p:cNvCxnSpPr>
          <p:nvPr/>
        </p:nvCxnSpPr>
        <p:spPr>
          <a:xfrm>
            <a:off x="3457759" y="3273568"/>
            <a:ext cx="1582873" cy="1"/>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7" idx="2"/>
            <a:endCxn id="12" idx="0"/>
          </p:cNvCxnSpPr>
          <p:nvPr/>
        </p:nvCxnSpPr>
        <p:spPr>
          <a:xfrm flipH="1">
            <a:off x="2438480" y="2150688"/>
            <a:ext cx="3453937" cy="861270"/>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375920" y="4835404"/>
            <a:ext cx="2038559" cy="523220"/>
          </a:xfrm>
          <a:prstGeom prst="rect">
            <a:avLst/>
          </a:prstGeom>
          <a:solidFill>
            <a:schemeClr val="bg1">
              <a:lumMod val="65000"/>
            </a:schemeClr>
          </a:solidFill>
          <a:ln>
            <a:solidFill>
              <a:schemeClr val="bg1">
                <a:lumMod val="65000"/>
              </a:schemeClr>
            </a:solidFill>
          </a:ln>
        </p:spPr>
        <p:txBody>
          <a:bodyPr wrap="square" rtlCol="0">
            <a:spAutoFit/>
          </a:bodyPr>
          <a:lstStyle/>
          <a:p>
            <a:r>
              <a:rPr lang="zh-CN" altLang="en-US" sz="2800" dirty="0">
                <a:latin typeface="黑体" panose="02010609060101010101" pitchFamily="49" charset="-122"/>
                <a:ea typeface="黑体" panose="02010609060101010101" pitchFamily="49" charset="-122"/>
              </a:rPr>
              <a:t>副主编判定</a:t>
            </a:r>
          </a:p>
        </p:txBody>
      </p:sp>
      <p:cxnSp>
        <p:nvCxnSpPr>
          <p:cNvPr id="47" name="直接箭头连接符 46"/>
          <p:cNvCxnSpPr>
            <a:stCxn id="9" idx="3"/>
            <a:endCxn id="46" idx="1"/>
          </p:cNvCxnSpPr>
          <p:nvPr/>
        </p:nvCxnSpPr>
        <p:spPr>
          <a:xfrm flipV="1">
            <a:off x="4555900" y="5097014"/>
            <a:ext cx="820020" cy="12004"/>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6" idx="3"/>
            <a:endCxn id="13" idx="1"/>
          </p:cNvCxnSpPr>
          <p:nvPr/>
        </p:nvCxnSpPr>
        <p:spPr>
          <a:xfrm flipV="1">
            <a:off x="7414479" y="4842072"/>
            <a:ext cx="1120896" cy="254942"/>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46" idx="3"/>
            <a:endCxn id="10" idx="1"/>
          </p:cNvCxnSpPr>
          <p:nvPr/>
        </p:nvCxnSpPr>
        <p:spPr>
          <a:xfrm>
            <a:off x="7414479" y="5097014"/>
            <a:ext cx="1120896" cy="765566"/>
          </a:xfrm>
          <a:prstGeom prst="straightConnector1">
            <a:avLst/>
          </a:prstGeom>
          <a:ln w="222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421422" y="5944603"/>
            <a:ext cx="3090401" cy="523220"/>
          </a:xfrm>
          <a:prstGeom prst="rect">
            <a:avLst/>
          </a:prstGeom>
          <a:solidFill>
            <a:schemeClr val="accent1">
              <a:lumMod val="60000"/>
              <a:lumOff val="40000"/>
            </a:schemeClr>
          </a:solid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cs typeface="黑体" panose="02010609060101010101" pitchFamily="49" charset="-122"/>
              </a:rPr>
              <a:t>作者修改</a:t>
            </a:r>
            <a:endParaRPr lang="en-US" altLang="zh-CN" sz="2800" dirty="0">
              <a:latin typeface="黑体" panose="02010609060101010101" pitchFamily="49" charset="-122"/>
              <a:ea typeface="黑体" panose="02010609060101010101" pitchFamily="49" charset="-122"/>
              <a:cs typeface="黑体" panose="02010609060101010101" pitchFamily="49" charset="-122"/>
            </a:endParaRPr>
          </a:p>
        </p:txBody>
      </p:sp>
      <p:sp>
        <p:nvSpPr>
          <p:cNvPr id="60" name="左弧形箭头 59"/>
          <p:cNvSpPr/>
          <p:nvPr/>
        </p:nvSpPr>
        <p:spPr>
          <a:xfrm>
            <a:off x="911424" y="5279671"/>
            <a:ext cx="432048" cy="73907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左弧形箭头 60"/>
          <p:cNvSpPr/>
          <p:nvPr/>
        </p:nvSpPr>
        <p:spPr>
          <a:xfrm rot="10800000">
            <a:off x="4640223" y="5358624"/>
            <a:ext cx="432048" cy="73907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期刊审稿流程</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12</a:t>
            </a:fld>
            <a:endParaRPr lang="zh-CN" altLang="en-US" dirty="0"/>
          </a:p>
        </p:txBody>
      </p:sp>
      <p:sp>
        <p:nvSpPr>
          <p:cNvPr id="5" name="内容占位符 4"/>
          <p:cNvSpPr>
            <a:spLocks noGrp="1"/>
          </p:cNvSpPr>
          <p:nvPr>
            <p:ph idx="1"/>
          </p:nvPr>
        </p:nvSpPr>
        <p:spPr/>
        <p:txBody>
          <a:bodyPr>
            <a:normAutofit/>
          </a:bodyPr>
          <a:lstStyle/>
          <a:p>
            <a:pPr eaLnBrk="1" hangingPunct="1">
              <a:lnSpc>
                <a:spcPct val="120000"/>
              </a:lnSpc>
              <a:spcAft>
                <a:spcPct val="10000"/>
              </a:spcAft>
            </a:pPr>
            <a:r>
              <a:rPr lang="zh-CN" altLang="en-US" dirty="0">
                <a:latin typeface="黑体" panose="02010609060101010101" pitchFamily="49" charset="-122"/>
                <a:ea typeface="黑体" panose="02010609060101010101" pitchFamily="49" charset="-122"/>
                <a:cs typeface="黑体" panose="02010609060101010101" pitchFamily="49" charset="-122"/>
              </a:rPr>
              <a:t>编辑初审：</a:t>
            </a:r>
          </a:p>
          <a:p>
            <a:pPr lvl="1" eaLnBrk="1" hangingPunct="1">
              <a:lnSpc>
                <a:spcPct val="120000"/>
              </a:lnSpc>
              <a:spcAft>
                <a:spcPct val="10000"/>
              </a:spcAft>
            </a:pP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内容审查</a:t>
            </a:r>
            <a:r>
              <a:rPr lang="zh-CN" altLang="en-US" sz="2400" dirty="0">
                <a:latin typeface="黑体" panose="02010609060101010101" pitchFamily="49" charset="-122"/>
                <a:ea typeface="黑体" panose="02010609060101010101" pitchFamily="49" charset="-122"/>
                <a:cs typeface="黑体" panose="02010609060101010101" pitchFamily="49" charset="-122"/>
              </a:rPr>
              <a:t>：是指确认稿件的主题和内容是否与期刊的宗旨和定位相符；</a:t>
            </a:r>
          </a:p>
          <a:p>
            <a:pPr lvl="1" eaLnBrk="1" hangingPunct="1">
              <a:lnSpc>
                <a:spcPct val="120000"/>
              </a:lnSpc>
              <a:spcAft>
                <a:spcPct val="10000"/>
              </a:spcAft>
            </a:pP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形式审查</a:t>
            </a:r>
            <a:r>
              <a:rPr lang="zh-CN" altLang="en-US" sz="2400" dirty="0">
                <a:latin typeface="黑体" panose="02010609060101010101" pitchFamily="49" charset="-122"/>
                <a:ea typeface="黑体" panose="02010609060101010101" pitchFamily="49" charset="-122"/>
                <a:cs typeface="黑体" panose="02010609060101010101" pitchFamily="49" charset="-122"/>
              </a:rPr>
              <a:t>：涉及稿件的体例格式是否符合期刊的要求。</a:t>
            </a:r>
          </a:p>
          <a:p>
            <a:pPr lvl="0" eaLnBrk="1" hangingPunct="1">
              <a:lnSpc>
                <a:spcPct val="120000"/>
              </a:lnSpc>
              <a:spcAft>
                <a:spcPct val="10000"/>
              </a:spcAft>
            </a:pPr>
            <a:endParaRPr lang="en-US" altLang="zh-CN" sz="2800" dirty="0">
              <a:latin typeface="黑体" panose="02010609060101010101" pitchFamily="49" charset="-122"/>
              <a:ea typeface="黑体" panose="02010609060101010101" pitchFamily="49" charset="-122"/>
              <a:cs typeface="黑体" panose="02010609060101010101" pitchFamily="49" charset="-122"/>
            </a:endParaRPr>
          </a:p>
          <a:p>
            <a:pPr lvl="0" eaLnBrk="1" hangingPunct="1">
              <a:lnSpc>
                <a:spcPct val="120000"/>
              </a:lnSpc>
              <a:spcAft>
                <a:spcPct val="10000"/>
              </a:spcAft>
            </a:pPr>
            <a:r>
              <a:rPr lang="zh-CN" altLang="en-US" sz="2800" dirty="0">
                <a:latin typeface="黑体" panose="02010609060101010101" pitchFamily="49" charset="-122"/>
                <a:ea typeface="黑体" panose="02010609060101010101" pitchFamily="49" charset="-122"/>
                <a:cs typeface="黑体" panose="02010609060101010101" pitchFamily="49" charset="-122"/>
              </a:rPr>
              <a:t>专家外审（同行评议）：</a:t>
            </a:r>
          </a:p>
          <a:p>
            <a:pPr lvl="1" eaLnBrk="1" hangingPunct="1">
              <a:lnSpc>
                <a:spcPct val="120000"/>
              </a:lnSpc>
              <a:spcAft>
                <a:spcPct val="10000"/>
              </a:spcAft>
            </a:pPr>
            <a:r>
              <a:rPr lang="zh-CN" altLang="en-US" sz="2400" dirty="0">
                <a:latin typeface="黑体" panose="02010609060101010101" pitchFamily="49" charset="-122"/>
                <a:ea typeface="黑体" panose="02010609060101010101" pitchFamily="49" charset="-122"/>
                <a:cs typeface="黑体" panose="02010609060101010101" pitchFamily="49" charset="-122"/>
              </a:rPr>
              <a:t>对稿件学术质量进行把关，避免用稿失误</a:t>
            </a:r>
          </a:p>
          <a:p>
            <a:pPr lvl="1" eaLnBrk="1" hangingPunct="1">
              <a:lnSpc>
                <a:spcPct val="120000"/>
              </a:lnSpc>
              <a:spcAft>
                <a:spcPct val="10000"/>
              </a:spcAft>
            </a:pP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判定依据</a:t>
            </a:r>
            <a:r>
              <a:rPr lang="zh-CN" altLang="en-US" sz="2400" dirty="0">
                <a:latin typeface="黑体" panose="02010609060101010101" pitchFamily="49" charset="-122"/>
                <a:ea typeface="黑体" panose="02010609060101010101" pitchFamily="49" charset="-122"/>
                <a:cs typeface="黑体" panose="02010609060101010101" pitchFamily="49" charset="-122"/>
              </a:rPr>
              <a:t>：侧重于审评论文的科学性、先进性、实用性、可重复性、伦理性和可读性等。</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64CC9-6888-961B-00F8-33B27A5796C0}"/>
              </a:ext>
            </a:extLst>
          </p:cNvPr>
          <p:cNvSpPr>
            <a:spLocks noGrp="1"/>
          </p:cNvSpPr>
          <p:nvPr>
            <p:ph type="title"/>
          </p:nvPr>
        </p:nvSpPr>
        <p:spPr/>
        <p:txBody>
          <a:bodyPr/>
          <a:lstStyle/>
          <a:p>
            <a:r>
              <a:rPr lang="en-US" altLang="zh-CN" dirty="0"/>
              <a:t> </a:t>
            </a:r>
            <a:r>
              <a:rPr lang="zh-CN" altLang="en-US" dirty="0"/>
              <a:t>（回顾）学术论文写作过程——批判性修改</a:t>
            </a:r>
            <a:endParaRPr kumimoji="1" lang="zh-CN" altLang="en-US" dirty="0"/>
          </a:p>
        </p:txBody>
      </p:sp>
      <p:sp>
        <p:nvSpPr>
          <p:cNvPr id="3" name="内容占位符 2">
            <a:extLst>
              <a:ext uri="{FF2B5EF4-FFF2-40B4-BE49-F238E27FC236}">
                <a16:creationId xmlns:a16="http://schemas.microsoft.com/office/drawing/2014/main" id="{ED3003F4-BBA0-1286-A005-B6EAEC838641}"/>
              </a:ext>
            </a:extLst>
          </p:cNvPr>
          <p:cNvSpPr>
            <a:spLocks noGrp="1"/>
          </p:cNvSpPr>
          <p:nvPr>
            <p:ph idx="1"/>
          </p:nvPr>
        </p:nvSpPr>
        <p:spPr/>
        <p:txBody>
          <a:bodyPr/>
          <a:lstStyle/>
          <a:p>
            <a:r>
              <a:rPr kumimoji="1" lang="zh-CN" altLang="en-US" dirty="0"/>
              <a:t>如何</a:t>
            </a:r>
            <a:r>
              <a:rPr kumimoji="1" lang="en-US" altLang="zh-CN" dirty="0"/>
              <a:t>review</a:t>
            </a:r>
            <a:r>
              <a:rPr kumimoji="1" lang="zh-CN" altLang="en-US" dirty="0"/>
              <a:t>自己的论文：仔细检查论文是否存在被拒的因素</a:t>
            </a:r>
          </a:p>
        </p:txBody>
      </p:sp>
      <p:sp>
        <p:nvSpPr>
          <p:cNvPr id="4" name="灯片编号占位符 3">
            <a:extLst>
              <a:ext uri="{FF2B5EF4-FFF2-40B4-BE49-F238E27FC236}">
                <a16:creationId xmlns:a16="http://schemas.microsoft.com/office/drawing/2014/main" id="{CF547867-0C0D-72E1-0510-6FDCBB01E9A5}"/>
              </a:ext>
            </a:extLst>
          </p:cNvPr>
          <p:cNvSpPr>
            <a:spLocks noGrp="1"/>
          </p:cNvSpPr>
          <p:nvPr>
            <p:ph type="sldNum" sz="quarter" idx="12"/>
          </p:nvPr>
        </p:nvSpPr>
        <p:spPr/>
        <p:txBody>
          <a:bodyPr/>
          <a:lstStyle/>
          <a:p>
            <a:pPr algn="r"/>
            <a:fld id="{CBD803B2-A378-42BD-B5EC-F7748F169FE0}" type="slidenum">
              <a:rPr lang="en-US" altLang="zh-CN" smtClean="0"/>
              <a:t>13</a:t>
            </a:fld>
            <a:endParaRPr lang="zh-CN" altLang="en-US" dirty="0"/>
          </a:p>
        </p:txBody>
      </p:sp>
      <p:pic>
        <p:nvPicPr>
          <p:cNvPr id="6" name="图片 5">
            <a:extLst>
              <a:ext uri="{FF2B5EF4-FFF2-40B4-BE49-F238E27FC236}">
                <a16:creationId xmlns:a16="http://schemas.microsoft.com/office/drawing/2014/main" id="{4AB4A129-635E-5419-4C61-496A0F6F5D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358" y="1690830"/>
            <a:ext cx="10625284" cy="5167170"/>
          </a:xfrm>
          <a:prstGeom prst="rect">
            <a:avLst/>
          </a:prstGeom>
        </p:spPr>
      </p:pic>
    </p:spTree>
    <p:extLst>
      <p:ext uri="{BB962C8B-B14F-4D97-AF65-F5344CB8AC3E}">
        <p14:creationId xmlns:p14="http://schemas.microsoft.com/office/powerpoint/2010/main" val="3954170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审稿人意见主要来源于</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14</a:t>
            </a:fld>
            <a:endParaRPr lang="zh-CN" altLang="en-US" dirty="0"/>
          </a:p>
        </p:txBody>
      </p:sp>
      <p:sp>
        <p:nvSpPr>
          <p:cNvPr id="5" name="内容占位符 4"/>
          <p:cNvSpPr>
            <a:spLocks noGrp="1"/>
          </p:cNvSpPr>
          <p:nvPr>
            <p:ph idx="1"/>
          </p:nvPr>
        </p:nvSpPr>
        <p:spPr/>
        <p:txBody>
          <a:bodyPr>
            <a:normAutofit lnSpcReduction="10000"/>
          </a:bodyPr>
          <a:lstStyle/>
          <a:p>
            <a:pPr eaLnBrk="1" hangingPunct="1">
              <a:lnSpc>
                <a:spcPct val="170000"/>
              </a:lnSpc>
              <a:spcAft>
                <a:spcPct val="10000"/>
              </a:spcAft>
            </a:pP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稿件内容</a:t>
            </a:r>
            <a:r>
              <a:rPr lang="zh-CN" altLang="en-US" sz="2400" dirty="0">
                <a:latin typeface="黑体" panose="02010609060101010101" pitchFamily="49" charset="-122"/>
                <a:ea typeface="黑体" panose="02010609060101010101" pitchFamily="49" charset="-122"/>
                <a:cs typeface="黑体" panose="02010609060101010101" pitchFamily="49" charset="-122"/>
              </a:rPr>
              <a:t>是否新颖、重要</a:t>
            </a:r>
          </a:p>
          <a:p>
            <a:pPr lvl="1" eaLnBrk="1" hangingPunct="1">
              <a:lnSpc>
                <a:spcPct val="170000"/>
              </a:lnSpc>
              <a:spcAft>
                <a:spcPct val="10000"/>
              </a:spcAft>
            </a:pPr>
            <a:r>
              <a:rPr lang="zh-CN" altLang="en-US" sz="2055" dirty="0">
                <a:solidFill>
                  <a:schemeClr val="accent1">
                    <a:lumMod val="50000"/>
                  </a:schemeClr>
                </a:solidFill>
                <a:latin typeface="黑体" panose="02010609060101010101" pitchFamily="49" charset="-122"/>
                <a:ea typeface="黑体" panose="02010609060101010101" pitchFamily="49" charset="-122"/>
                <a:cs typeface="黑体" panose="02010609060101010101" pitchFamily="49" charset="-122"/>
              </a:rPr>
              <a:t>选题是否新颖</a:t>
            </a:r>
            <a:endParaRPr lang="en-US" altLang="zh-CN" sz="2055" dirty="0">
              <a:solidFill>
                <a:schemeClr val="accent1">
                  <a:lumMod val="50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170000"/>
              </a:lnSpc>
              <a:spcAft>
                <a:spcPct val="10000"/>
              </a:spcAft>
            </a:pPr>
            <a:r>
              <a:rPr lang="zh-CN" altLang="en-US" sz="2055" dirty="0">
                <a:solidFill>
                  <a:schemeClr val="accent1">
                    <a:lumMod val="50000"/>
                  </a:schemeClr>
                </a:solidFill>
                <a:latin typeface="黑体" panose="02010609060101010101" pitchFamily="49" charset="-122"/>
                <a:cs typeface="黑体" panose="02010609060101010101" pitchFamily="49" charset="-122"/>
              </a:rPr>
              <a:t>动机与方法</a:t>
            </a:r>
            <a:r>
              <a:rPr lang="zh-CN" altLang="en-US" sz="2055" dirty="0">
                <a:solidFill>
                  <a:schemeClr val="accent1">
                    <a:lumMod val="50000"/>
                  </a:schemeClr>
                </a:solidFill>
                <a:latin typeface="黑体" panose="02010609060101010101" pitchFamily="49" charset="-122"/>
                <a:ea typeface="黑体" panose="02010609060101010101" pitchFamily="49" charset="-122"/>
                <a:cs typeface="黑体" panose="02010609060101010101" pitchFamily="49" charset="-122"/>
              </a:rPr>
              <a:t>是否具有新意</a:t>
            </a:r>
          </a:p>
          <a:p>
            <a:pPr lvl="1" eaLnBrk="1" hangingPunct="1">
              <a:lnSpc>
                <a:spcPct val="170000"/>
              </a:lnSpc>
              <a:spcAft>
                <a:spcPct val="10000"/>
              </a:spcAft>
            </a:pPr>
            <a:r>
              <a:rPr lang="zh-CN" altLang="en-US" sz="2055" dirty="0">
                <a:solidFill>
                  <a:schemeClr val="accent1">
                    <a:lumMod val="50000"/>
                  </a:schemeClr>
                </a:solidFill>
                <a:latin typeface="黑体" panose="02010609060101010101" pitchFamily="49" charset="-122"/>
                <a:ea typeface="黑体" panose="02010609060101010101" pitchFamily="49" charset="-122"/>
                <a:cs typeface="黑体" panose="02010609060101010101" pitchFamily="49" charset="-122"/>
              </a:rPr>
              <a:t>数据集与结果是否有说服力</a:t>
            </a:r>
          </a:p>
          <a:p>
            <a:pPr>
              <a:lnSpc>
                <a:spcPct val="170000"/>
              </a:lnSpc>
              <a:spcAft>
                <a:spcPct val="10000"/>
              </a:spcAft>
            </a:pPr>
            <a:r>
              <a:rPr lang="en-US" altLang="zh-CN" sz="2395" dirty="0">
                <a:solidFill>
                  <a:srgbClr val="C00000"/>
                </a:solidFill>
                <a:latin typeface="黑体" panose="02010609060101010101" pitchFamily="49" charset="-122"/>
                <a:ea typeface="黑体" panose="02010609060101010101" pitchFamily="49" charset="-122"/>
                <a:cs typeface="黑体" panose="02010609060101010101" pitchFamily="49" charset="-122"/>
              </a:rPr>
              <a:t>Story</a:t>
            </a:r>
            <a:r>
              <a:rPr lang="zh-CN" altLang="en-US" sz="2395" dirty="0">
                <a:solidFill>
                  <a:srgbClr val="C00000"/>
                </a:solidFill>
                <a:latin typeface="黑体" panose="02010609060101010101" pitchFamily="49" charset="-122"/>
                <a:ea typeface="黑体" panose="02010609060101010101" pitchFamily="49" charset="-122"/>
                <a:cs typeface="黑体" panose="02010609060101010101" pitchFamily="49" charset="-122"/>
              </a:rPr>
              <a:t>的逻辑与方法的设计</a:t>
            </a:r>
            <a:r>
              <a:rPr lang="zh-CN" altLang="en-US" sz="2395" dirty="0">
                <a:latin typeface="黑体" panose="02010609060101010101" pitchFamily="49" charset="-122"/>
                <a:ea typeface="黑体" panose="02010609060101010101" pitchFamily="49" charset="-122"/>
                <a:cs typeface="黑体" panose="02010609060101010101" pitchFamily="49" charset="-122"/>
              </a:rPr>
              <a:t>是否合理</a:t>
            </a:r>
            <a:endParaRPr lang="en-US" altLang="zh-CN" sz="2395" dirty="0">
              <a:latin typeface="黑体" panose="02010609060101010101" pitchFamily="49" charset="-122"/>
              <a:ea typeface="黑体" panose="02010609060101010101" pitchFamily="49" charset="-122"/>
              <a:cs typeface="黑体" panose="02010609060101010101" pitchFamily="49" charset="-122"/>
            </a:endParaRPr>
          </a:p>
          <a:p>
            <a:pPr>
              <a:lnSpc>
                <a:spcPct val="170000"/>
              </a:lnSpc>
              <a:spcAft>
                <a:spcPct val="10000"/>
              </a:spcAft>
            </a:pPr>
            <a:r>
              <a:rPr lang="zh-CN" altLang="en-US" sz="2395" dirty="0">
                <a:solidFill>
                  <a:srgbClr val="C00000"/>
                </a:solidFill>
                <a:latin typeface="黑体" panose="02010609060101010101" pitchFamily="49" charset="-122"/>
                <a:ea typeface="黑体" panose="02010609060101010101" pitchFamily="49" charset="-122"/>
                <a:cs typeface="黑体" panose="02010609060101010101" pitchFamily="49" charset="-122"/>
              </a:rPr>
              <a:t>论文写作</a:t>
            </a:r>
            <a:r>
              <a:rPr lang="zh-CN" altLang="en-US" sz="2395" dirty="0">
                <a:latin typeface="黑体" panose="02010609060101010101" pitchFamily="49" charset="-122"/>
                <a:ea typeface="黑体" panose="02010609060101010101" pitchFamily="49" charset="-122"/>
                <a:cs typeface="黑体" panose="02010609060101010101" pitchFamily="49" charset="-122"/>
              </a:rPr>
              <a:t>是否清晰、流畅通顺、整体自恰</a:t>
            </a:r>
            <a:endParaRPr lang="en-US" altLang="zh-CN" sz="2395" dirty="0">
              <a:latin typeface="黑体" panose="02010609060101010101" pitchFamily="49" charset="-122"/>
              <a:ea typeface="黑体" panose="02010609060101010101" pitchFamily="49" charset="-122"/>
              <a:cs typeface="黑体" panose="02010609060101010101" pitchFamily="49" charset="-122"/>
            </a:endParaRPr>
          </a:p>
          <a:p>
            <a:pPr>
              <a:lnSpc>
                <a:spcPct val="170000"/>
              </a:lnSpc>
              <a:spcAft>
                <a:spcPct val="10000"/>
              </a:spcAft>
            </a:pPr>
            <a:r>
              <a:rPr lang="zh-CN" altLang="en-US" sz="2395" dirty="0">
                <a:solidFill>
                  <a:srgbClr val="C00000"/>
                </a:solidFill>
                <a:latin typeface="黑体" panose="02010609060101010101" pitchFamily="49" charset="-122"/>
                <a:ea typeface="黑体" panose="02010609060101010101" pitchFamily="49" charset="-122"/>
                <a:cs typeface="黑体" panose="02010609060101010101" pitchFamily="49" charset="-122"/>
              </a:rPr>
              <a:t>相关论文的对比</a:t>
            </a:r>
            <a:r>
              <a:rPr lang="zh-CN" altLang="en-US" sz="2395" dirty="0">
                <a:latin typeface="黑体" panose="02010609060101010101" pitchFamily="49" charset="-122"/>
                <a:ea typeface="黑体" panose="02010609060101010101" pitchFamily="49" charset="-122"/>
                <a:cs typeface="黑体" panose="02010609060101010101" pitchFamily="49" charset="-122"/>
              </a:rPr>
              <a:t>是否有全面、清晰、公平</a:t>
            </a:r>
            <a:endParaRPr lang="en-US" altLang="zh-CN" sz="2395"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lvl="0" eaLnBrk="1" hangingPunct="1">
              <a:lnSpc>
                <a:spcPct val="170000"/>
              </a:lnSpc>
              <a:spcAft>
                <a:spcPct val="10000"/>
              </a:spcAft>
            </a:pPr>
            <a:r>
              <a:rPr lang="zh-CN" altLang="en-US" sz="2395" dirty="0">
                <a:solidFill>
                  <a:srgbClr val="C00000"/>
                </a:solidFill>
                <a:latin typeface="黑体" panose="02010609060101010101" pitchFamily="49" charset="-122"/>
                <a:ea typeface="黑体" panose="02010609060101010101" pitchFamily="49" charset="-122"/>
                <a:cs typeface="黑体" panose="02010609060101010101" pitchFamily="49" charset="-122"/>
              </a:rPr>
              <a:t>实验与结果分析</a:t>
            </a:r>
            <a:r>
              <a:rPr lang="zh-CN" altLang="en-US" sz="2395" dirty="0">
                <a:latin typeface="黑体" panose="02010609060101010101" pitchFamily="49" charset="-122"/>
                <a:ea typeface="黑体" panose="02010609060101010101" pitchFamily="49" charset="-122"/>
                <a:cs typeface="黑体" panose="02010609060101010101" pitchFamily="49" charset="-122"/>
              </a:rPr>
              <a:t>是否清楚、完整</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2A1F16-4D29-B02C-254A-BEF564E3D921}"/>
              </a:ext>
            </a:extLst>
          </p:cNvPr>
          <p:cNvSpPr>
            <a:spLocks noGrp="1"/>
          </p:cNvSpPr>
          <p:nvPr>
            <p:ph type="title"/>
          </p:nvPr>
        </p:nvSpPr>
        <p:spPr/>
        <p:txBody>
          <a:bodyPr/>
          <a:lstStyle/>
          <a:p>
            <a:r>
              <a:rPr kumimoji="1" lang="en-US" altLang="zh-CN" dirty="0"/>
              <a:t>Rebuttal</a:t>
            </a:r>
            <a:r>
              <a:rPr kumimoji="1" lang="zh-CN" altLang="en-US" dirty="0"/>
              <a:t>案例</a:t>
            </a:r>
          </a:p>
        </p:txBody>
      </p:sp>
      <p:sp>
        <p:nvSpPr>
          <p:cNvPr id="3" name="内容占位符 2">
            <a:extLst>
              <a:ext uri="{FF2B5EF4-FFF2-40B4-BE49-F238E27FC236}">
                <a16:creationId xmlns:a16="http://schemas.microsoft.com/office/drawing/2014/main" id="{53599A1A-28B9-9B57-2A9E-965235700448}"/>
              </a:ext>
            </a:extLst>
          </p:cNvPr>
          <p:cNvSpPr>
            <a:spLocks noGrp="1"/>
          </p:cNvSpPr>
          <p:nvPr>
            <p:ph idx="1"/>
          </p:nvPr>
        </p:nvSpPr>
        <p:spPr/>
        <p:txBody>
          <a:bodyPr/>
          <a:lstStyle/>
          <a:p>
            <a:r>
              <a:rPr kumimoji="1" lang="zh-CN" altLang="en-US" b="1" dirty="0">
                <a:solidFill>
                  <a:srgbClr val="FF0000"/>
                </a:solidFill>
              </a:rPr>
              <a:t>论文的写作十分重要</a:t>
            </a:r>
            <a:r>
              <a:rPr kumimoji="1" lang="zh-CN" altLang="en-US" dirty="0"/>
              <a:t>，因为如果你写作让</a:t>
            </a:r>
            <a:r>
              <a:rPr kumimoji="1" lang="en-US" altLang="zh-CN" dirty="0"/>
              <a:t>Reviewer</a:t>
            </a:r>
            <a:r>
              <a:rPr kumimoji="1" lang="zh-CN" altLang="en-US" dirty="0"/>
              <a:t>不舒服，让</a:t>
            </a:r>
            <a:r>
              <a:rPr kumimoji="1" lang="en-US" altLang="zh-CN" dirty="0"/>
              <a:t>ta</a:t>
            </a:r>
            <a:r>
              <a:rPr kumimoji="1" lang="zh-CN" altLang="en-US" dirty="0"/>
              <a:t>觉得你不是一个领域专家，就会想千方百计拒掉你。这种情况就很难进行</a:t>
            </a:r>
            <a:r>
              <a:rPr kumimoji="1" lang="en-US" altLang="zh-CN" dirty="0"/>
              <a:t>Rebuttal</a:t>
            </a:r>
            <a:r>
              <a:rPr kumimoji="1" lang="zh-CN" altLang="en-US" dirty="0"/>
              <a:t>，很难补救这种判断了。</a:t>
            </a:r>
          </a:p>
        </p:txBody>
      </p:sp>
      <p:sp>
        <p:nvSpPr>
          <p:cNvPr id="4" name="灯片编号占位符 3">
            <a:extLst>
              <a:ext uri="{FF2B5EF4-FFF2-40B4-BE49-F238E27FC236}">
                <a16:creationId xmlns:a16="http://schemas.microsoft.com/office/drawing/2014/main" id="{C3594A6B-859B-CA21-FC60-48412A898700}"/>
              </a:ext>
            </a:extLst>
          </p:cNvPr>
          <p:cNvSpPr>
            <a:spLocks noGrp="1"/>
          </p:cNvSpPr>
          <p:nvPr>
            <p:ph type="sldNum" sz="quarter" idx="12"/>
          </p:nvPr>
        </p:nvSpPr>
        <p:spPr/>
        <p:txBody>
          <a:bodyPr/>
          <a:lstStyle/>
          <a:p>
            <a:pPr algn="r"/>
            <a:fld id="{CBD803B2-A378-42BD-B5EC-F7748F169FE0}" type="slidenum">
              <a:rPr lang="en-US" altLang="zh-CN" smtClean="0"/>
              <a:t>15</a:t>
            </a:fld>
            <a:endParaRPr lang="zh-CN" altLang="en-US" dirty="0"/>
          </a:p>
        </p:txBody>
      </p:sp>
      <p:pic>
        <p:nvPicPr>
          <p:cNvPr id="6" name="图片 5">
            <a:extLst>
              <a:ext uri="{FF2B5EF4-FFF2-40B4-BE49-F238E27FC236}">
                <a16:creationId xmlns:a16="http://schemas.microsoft.com/office/drawing/2014/main" id="{D0F055F6-1C87-1F99-C101-4BE1E2E0F24A}"/>
              </a:ext>
            </a:extLst>
          </p:cNvPr>
          <p:cNvPicPr>
            <a:picLocks noChangeAspect="1"/>
          </p:cNvPicPr>
          <p:nvPr/>
        </p:nvPicPr>
        <p:blipFill rotWithShape="1">
          <a:blip r:embed="rId2">
            <a:extLst>
              <a:ext uri="{28A0092B-C50C-407E-A947-70E740481C1C}">
                <a14:useLocalDpi xmlns:a14="http://schemas.microsoft.com/office/drawing/2010/main" val="0"/>
              </a:ext>
            </a:extLst>
          </a:blip>
          <a:srcRect t="25768"/>
          <a:stretch/>
        </p:blipFill>
        <p:spPr>
          <a:xfrm>
            <a:off x="1523492" y="2705349"/>
            <a:ext cx="9145016" cy="4152651"/>
          </a:xfrm>
          <a:prstGeom prst="rect">
            <a:avLst/>
          </a:prstGeom>
        </p:spPr>
      </p:pic>
    </p:spTree>
    <p:extLst>
      <p:ext uri="{BB962C8B-B14F-4D97-AF65-F5344CB8AC3E}">
        <p14:creationId xmlns:p14="http://schemas.microsoft.com/office/powerpoint/2010/main" val="2407446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6835D-3927-8248-F00E-59BC757A69A5}"/>
              </a:ext>
            </a:extLst>
          </p:cNvPr>
          <p:cNvSpPr>
            <a:spLocks noGrp="1"/>
          </p:cNvSpPr>
          <p:nvPr>
            <p:ph type="title"/>
          </p:nvPr>
        </p:nvSpPr>
        <p:spPr/>
        <p:txBody>
          <a:bodyPr/>
          <a:lstStyle/>
          <a:p>
            <a:r>
              <a:rPr lang="en-US" altLang="zh-CN" dirty="0"/>
              <a:t>Rebuttal</a:t>
            </a:r>
            <a:r>
              <a:rPr lang="zh-CN" altLang="en-US" dirty="0"/>
              <a:t>阶段</a:t>
            </a:r>
            <a:r>
              <a:rPr lang="en-US" altLang="zh-CN" dirty="0"/>
              <a:t>——</a:t>
            </a:r>
            <a:r>
              <a:rPr kumimoji="1" lang="zh-CN" altLang="en-US" dirty="0"/>
              <a:t>论文的审稿分数</a:t>
            </a:r>
          </a:p>
        </p:txBody>
      </p:sp>
      <p:sp>
        <p:nvSpPr>
          <p:cNvPr id="3" name="内容占位符 2">
            <a:extLst>
              <a:ext uri="{FF2B5EF4-FFF2-40B4-BE49-F238E27FC236}">
                <a16:creationId xmlns:a16="http://schemas.microsoft.com/office/drawing/2014/main" id="{11F5E816-D9C3-5847-5507-E89D67D20280}"/>
              </a:ext>
            </a:extLst>
          </p:cNvPr>
          <p:cNvSpPr>
            <a:spLocks noGrp="1"/>
          </p:cNvSpPr>
          <p:nvPr>
            <p:ph idx="1"/>
          </p:nvPr>
        </p:nvSpPr>
        <p:spPr/>
        <p:txBody>
          <a:bodyPr>
            <a:normAutofit lnSpcReduction="10000"/>
          </a:bodyPr>
          <a:lstStyle/>
          <a:p>
            <a:r>
              <a:rPr kumimoji="1" lang="zh-CN" altLang="en-US" dirty="0"/>
              <a:t>期刊论文的审稿分数：</a:t>
            </a:r>
            <a:endParaRPr kumimoji="1" lang="en-US" altLang="zh-CN" dirty="0"/>
          </a:p>
          <a:p>
            <a:pPr lvl="1"/>
            <a:r>
              <a:rPr kumimoji="1" lang="zh-CN" altLang="en-US" dirty="0"/>
              <a:t>接受和发表现稿（比较少见的情况）</a:t>
            </a:r>
            <a:endParaRPr kumimoji="1" lang="en-US" altLang="zh-CN" dirty="0"/>
          </a:p>
          <a:p>
            <a:pPr lvl="1"/>
            <a:r>
              <a:rPr kumimoji="1" lang="zh-CN" altLang="en-US" dirty="0"/>
              <a:t>经细微修改后发表（小修）</a:t>
            </a:r>
            <a:endParaRPr kumimoji="1" lang="en-US" altLang="zh-CN" dirty="0"/>
          </a:p>
          <a:p>
            <a:pPr lvl="1"/>
            <a:r>
              <a:rPr kumimoji="1" lang="zh-CN" altLang="en-US" dirty="0"/>
              <a:t>经主要改进后发表（大修）</a:t>
            </a:r>
            <a:endParaRPr kumimoji="1" lang="en-US" altLang="zh-CN" dirty="0"/>
          </a:p>
          <a:p>
            <a:pPr lvl="1"/>
            <a:r>
              <a:rPr kumimoji="1" lang="zh-CN" altLang="en-US" dirty="0"/>
              <a:t>拒绝发表</a:t>
            </a:r>
            <a:endParaRPr kumimoji="1" lang="en-US" altLang="zh-CN" dirty="0"/>
          </a:p>
          <a:p>
            <a:endParaRPr kumimoji="1" lang="en-US" altLang="zh-CN" dirty="0"/>
          </a:p>
          <a:p>
            <a:r>
              <a:rPr kumimoji="1" lang="zh-CN" altLang="en-US" dirty="0"/>
              <a:t>一般一篇论文有</a:t>
            </a:r>
            <a:r>
              <a:rPr kumimoji="1" lang="en-US" altLang="zh-CN" dirty="0"/>
              <a:t>3-5</a:t>
            </a:r>
            <a:r>
              <a:rPr kumimoji="1" lang="zh-CN" altLang="en-US" dirty="0"/>
              <a:t>个审稿人，每个审稿人会给各自的意见与分数。</a:t>
            </a:r>
            <a:endParaRPr kumimoji="1" lang="en-US" altLang="zh-CN" dirty="0"/>
          </a:p>
          <a:p>
            <a:r>
              <a:rPr kumimoji="1" lang="zh-CN" altLang="en-US" dirty="0"/>
              <a:t>一般来说，编辑给大修后，再次提交修改版文章，接收概率在</a:t>
            </a:r>
            <a:r>
              <a:rPr kumimoji="1" lang="en-US" altLang="zh-CN" dirty="0"/>
              <a:t>50%</a:t>
            </a:r>
            <a:r>
              <a:rPr kumimoji="1" lang="zh-CN" altLang="en-US" dirty="0"/>
              <a:t>以上。</a:t>
            </a:r>
            <a:endParaRPr kumimoji="1" lang="en-US" altLang="zh-CN" dirty="0"/>
          </a:p>
          <a:p>
            <a:endParaRPr kumimoji="1" lang="en-US" altLang="zh-CN" dirty="0"/>
          </a:p>
        </p:txBody>
      </p:sp>
      <p:sp>
        <p:nvSpPr>
          <p:cNvPr id="4" name="灯片编号占位符 3">
            <a:extLst>
              <a:ext uri="{FF2B5EF4-FFF2-40B4-BE49-F238E27FC236}">
                <a16:creationId xmlns:a16="http://schemas.microsoft.com/office/drawing/2014/main" id="{88E95BEE-ABDB-60B2-35DE-67B2F179168D}"/>
              </a:ext>
            </a:extLst>
          </p:cNvPr>
          <p:cNvSpPr>
            <a:spLocks noGrp="1"/>
          </p:cNvSpPr>
          <p:nvPr>
            <p:ph type="sldNum" sz="quarter" idx="12"/>
          </p:nvPr>
        </p:nvSpPr>
        <p:spPr/>
        <p:txBody>
          <a:bodyPr/>
          <a:lstStyle/>
          <a:p>
            <a:pPr algn="r"/>
            <a:fld id="{CBD803B2-A378-42BD-B5EC-F7748F169FE0}" type="slidenum">
              <a:rPr lang="en-US" altLang="zh-CN" smtClean="0"/>
              <a:t>16</a:t>
            </a:fld>
            <a:endParaRPr lang="zh-CN" altLang="en-US" dirty="0"/>
          </a:p>
        </p:txBody>
      </p:sp>
    </p:spTree>
    <p:extLst>
      <p:ext uri="{BB962C8B-B14F-4D97-AF65-F5344CB8AC3E}">
        <p14:creationId xmlns:p14="http://schemas.microsoft.com/office/powerpoint/2010/main" val="1684879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6835D-3927-8248-F00E-59BC757A69A5}"/>
              </a:ext>
            </a:extLst>
          </p:cNvPr>
          <p:cNvSpPr>
            <a:spLocks noGrp="1"/>
          </p:cNvSpPr>
          <p:nvPr>
            <p:ph type="title"/>
          </p:nvPr>
        </p:nvSpPr>
        <p:spPr/>
        <p:txBody>
          <a:bodyPr/>
          <a:lstStyle/>
          <a:p>
            <a:r>
              <a:rPr lang="en-US" altLang="zh-CN" dirty="0"/>
              <a:t>Rebuttal</a:t>
            </a:r>
            <a:r>
              <a:rPr lang="zh-CN" altLang="en-US" dirty="0"/>
              <a:t>阶段</a:t>
            </a:r>
            <a:r>
              <a:rPr lang="en-US" altLang="zh-CN" dirty="0"/>
              <a:t>——</a:t>
            </a:r>
            <a:r>
              <a:rPr kumimoji="1" lang="zh-CN" altLang="en-US" dirty="0"/>
              <a:t>论文的审稿分数</a:t>
            </a:r>
          </a:p>
        </p:txBody>
      </p:sp>
      <p:sp>
        <p:nvSpPr>
          <p:cNvPr id="3" name="内容占位符 2">
            <a:extLst>
              <a:ext uri="{FF2B5EF4-FFF2-40B4-BE49-F238E27FC236}">
                <a16:creationId xmlns:a16="http://schemas.microsoft.com/office/drawing/2014/main" id="{11F5E816-D9C3-5847-5507-E89D67D20280}"/>
              </a:ext>
            </a:extLst>
          </p:cNvPr>
          <p:cNvSpPr>
            <a:spLocks noGrp="1"/>
          </p:cNvSpPr>
          <p:nvPr>
            <p:ph idx="1"/>
          </p:nvPr>
        </p:nvSpPr>
        <p:spPr/>
        <p:txBody>
          <a:bodyPr/>
          <a:lstStyle/>
          <a:p>
            <a:r>
              <a:rPr kumimoji="1" lang="zh-CN" altLang="en-US" dirty="0"/>
              <a:t>会议论文的审稿分数：</a:t>
            </a:r>
            <a:endParaRPr kumimoji="1" lang="en-US" altLang="zh-CN" dirty="0"/>
          </a:p>
          <a:p>
            <a:pPr lvl="1"/>
            <a:r>
              <a:rPr kumimoji="1" lang="en-US" altLang="zh-CN" dirty="0"/>
              <a:t>1-6</a:t>
            </a:r>
            <a:r>
              <a:rPr kumimoji="1" lang="zh-CN" altLang="en-US" dirty="0"/>
              <a:t>分，或者 </a:t>
            </a:r>
            <a:r>
              <a:rPr kumimoji="1" lang="en-US" altLang="zh-CN" dirty="0"/>
              <a:t>1-10</a:t>
            </a:r>
            <a:r>
              <a:rPr kumimoji="1" lang="zh-CN" altLang="en-US" dirty="0"/>
              <a:t>分</a:t>
            </a:r>
            <a:endParaRPr kumimoji="1" lang="en-US" altLang="zh-CN" dirty="0"/>
          </a:p>
          <a:p>
            <a:endParaRPr kumimoji="1" lang="en-US" altLang="zh-CN" dirty="0"/>
          </a:p>
        </p:txBody>
      </p:sp>
      <p:sp>
        <p:nvSpPr>
          <p:cNvPr id="4" name="灯片编号占位符 3">
            <a:extLst>
              <a:ext uri="{FF2B5EF4-FFF2-40B4-BE49-F238E27FC236}">
                <a16:creationId xmlns:a16="http://schemas.microsoft.com/office/drawing/2014/main" id="{88E95BEE-ABDB-60B2-35DE-67B2F179168D}"/>
              </a:ext>
            </a:extLst>
          </p:cNvPr>
          <p:cNvSpPr>
            <a:spLocks noGrp="1"/>
          </p:cNvSpPr>
          <p:nvPr>
            <p:ph type="sldNum" sz="quarter" idx="12"/>
          </p:nvPr>
        </p:nvSpPr>
        <p:spPr/>
        <p:txBody>
          <a:bodyPr/>
          <a:lstStyle/>
          <a:p>
            <a:pPr algn="r"/>
            <a:fld id="{CBD803B2-A378-42BD-B5EC-F7748F169FE0}" type="slidenum">
              <a:rPr lang="en-US" altLang="zh-CN" smtClean="0"/>
              <a:t>17</a:t>
            </a:fld>
            <a:endParaRPr lang="zh-CN" altLang="en-US" dirty="0"/>
          </a:p>
        </p:txBody>
      </p:sp>
      <p:pic>
        <p:nvPicPr>
          <p:cNvPr id="5" name="图片 4">
            <a:extLst>
              <a:ext uri="{FF2B5EF4-FFF2-40B4-BE49-F238E27FC236}">
                <a16:creationId xmlns:a16="http://schemas.microsoft.com/office/drawing/2014/main" id="{FD8B499B-ED57-64F8-67D2-4A8AF26468AE}"/>
              </a:ext>
            </a:extLst>
          </p:cNvPr>
          <p:cNvPicPr>
            <a:picLocks noChangeAspect="1"/>
          </p:cNvPicPr>
          <p:nvPr/>
        </p:nvPicPr>
        <p:blipFill>
          <a:blip r:embed="rId2"/>
          <a:stretch>
            <a:fillRect/>
          </a:stretch>
        </p:blipFill>
        <p:spPr>
          <a:xfrm>
            <a:off x="8539398" y="1094237"/>
            <a:ext cx="2168562" cy="5738755"/>
          </a:xfrm>
          <a:prstGeom prst="rect">
            <a:avLst/>
          </a:prstGeom>
        </p:spPr>
      </p:pic>
      <p:pic>
        <p:nvPicPr>
          <p:cNvPr id="7" name="图片 6">
            <a:extLst>
              <a:ext uri="{FF2B5EF4-FFF2-40B4-BE49-F238E27FC236}">
                <a16:creationId xmlns:a16="http://schemas.microsoft.com/office/drawing/2014/main" id="{9FB9E6A1-A6D5-ACBB-9256-DAF64D1371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359" y="2489200"/>
            <a:ext cx="7174037" cy="2595984"/>
          </a:xfrm>
          <a:prstGeom prst="rect">
            <a:avLst/>
          </a:prstGeom>
        </p:spPr>
      </p:pic>
    </p:spTree>
    <p:extLst>
      <p:ext uri="{BB962C8B-B14F-4D97-AF65-F5344CB8AC3E}">
        <p14:creationId xmlns:p14="http://schemas.microsoft.com/office/powerpoint/2010/main" val="2787196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6835D-3927-8248-F00E-59BC757A69A5}"/>
              </a:ext>
            </a:extLst>
          </p:cNvPr>
          <p:cNvSpPr>
            <a:spLocks noGrp="1"/>
          </p:cNvSpPr>
          <p:nvPr>
            <p:ph type="title"/>
          </p:nvPr>
        </p:nvSpPr>
        <p:spPr/>
        <p:txBody>
          <a:bodyPr/>
          <a:lstStyle/>
          <a:p>
            <a:r>
              <a:rPr kumimoji="1" lang="zh-CN" altLang="en-US" dirty="0"/>
              <a:t>会议论文的审稿分数</a:t>
            </a:r>
          </a:p>
        </p:txBody>
      </p:sp>
      <p:sp>
        <p:nvSpPr>
          <p:cNvPr id="3" name="内容占位符 2">
            <a:extLst>
              <a:ext uri="{FF2B5EF4-FFF2-40B4-BE49-F238E27FC236}">
                <a16:creationId xmlns:a16="http://schemas.microsoft.com/office/drawing/2014/main" id="{11F5E816-D9C3-5847-5507-E89D67D20280}"/>
              </a:ext>
            </a:extLst>
          </p:cNvPr>
          <p:cNvSpPr>
            <a:spLocks noGrp="1"/>
          </p:cNvSpPr>
          <p:nvPr>
            <p:ph idx="1"/>
          </p:nvPr>
        </p:nvSpPr>
        <p:spPr>
          <a:xfrm>
            <a:off x="479376" y="908720"/>
            <a:ext cx="11377264" cy="5949280"/>
          </a:xfrm>
        </p:spPr>
        <p:txBody>
          <a:bodyPr>
            <a:normAutofit/>
          </a:bodyPr>
          <a:lstStyle/>
          <a:p>
            <a:pPr marL="0" indent="0">
              <a:buNone/>
            </a:pPr>
            <a:r>
              <a:rPr kumimoji="1" lang="zh-CN" altLang="en-US" b="1" dirty="0">
                <a:solidFill>
                  <a:srgbClr val="C00000"/>
                </a:solidFill>
              </a:rPr>
              <a:t>衡量中稿概率，是否有回复审稿人的意见（</a:t>
            </a:r>
            <a:r>
              <a:rPr kumimoji="1" lang="en-US" altLang="zh-CN" b="1" dirty="0">
                <a:solidFill>
                  <a:srgbClr val="C00000"/>
                </a:solidFill>
              </a:rPr>
              <a:t>Rebuttal</a:t>
            </a:r>
            <a:r>
              <a:rPr kumimoji="1" lang="zh-CN" altLang="en-US" b="1" dirty="0">
                <a:solidFill>
                  <a:srgbClr val="C00000"/>
                </a:solidFill>
              </a:rPr>
              <a:t>）的价值</a:t>
            </a:r>
            <a:endParaRPr kumimoji="1" lang="en-US" altLang="zh-CN" dirty="0"/>
          </a:p>
          <a:p>
            <a:pPr>
              <a:buFont typeface="Wingdings" pitchFamily="2" charset="2"/>
              <a:buChar char="l"/>
            </a:pPr>
            <a:r>
              <a:rPr kumimoji="1" lang="zh-CN" altLang="en-US" dirty="0"/>
              <a:t>所有审稿人全是正面分数，就比较稳了</a:t>
            </a:r>
            <a:endParaRPr kumimoji="1" lang="en-US" altLang="zh-CN" dirty="0"/>
          </a:p>
          <a:p>
            <a:pPr>
              <a:buFont typeface="Wingdings" pitchFamily="2" charset="2"/>
              <a:buChar char="l"/>
            </a:pPr>
            <a:r>
              <a:rPr kumimoji="1" lang="zh-CN" altLang="en-US" dirty="0"/>
              <a:t>几乎全部（半数以上）审稿人是负面分数的情况，则可以果断撤稿。</a:t>
            </a:r>
            <a:endParaRPr kumimoji="1" lang="en-US" altLang="zh-CN" dirty="0"/>
          </a:p>
          <a:p>
            <a:pPr>
              <a:buFont typeface="Wingdings" pitchFamily="2" charset="2"/>
              <a:buChar char="l"/>
            </a:pPr>
            <a:r>
              <a:rPr kumimoji="1" lang="zh-CN" altLang="en-US" dirty="0"/>
              <a:t>对于有正有负的论文，先看均分。</a:t>
            </a:r>
            <a:r>
              <a:rPr kumimoji="1" lang="zh-CN" altLang="en-US" b="1" dirty="0"/>
              <a:t>均分是正面的</a:t>
            </a:r>
            <a:r>
              <a:rPr kumimoji="1" lang="zh-CN" altLang="en-US" dirty="0"/>
              <a:t>，则也比较有希望，值得</a:t>
            </a:r>
            <a:r>
              <a:rPr kumimoji="1" lang="en-US" altLang="zh-CN" dirty="0"/>
              <a:t>Rebuttal</a:t>
            </a:r>
            <a:r>
              <a:rPr kumimoji="1" lang="zh-CN" altLang="en-US" dirty="0"/>
              <a:t>！如</a:t>
            </a:r>
            <a:r>
              <a:rPr kumimoji="1" lang="en-US" altLang="zh-CN" dirty="0"/>
              <a:t>66655</a:t>
            </a:r>
            <a:r>
              <a:rPr kumimoji="1" lang="zh-CN" altLang="en-US" dirty="0"/>
              <a:t>，</a:t>
            </a:r>
            <a:r>
              <a:rPr kumimoji="1" lang="en-US" altLang="zh-CN" dirty="0"/>
              <a:t>76654</a:t>
            </a:r>
            <a:r>
              <a:rPr kumimoji="1" lang="zh-CN" altLang="en-US" dirty="0"/>
              <a:t>，均分大于</a:t>
            </a:r>
            <a:r>
              <a:rPr kumimoji="1" lang="en-US" altLang="zh-CN" dirty="0"/>
              <a:t>5.5</a:t>
            </a:r>
            <a:r>
              <a:rPr kumimoji="1" lang="zh-CN" altLang="en-US" dirty="0"/>
              <a:t>（</a:t>
            </a:r>
            <a:r>
              <a:rPr kumimoji="1" lang="en-US" altLang="zh-CN" dirty="0"/>
              <a:t>borderline</a:t>
            </a:r>
            <a:r>
              <a:rPr kumimoji="1" lang="zh-CN" altLang="en-US" dirty="0"/>
              <a:t>）。</a:t>
            </a:r>
            <a:endParaRPr kumimoji="1" lang="en-US" altLang="zh-CN" dirty="0"/>
          </a:p>
          <a:p>
            <a:pPr>
              <a:buFont typeface="Wingdings" pitchFamily="2" charset="2"/>
              <a:buChar char="l"/>
            </a:pPr>
            <a:r>
              <a:rPr kumimoji="1" lang="zh-CN" altLang="en-US" b="1" dirty="0"/>
              <a:t>对于均分为负的</a:t>
            </a:r>
            <a:r>
              <a:rPr kumimoji="1" lang="zh-CN" altLang="en-US" dirty="0"/>
              <a:t>，就得小心了！根据具体的负面意见好不好回答，来判断要不要继续</a:t>
            </a:r>
            <a:r>
              <a:rPr kumimoji="1" lang="en-US" altLang="zh-CN" dirty="0"/>
              <a:t>Rebuttal</a:t>
            </a:r>
            <a:r>
              <a:rPr kumimoji="1" lang="zh-CN" altLang="en-US" dirty="0"/>
              <a:t>，还是转投其他会议。如</a:t>
            </a:r>
            <a:r>
              <a:rPr kumimoji="1" lang="en-US" altLang="zh-CN" dirty="0"/>
              <a:t>66644</a:t>
            </a:r>
            <a:r>
              <a:rPr kumimoji="1" lang="zh-CN" altLang="en-US" dirty="0"/>
              <a:t>，</a:t>
            </a:r>
            <a:r>
              <a:rPr kumimoji="1" lang="en-US" altLang="zh-CN" dirty="0"/>
              <a:t>76554</a:t>
            </a:r>
            <a:r>
              <a:rPr kumimoji="1" lang="zh-CN" altLang="en-US" dirty="0"/>
              <a:t>，均分小于</a:t>
            </a:r>
            <a:r>
              <a:rPr kumimoji="1" lang="en-US" altLang="zh-CN" dirty="0"/>
              <a:t>5.5</a:t>
            </a:r>
            <a:r>
              <a:rPr kumimoji="1" lang="zh-CN" altLang="en-US" dirty="0"/>
              <a:t>（</a:t>
            </a:r>
            <a:r>
              <a:rPr kumimoji="1" lang="en-US" altLang="zh-CN" dirty="0"/>
              <a:t>borderline</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88E95BEE-ABDB-60B2-35DE-67B2F179168D}"/>
              </a:ext>
            </a:extLst>
          </p:cNvPr>
          <p:cNvSpPr>
            <a:spLocks noGrp="1"/>
          </p:cNvSpPr>
          <p:nvPr>
            <p:ph type="sldNum" sz="quarter" idx="12"/>
          </p:nvPr>
        </p:nvSpPr>
        <p:spPr/>
        <p:txBody>
          <a:bodyPr/>
          <a:lstStyle/>
          <a:p>
            <a:pPr algn="r"/>
            <a:fld id="{CBD803B2-A378-42BD-B5EC-F7748F169FE0}" type="slidenum">
              <a:rPr lang="en-US" altLang="zh-CN" smtClean="0"/>
              <a:t>18</a:t>
            </a:fld>
            <a:endParaRPr lang="zh-CN" altLang="en-US" dirty="0"/>
          </a:p>
        </p:txBody>
      </p:sp>
    </p:spTree>
    <p:extLst>
      <p:ext uri="{BB962C8B-B14F-4D97-AF65-F5344CB8AC3E}">
        <p14:creationId xmlns:p14="http://schemas.microsoft.com/office/powerpoint/2010/main" val="1512280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BE6FB2-8373-72DB-486F-754EFE2B73CB}"/>
              </a:ext>
            </a:extLst>
          </p:cNvPr>
          <p:cNvSpPr>
            <a:spLocks noGrp="1"/>
          </p:cNvSpPr>
          <p:nvPr>
            <p:ph type="title"/>
          </p:nvPr>
        </p:nvSpPr>
        <p:spPr/>
        <p:txBody>
          <a:bodyPr/>
          <a:lstStyle/>
          <a:p>
            <a:r>
              <a:rPr kumimoji="1" lang="en-US" altLang="zh-CN" dirty="0"/>
              <a:t>Rebuttal</a:t>
            </a:r>
            <a:r>
              <a:rPr kumimoji="1" lang="zh-CN" altLang="en-US" dirty="0"/>
              <a:t>的重要性</a:t>
            </a:r>
          </a:p>
        </p:txBody>
      </p:sp>
      <p:sp>
        <p:nvSpPr>
          <p:cNvPr id="3" name="内容占位符 2">
            <a:extLst>
              <a:ext uri="{FF2B5EF4-FFF2-40B4-BE49-F238E27FC236}">
                <a16:creationId xmlns:a16="http://schemas.microsoft.com/office/drawing/2014/main" id="{F3B3FCDD-EA23-1021-7BB2-7FF65CDD3BE0}"/>
              </a:ext>
            </a:extLst>
          </p:cNvPr>
          <p:cNvSpPr>
            <a:spLocks noGrp="1"/>
          </p:cNvSpPr>
          <p:nvPr>
            <p:ph idx="1"/>
          </p:nvPr>
        </p:nvSpPr>
        <p:spPr/>
        <p:txBody>
          <a:bodyPr/>
          <a:lstStyle/>
          <a:p>
            <a:r>
              <a:rPr kumimoji="1" lang="zh-CN" altLang="en-US" dirty="0"/>
              <a:t>对于均分在</a:t>
            </a:r>
            <a:r>
              <a:rPr kumimoji="1" lang="en-US" altLang="zh-CN" dirty="0"/>
              <a:t>Borderline</a:t>
            </a:r>
            <a:r>
              <a:rPr kumimoji="1" lang="zh-CN" altLang="en-US" dirty="0"/>
              <a:t>左右的论文，此时的中稿率可以说是</a:t>
            </a:r>
            <a:r>
              <a:rPr kumimoji="1" lang="en-US" altLang="zh-CN" b="1" dirty="0">
                <a:solidFill>
                  <a:srgbClr val="C00000"/>
                </a:solidFill>
              </a:rPr>
              <a:t>50%</a:t>
            </a:r>
            <a:r>
              <a:rPr kumimoji="1" lang="zh-CN" altLang="en-US" b="1" dirty="0">
                <a:solidFill>
                  <a:srgbClr val="C00000"/>
                </a:solidFill>
              </a:rPr>
              <a:t>左右</a:t>
            </a:r>
            <a:r>
              <a:rPr kumimoji="1" lang="zh-CN" altLang="en-US" dirty="0"/>
              <a:t>，如</a:t>
            </a:r>
            <a:r>
              <a:rPr kumimoji="1" lang="en-US" altLang="zh-CN" dirty="0"/>
              <a:t>76654</a:t>
            </a:r>
            <a:r>
              <a:rPr kumimoji="1" lang="zh-CN" altLang="en-US" dirty="0"/>
              <a:t>（均分</a:t>
            </a:r>
            <a:r>
              <a:rPr kumimoji="1" lang="en-US" altLang="zh-CN" dirty="0"/>
              <a:t>5.6</a:t>
            </a:r>
            <a:r>
              <a:rPr kumimoji="1" lang="zh-CN" altLang="en-US" dirty="0"/>
              <a:t>）。这其实是大部分科研人最可能的得分！</a:t>
            </a:r>
            <a:endParaRPr kumimoji="1" lang="en-US" altLang="zh-CN" dirty="0"/>
          </a:p>
          <a:p>
            <a:r>
              <a:rPr kumimoji="1" lang="zh-CN" altLang="en-US" b="1" dirty="0">
                <a:solidFill>
                  <a:srgbClr val="C00000"/>
                </a:solidFill>
              </a:rPr>
              <a:t>这时中稿很大程度上取决于你的</a:t>
            </a:r>
            <a:r>
              <a:rPr kumimoji="1" lang="en-US" altLang="zh-CN" b="1" dirty="0">
                <a:solidFill>
                  <a:srgbClr val="C00000"/>
                </a:solidFill>
              </a:rPr>
              <a:t>Rebuttal</a:t>
            </a:r>
            <a:r>
              <a:rPr kumimoji="1" lang="zh-CN" altLang="en-US" b="1" dirty="0">
                <a:solidFill>
                  <a:srgbClr val="C00000"/>
                </a:solidFill>
              </a:rPr>
              <a:t>是否能令人满意。</a:t>
            </a:r>
            <a:endParaRPr kumimoji="1" lang="en-US" altLang="zh-CN" b="1" dirty="0">
              <a:solidFill>
                <a:srgbClr val="C00000"/>
              </a:solidFill>
            </a:endParaRPr>
          </a:p>
          <a:p>
            <a:r>
              <a:rPr kumimoji="1" lang="zh-CN" altLang="en-US" dirty="0"/>
              <a:t>令人满意的</a:t>
            </a:r>
            <a:r>
              <a:rPr kumimoji="1" lang="en-US" altLang="zh-CN" dirty="0"/>
              <a:t>Rebuttal</a:t>
            </a:r>
            <a:r>
              <a:rPr kumimoji="1" lang="zh-CN" altLang="en-US" dirty="0"/>
              <a:t>能够力挽狂澜！</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DA6C9AE7-40AB-8012-A627-FBC2557B1B51}"/>
              </a:ext>
            </a:extLst>
          </p:cNvPr>
          <p:cNvSpPr>
            <a:spLocks noGrp="1"/>
          </p:cNvSpPr>
          <p:nvPr>
            <p:ph type="sldNum" sz="quarter" idx="12"/>
          </p:nvPr>
        </p:nvSpPr>
        <p:spPr/>
        <p:txBody>
          <a:bodyPr/>
          <a:lstStyle/>
          <a:p>
            <a:pPr algn="r"/>
            <a:fld id="{CBD803B2-A378-42BD-B5EC-F7748F169FE0}" type="slidenum">
              <a:rPr lang="en-US" altLang="zh-CN" smtClean="0"/>
              <a:t>19</a:t>
            </a:fld>
            <a:endParaRPr lang="zh-CN" altLang="en-US" dirty="0"/>
          </a:p>
        </p:txBody>
      </p:sp>
      <p:pic>
        <p:nvPicPr>
          <p:cNvPr id="6" name="图片 5">
            <a:extLst>
              <a:ext uri="{FF2B5EF4-FFF2-40B4-BE49-F238E27FC236}">
                <a16:creationId xmlns:a16="http://schemas.microsoft.com/office/drawing/2014/main" id="{5F24C1E8-92DD-218A-A9A8-BBAB3719BAA1}"/>
              </a:ext>
            </a:extLst>
          </p:cNvPr>
          <p:cNvPicPr>
            <a:picLocks noChangeAspect="1"/>
          </p:cNvPicPr>
          <p:nvPr/>
        </p:nvPicPr>
        <p:blipFill rotWithShape="1">
          <a:blip r:embed="rId2">
            <a:extLst>
              <a:ext uri="{28A0092B-C50C-407E-A947-70E740481C1C}">
                <a14:useLocalDpi xmlns:a14="http://schemas.microsoft.com/office/drawing/2010/main" val="0"/>
              </a:ext>
            </a:extLst>
          </a:blip>
          <a:srcRect l="37404" t="-2631" r="32949" b="4895"/>
          <a:stretch/>
        </p:blipFill>
        <p:spPr>
          <a:xfrm>
            <a:off x="7826237" y="3638156"/>
            <a:ext cx="3756163" cy="3244852"/>
          </a:xfrm>
          <a:prstGeom prst="rect">
            <a:avLst/>
          </a:prstGeom>
        </p:spPr>
      </p:pic>
      <p:pic>
        <p:nvPicPr>
          <p:cNvPr id="8" name="图片 7">
            <a:extLst>
              <a:ext uri="{FF2B5EF4-FFF2-40B4-BE49-F238E27FC236}">
                <a16:creationId xmlns:a16="http://schemas.microsoft.com/office/drawing/2014/main" id="{F58415FE-78E6-ACA6-0DF2-D4917A4663BF}"/>
              </a:ext>
            </a:extLst>
          </p:cNvPr>
          <p:cNvPicPr>
            <a:picLocks noChangeAspect="1"/>
          </p:cNvPicPr>
          <p:nvPr/>
        </p:nvPicPr>
        <p:blipFill rotWithShape="1">
          <a:blip r:embed="rId3">
            <a:extLst>
              <a:ext uri="{28A0092B-C50C-407E-A947-70E740481C1C}">
                <a14:useLocalDpi xmlns:a14="http://schemas.microsoft.com/office/drawing/2010/main" val="0"/>
              </a:ext>
            </a:extLst>
          </a:blip>
          <a:srcRect l="39355" t="33393" r="30072" b="29474"/>
          <a:stretch/>
        </p:blipFill>
        <p:spPr>
          <a:xfrm>
            <a:off x="1799775" y="3650877"/>
            <a:ext cx="3756163" cy="3219411"/>
          </a:xfrm>
          <a:prstGeom prst="rect">
            <a:avLst/>
          </a:prstGeom>
        </p:spPr>
      </p:pic>
      <p:sp>
        <p:nvSpPr>
          <p:cNvPr id="10" name="文本框 9">
            <a:extLst>
              <a:ext uri="{FF2B5EF4-FFF2-40B4-BE49-F238E27FC236}">
                <a16:creationId xmlns:a16="http://schemas.microsoft.com/office/drawing/2014/main" id="{97FDB44A-1C3D-082C-C684-6833D17FB543}"/>
              </a:ext>
            </a:extLst>
          </p:cNvPr>
          <p:cNvSpPr txBox="1"/>
          <p:nvPr/>
        </p:nvSpPr>
        <p:spPr>
          <a:xfrm>
            <a:off x="-301560" y="5208277"/>
            <a:ext cx="6096000" cy="400110"/>
          </a:xfrm>
          <a:prstGeom prst="rect">
            <a:avLst/>
          </a:prstGeom>
          <a:noFill/>
        </p:spPr>
        <p:txBody>
          <a:bodyPr wrap="square">
            <a:spAutoFit/>
          </a:bodyPr>
          <a:lstStyle/>
          <a:p>
            <a:pPr lvl="1"/>
            <a:r>
              <a:rPr kumimoji="1" lang="zh-CN" altLang="en-US" sz="2000" dirty="0"/>
              <a:t>我</a:t>
            </a:r>
            <a:r>
              <a:rPr kumimoji="1" lang="en-US" altLang="zh-CN" sz="2000" dirty="0"/>
              <a:t>Rebuttal</a:t>
            </a:r>
            <a:r>
              <a:rPr kumimoji="1" lang="zh-CN" altLang="en-US" sz="2000" dirty="0"/>
              <a:t>前：</a:t>
            </a:r>
            <a:endParaRPr kumimoji="1" lang="en-US" altLang="zh-CN" sz="2000" dirty="0"/>
          </a:p>
        </p:txBody>
      </p:sp>
      <p:sp>
        <p:nvSpPr>
          <p:cNvPr id="11" name="文本框 10">
            <a:extLst>
              <a:ext uri="{FF2B5EF4-FFF2-40B4-BE49-F238E27FC236}">
                <a16:creationId xmlns:a16="http://schemas.microsoft.com/office/drawing/2014/main" id="{5CF8038A-B3FC-019E-F6A6-B45AB0E799A4}"/>
              </a:ext>
            </a:extLst>
          </p:cNvPr>
          <p:cNvSpPr txBox="1"/>
          <p:nvPr/>
        </p:nvSpPr>
        <p:spPr>
          <a:xfrm>
            <a:off x="5616624" y="5208344"/>
            <a:ext cx="6096000" cy="400110"/>
          </a:xfrm>
          <a:prstGeom prst="rect">
            <a:avLst/>
          </a:prstGeom>
          <a:noFill/>
        </p:spPr>
        <p:txBody>
          <a:bodyPr wrap="square">
            <a:spAutoFit/>
          </a:bodyPr>
          <a:lstStyle/>
          <a:p>
            <a:pPr lvl="1"/>
            <a:r>
              <a:rPr kumimoji="1" lang="zh-CN" altLang="en-US" sz="2000" dirty="0"/>
              <a:t>我</a:t>
            </a:r>
            <a:r>
              <a:rPr kumimoji="1" lang="en-US" altLang="zh-CN" sz="2000" dirty="0"/>
              <a:t>Rebuttal</a:t>
            </a:r>
            <a:r>
              <a:rPr kumimoji="1" lang="zh-CN" altLang="en-US" sz="2000" dirty="0"/>
              <a:t>后：</a:t>
            </a:r>
            <a:endParaRPr kumimoji="1" lang="en-US" altLang="zh-CN" sz="2000" dirty="0"/>
          </a:p>
        </p:txBody>
      </p:sp>
    </p:spTree>
    <p:extLst>
      <p:ext uri="{BB962C8B-B14F-4D97-AF65-F5344CB8AC3E}">
        <p14:creationId xmlns:p14="http://schemas.microsoft.com/office/powerpoint/2010/main" val="165741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6835D-3927-8248-F00E-59BC757A69A5}"/>
              </a:ext>
            </a:extLst>
          </p:cNvPr>
          <p:cNvSpPr>
            <a:spLocks noGrp="1"/>
          </p:cNvSpPr>
          <p:nvPr>
            <p:ph type="title"/>
          </p:nvPr>
        </p:nvSpPr>
        <p:spPr/>
        <p:txBody>
          <a:bodyPr/>
          <a:lstStyle/>
          <a:p>
            <a:r>
              <a:rPr lang="en-US" altLang="zh-CN" dirty="0"/>
              <a:t> </a:t>
            </a:r>
            <a:r>
              <a:rPr lang="zh-CN" altLang="en-US" dirty="0"/>
              <a:t>如何</a:t>
            </a:r>
            <a:r>
              <a:rPr lang="en-US" altLang="zh-CN" dirty="0"/>
              <a:t>Rebuttal</a:t>
            </a:r>
            <a:r>
              <a:rPr lang="zh-CN" altLang="en-US" dirty="0"/>
              <a:t>？</a:t>
            </a:r>
            <a:endParaRPr kumimoji="1" lang="zh-CN" altLang="en-US" dirty="0"/>
          </a:p>
        </p:txBody>
      </p:sp>
      <p:sp>
        <p:nvSpPr>
          <p:cNvPr id="3" name="内容占位符 2">
            <a:extLst>
              <a:ext uri="{FF2B5EF4-FFF2-40B4-BE49-F238E27FC236}">
                <a16:creationId xmlns:a16="http://schemas.microsoft.com/office/drawing/2014/main" id="{11F5E816-D9C3-5847-5507-E89D67D20280}"/>
              </a:ext>
            </a:extLst>
          </p:cNvPr>
          <p:cNvSpPr>
            <a:spLocks noGrp="1"/>
          </p:cNvSpPr>
          <p:nvPr>
            <p:ph idx="1"/>
          </p:nvPr>
        </p:nvSpPr>
        <p:spPr>
          <a:xfrm>
            <a:off x="479376" y="908720"/>
            <a:ext cx="11103024" cy="5746650"/>
          </a:xfrm>
        </p:spPr>
        <p:txBody>
          <a:bodyPr>
            <a:normAutofit/>
          </a:bodyPr>
          <a:lstStyle/>
          <a:p>
            <a:pPr marL="0" indent="0">
              <a:buNone/>
            </a:pPr>
            <a:r>
              <a:rPr kumimoji="1" lang="en-US" altLang="zh-CN" b="1" dirty="0"/>
              <a:t>Rebuttal</a:t>
            </a:r>
            <a:r>
              <a:rPr kumimoji="1" lang="zh-CN" altLang="en-US" b="1" dirty="0"/>
              <a:t>宗旨：</a:t>
            </a:r>
            <a:endParaRPr kumimoji="1" lang="en-US" altLang="zh-CN" b="1" dirty="0"/>
          </a:p>
          <a:p>
            <a:r>
              <a:rPr kumimoji="1" lang="zh-CN" altLang="en-US" dirty="0"/>
              <a:t>努力回答每条负面意见。尤其是给负分的审稿人的意见！</a:t>
            </a:r>
            <a:endParaRPr kumimoji="1" lang="en-US" altLang="zh-CN" dirty="0"/>
          </a:p>
          <a:p>
            <a:r>
              <a:rPr kumimoji="1" lang="en-US" altLang="zh-CN" b="1" dirty="0"/>
              <a:t>Rebuttal</a:t>
            </a:r>
            <a:r>
              <a:rPr kumimoji="1" lang="zh-CN" altLang="en-US" b="1" dirty="0"/>
              <a:t>一方面为了解决审稿人的意见，为了提高评分，另一方面是在写给潜在的</a:t>
            </a:r>
            <a:r>
              <a:rPr kumimoji="1" lang="en-US" altLang="zh-CN" b="1" dirty="0"/>
              <a:t>AC</a:t>
            </a:r>
            <a:r>
              <a:rPr kumimoji="1" lang="zh-CN" altLang="en-US" b="1" dirty="0"/>
              <a:t>与</a:t>
            </a:r>
            <a:r>
              <a:rPr kumimoji="1" lang="en-US" altLang="zh-CN" b="1" dirty="0"/>
              <a:t>SAC</a:t>
            </a:r>
            <a:r>
              <a:rPr kumimoji="1" lang="zh-CN" altLang="en-US" b="1" dirty="0"/>
              <a:t>看的！</a:t>
            </a:r>
            <a:endParaRPr kumimoji="1" lang="en-US" altLang="zh-CN" b="1" dirty="0"/>
          </a:p>
        </p:txBody>
      </p:sp>
      <p:sp>
        <p:nvSpPr>
          <p:cNvPr id="4" name="灯片编号占位符 3">
            <a:extLst>
              <a:ext uri="{FF2B5EF4-FFF2-40B4-BE49-F238E27FC236}">
                <a16:creationId xmlns:a16="http://schemas.microsoft.com/office/drawing/2014/main" id="{88E95BEE-ABDB-60B2-35DE-67B2F179168D}"/>
              </a:ext>
            </a:extLst>
          </p:cNvPr>
          <p:cNvSpPr>
            <a:spLocks noGrp="1"/>
          </p:cNvSpPr>
          <p:nvPr>
            <p:ph type="sldNum" sz="quarter" idx="12"/>
          </p:nvPr>
        </p:nvSpPr>
        <p:spPr/>
        <p:txBody>
          <a:bodyPr/>
          <a:lstStyle/>
          <a:p>
            <a:pPr algn="r"/>
            <a:fld id="{CBD803B2-A378-42BD-B5EC-F7748F169FE0}" type="slidenum">
              <a:rPr lang="en-US" altLang="zh-CN" smtClean="0"/>
              <a:t>20</a:t>
            </a:fld>
            <a:endParaRPr lang="zh-CN" altLang="en-US" dirty="0"/>
          </a:p>
        </p:txBody>
      </p:sp>
      <p:pic>
        <p:nvPicPr>
          <p:cNvPr id="6" name="图片 5">
            <a:extLst>
              <a:ext uri="{FF2B5EF4-FFF2-40B4-BE49-F238E27FC236}">
                <a16:creationId xmlns:a16="http://schemas.microsoft.com/office/drawing/2014/main" id="{EEAC9E78-AC84-D0E8-6C6D-E12117C6D7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32" y="3645024"/>
            <a:ext cx="12093960" cy="3388394"/>
          </a:xfrm>
          <a:prstGeom prst="rect">
            <a:avLst/>
          </a:prstGeom>
        </p:spPr>
      </p:pic>
    </p:spTree>
    <p:extLst>
      <p:ext uri="{BB962C8B-B14F-4D97-AF65-F5344CB8AC3E}">
        <p14:creationId xmlns:p14="http://schemas.microsoft.com/office/powerpoint/2010/main" val="1580957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6835D-3927-8248-F00E-59BC757A69A5}"/>
              </a:ext>
            </a:extLst>
          </p:cNvPr>
          <p:cNvSpPr>
            <a:spLocks noGrp="1"/>
          </p:cNvSpPr>
          <p:nvPr>
            <p:ph type="title"/>
          </p:nvPr>
        </p:nvSpPr>
        <p:spPr/>
        <p:txBody>
          <a:bodyPr/>
          <a:lstStyle/>
          <a:p>
            <a:r>
              <a:rPr lang="en-US" altLang="zh-CN" dirty="0"/>
              <a:t> </a:t>
            </a:r>
            <a:r>
              <a:rPr lang="zh-CN" altLang="en-US" dirty="0"/>
              <a:t>如何</a:t>
            </a:r>
            <a:r>
              <a:rPr lang="en-US" altLang="zh-CN" dirty="0"/>
              <a:t>Rebuttal</a:t>
            </a:r>
            <a:r>
              <a:rPr lang="zh-CN" altLang="en-US" dirty="0"/>
              <a:t>？</a:t>
            </a:r>
            <a:endParaRPr kumimoji="1" lang="zh-CN" altLang="en-US" dirty="0"/>
          </a:p>
        </p:txBody>
      </p:sp>
      <p:sp>
        <p:nvSpPr>
          <p:cNvPr id="3" name="内容占位符 2">
            <a:extLst>
              <a:ext uri="{FF2B5EF4-FFF2-40B4-BE49-F238E27FC236}">
                <a16:creationId xmlns:a16="http://schemas.microsoft.com/office/drawing/2014/main" id="{11F5E816-D9C3-5847-5507-E89D67D20280}"/>
              </a:ext>
            </a:extLst>
          </p:cNvPr>
          <p:cNvSpPr>
            <a:spLocks noGrp="1"/>
          </p:cNvSpPr>
          <p:nvPr>
            <p:ph idx="1"/>
          </p:nvPr>
        </p:nvSpPr>
        <p:spPr>
          <a:xfrm>
            <a:off x="479376" y="908720"/>
            <a:ext cx="11103024" cy="5746650"/>
          </a:xfrm>
        </p:spPr>
        <p:txBody>
          <a:bodyPr>
            <a:normAutofit/>
          </a:bodyPr>
          <a:lstStyle/>
          <a:p>
            <a:pPr marL="0" indent="0">
              <a:buNone/>
            </a:pPr>
            <a:r>
              <a:rPr kumimoji="1" lang="en-US" altLang="zh-CN" b="1" dirty="0"/>
              <a:t>Rebuttal</a:t>
            </a:r>
            <a:r>
              <a:rPr kumimoji="1" lang="zh-CN" altLang="en-US" b="1" dirty="0"/>
              <a:t>宗旨：</a:t>
            </a:r>
            <a:endParaRPr kumimoji="1" lang="en-US" altLang="zh-CN" b="1" dirty="0"/>
          </a:p>
          <a:p>
            <a:r>
              <a:rPr kumimoji="1" lang="zh-CN" altLang="en-US" dirty="0"/>
              <a:t>努力回答每条负面意见。尤其是给负分的审稿人的意见！</a:t>
            </a:r>
            <a:endParaRPr kumimoji="1" lang="en-US" altLang="zh-CN" dirty="0"/>
          </a:p>
          <a:p>
            <a:r>
              <a:rPr kumimoji="1" lang="en-US" altLang="zh-CN" b="1" dirty="0"/>
              <a:t>Rebuttal</a:t>
            </a:r>
            <a:r>
              <a:rPr kumimoji="1" lang="zh-CN" altLang="en-US" b="1" dirty="0"/>
              <a:t>一方面为了解决审稿人的意见，为了提高评分，另一方面是在写给潜在的</a:t>
            </a:r>
            <a:r>
              <a:rPr kumimoji="1" lang="en-US" altLang="zh-CN" b="1" dirty="0"/>
              <a:t>AC</a:t>
            </a:r>
            <a:r>
              <a:rPr kumimoji="1" lang="zh-CN" altLang="en-US" b="1" dirty="0"/>
              <a:t>与</a:t>
            </a:r>
            <a:r>
              <a:rPr kumimoji="1" lang="en-US" altLang="zh-CN" b="1" dirty="0"/>
              <a:t>SAC</a:t>
            </a:r>
            <a:r>
              <a:rPr kumimoji="1" lang="zh-CN" altLang="en-US" b="1" dirty="0"/>
              <a:t>看的！</a:t>
            </a:r>
            <a:endParaRPr kumimoji="1" lang="en-US" altLang="zh-CN" b="1" dirty="0"/>
          </a:p>
          <a:p>
            <a:pPr marL="0" indent="0">
              <a:buNone/>
            </a:pPr>
            <a:r>
              <a:rPr kumimoji="1" lang="zh-CN" altLang="en-US" b="1" dirty="0"/>
              <a:t>需要做到：</a:t>
            </a:r>
            <a:endParaRPr kumimoji="1" lang="en-US" altLang="zh-CN" b="1" dirty="0"/>
          </a:p>
          <a:p>
            <a:r>
              <a:rPr kumimoji="1" lang="zh-CN" altLang="en-US" dirty="0"/>
              <a:t>仔细分析与揣摩审稿人说的每条（负面）意见的意思</a:t>
            </a:r>
            <a:endParaRPr kumimoji="1" lang="en-US" altLang="zh-CN" dirty="0"/>
          </a:p>
          <a:p>
            <a:r>
              <a:rPr kumimoji="1" lang="zh-CN" altLang="en-US" dirty="0"/>
              <a:t>尽量满足审稿人提出的要求：</a:t>
            </a:r>
            <a:r>
              <a:rPr kumimoji="1" lang="zh-CN" altLang="en-US" b="1" dirty="0">
                <a:solidFill>
                  <a:srgbClr val="C00000"/>
                </a:solidFill>
              </a:rPr>
              <a:t>澄清与解释内容，补充实验结果，补充相关论文的对比与引用</a:t>
            </a:r>
            <a:r>
              <a:rPr kumimoji="1" lang="zh-CN" altLang="en-US" dirty="0"/>
              <a:t>。</a:t>
            </a:r>
          </a:p>
        </p:txBody>
      </p:sp>
      <p:sp>
        <p:nvSpPr>
          <p:cNvPr id="4" name="灯片编号占位符 3">
            <a:extLst>
              <a:ext uri="{FF2B5EF4-FFF2-40B4-BE49-F238E27FC236}">
                <a16:creationId xmlns:a16="http://schemas.microsoft.com/office/drawing/2014/main" id="{88E95BEE-ABDB-60B2-35DE-67B2F179168D}"/>
              </a:ext>
            </a:extLst>
          </p:cNvPr>
          <p:cNvSpPr>
            <a:spLocks noGrp="1"/>
          </p:cNvSpPr>
          <p:nvPr>
            <p:ph type="sldNum" sz="quarter" idx="12"/>
          </p:nvPr>
        </p:nvSpPr>
        <p:spPr/>
        <p:txBody>
          <a:bodyPr/>
          <a:lstStyle/>
          <a:p>
            <a:pPr algn="r"/>
            <a:fld id="{CBD803B2-A378-42BD-B5EC-F7748F169FE0}" type="slidenum">
              <a:rPr lang="en-US" altLang="zh-CN" smtClean="0"/>
              <a:t>21</a:t>
            </a:fld>
            <a:endParaRPr lang="zh-CN" altLang="en-US" dirty="0"/>
          </a:p>
        </p:txBody>
      </p:sp>
    </p:spTree>
    <p:extLst>
      <p:ext uri="{BB962C8B-B14F-4D97-AF65-F5344CB8AC3E}">
        <p14:creationId xmlns:p14="http://schemas.microsoft.com/office/powerpoint/2010/main" val="2893848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  </a:t>
            </a:r>
            <a:r>
              <a:rPr lang="zh-CN" altLang="en-US" dirty="0"/>
              <a:t>如何</a:t>
            </a:r>
            <a:r>
              <a:rPr lang="en-US" altLang="zh-CN" dirty="0"/>
              <a:t>Rebuttal</a:t>
            </a:r>
            <a:r>
              <a:rPr lang="zh-CN" altLang="en-US" dirty="0"/>
              <a:t>？</a:t>
            </a:r>
            <a:r>
              <a:rPr lang="en-US" altLang="zh-CN" dirty="0"/>
              <a:t>——</a:t>
            </a:r>
            <a:r>
              <a:rPr lang="zh-CN" altLang="en-US" dirty="0"/>
              <a:t>分析意见</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22</a:t>
            </a:fld>
            <a:endParaRPr lang="zh-CN" altLang="en-US" dirty="0"/>
          </a:p>
        </p:txBody>
      </p:sp>
      <p:sp>
        <p:nvSpPr>
          <p:cNvPr id="5" name="内容占位符 4"/>
          <p:cNvSpPr>
            <a:spLocks noGrp="1"/>
          </p:cNvSpPr>
          <p:nvPr>
            <p:ph idx="1"/>
          </p:nvPr>
        </p:nvSpPr>
        <p:spPr>
          <a:xfrm>
            <a:off x="479376" y="908719"/>
            <a:ext cx="11103024" cy="5837733"/>
          </a:xfrm>
        </p:spPr>
        <p:txBody>
          <a:bodyPr>
            <a:normAutofit/>
          </a:bodyPr>
          <a:lstStyle/>
          <a:p>
            <a:pPr marL="0" indent="0">
              <a:lnSpc>
                <a:spcPct val="170000"/>
              </a:lnSpc>
              <a:spcAft>
                <a:spcPct val="10000"/>
              </a:spcAft>
              <a:buNone/>
            </a:pPr>
            <a:r>
              <a:rPr lang="zh-CN" altLang="en-US" sz="2600" b="1" dirty="0">
                <a:latin typeface="黑体" panose="02010609060101010101" pitchFamily="49" charset="-122"/>
                <a:ea typeface="黑体" panose="02010609060101010101" pitchFamily="49" charset="-122"/>
                <a:cs typeface="黑体" panose="02010609060101010101" pitchFamily="49" charset="-122"/>
              </a:rPr>
              <a:t>「知彼解己」</a:t>
            </a:r>
            <a:r>
              <a:rPr lang="en-US" altLang="zh-CN" sz="2600" b="1" dirty="0">
                <a:latin typeface="黑体" panose="02010609060101010101" pitchFamily="49" charset="-122"/>
                <a:ea typeface="黑体" panose="02010609060101010101" pitchFamily="49" charset="-122"/>
                <a:cs typeface="黑体" panose="02010609060101010101" pitchFamily="49" charset="-122"/>
              </a:rPr>
              <a:t>——“</a:t>
            </a:r>
            <a:r>
              <a:rPr lang="zh-CN" altLang="en-US" sz="2600" b="1" dirty="0">
                <a:latin typeface="黑体" panose="02010609060101010101" pitchFamily="49" charset="-122"/>
                <a:ea typeface="黑体" panose="02010609060101010101" pitchFamily="49" charset="-122"/>
                <a:cs typeface="黑体" panose="02010609060101010101" pitchFamily="49" charset="-122"/>
              </a:rPr>
              <a:t>首先去了解对方，然后再争取让对方了解自己”</a:t>
            </a:r>
            <a:endParaRPr lang="en-US" altLang="zh-CN" sz="2600" b="1" dirty="0">
              <a:latin typeface="黑体" panose="02010609060101010101" pitchFamily="49" charset="-122"/>
              <a:ea typeface="黑体" panose="02010609060101010101" pitchFamily="49" charset="-122"/>
              <a:cs typeface="黑体" panose="02010609060101010101" pitchFamily="49" charset="-122"/>
            </a:endParaRPr>
          </a:p>
          <a:p>
            <a:pPr>
              <a:lnSpc>
                <a:spcPct val="170000"/>
              </a:lnSpc>
              <a:spcAft>
                <a:spcPct val="10000"/>
              </a:spcAft>
            </a:pPr>
            <a:r>
              <a:rPr lang="zh-CN" altLang="en-US" sz="2600" dirty="0">
                <a:solidFill>
                  <a:srgbClr val="121212"/>
                </a:solidFill>
                <a:latin typeface="-apple-system"/>
                <a:ea typeface="黑体" panose="02010609060101010101" pitchFamily="49" charset="-122"/>
                <a:cs typeface="黑体" panose="02010609060101010101" pitchFamily="49" charset="-122"/>
              </a:rPr>
              <a:t>审稿人（约</a:t>
            </a:r>
            <a:r>
              <a:rPr lang="en-US" altLang="zh-CN" sz="2600" dirty="0">
                <a:solidFill>
                  <a:srgbClr val="121212"/>
                </a:solidFill>
                <a:latin typeface="-apple-system"/>
                <a:ea typeface="黑体" panose="02010609060101010101" pitchFamily="49" charset="-122"/>
                <a:cs typeface="黑体" panose="02010609060101010101" pitchFamily="49" charset="-122"/>
              </a:rPr>
              <a:t>50%</a:t>
            </a:r>
            <a:r>
              <a:rPr lang="zh-CN" altLang="en-US" sz="2600" dirty="0">
                <a:solidFill>
                  <a:srgbClr val="121212"/>
                </a:solidFill>
                <a:latin typeface="-apple-system"/>
                <a:ea typeface="黑体" panose="02010609060101010101" pitchFamily="49" charset="-122"/>
                <a:cs typeface="黑体" panose="02010609060101010101" pitchFamily="49" charset="-122"/>
              </a:rPr>
              <a:t>）看你论文的时间十分有限，</a:t>
            </a:r>
            <a:r>
              <a:rPr lang="zh-CN" altLang="en-US" sz="2600" dirty="0">
                <a:solidFill>
                  <a:srgbClr val="FF0000"/>
                </a:solidFill>
                <a:latin typeface="-apple-system"/>
                <a:ea typeface="黑体" panose="02010609060101010101" pitchFamily="49" charset="-122"/>
                <a:cs typeface="黑体" panose="02010609060101010101" pitchFamily="49" charset="-122"/>
              </a:rPr>
              <a:t>甚至会用</a:t>
            </a:r>
            <a:r>
              <a:rPr lang="en-US" altLang="zh-CN" sz="2600" dirty="0">
                <a:solidFill>
                  <a:srgbClr val="FF0000"/>
                </a:solidFill>
                <a:latin typeface="-apple-system"/>
                <a:ea typeface="黑体" panose="02010609060101010101" pitchFamily="49" charset="-122"/>
                <a:cs typeface="黑体" panose="02010609060101010101" pitchFamily="49" charset="-122"/>
              </a:rPr>
              <a:t>AI</a:t>
            </a:r>
            <a:r>
              <a:rPr lang="zh-CN" altLang="en-US" sz="2600" dirty="0">
                <a:solidFill>
                  <a:srgbClr val="FF0000"/>
                </a:solidFill>
                <a:latin typeface="-apple-system"/>
                <a:ea typeface="黑体" panose="02010609060101010101" pitchFamily="49" charset="-122"/>
                <a:cs typeface="黑体" panose="02010609060101010101" pitchFamily="49" charset="-122"/>
              </a:rPr>
              <a:t>来看</a:t>
            </a:r>
            <a:endParaRPr lang="en-US" altLang="zh-CN" sz="2600" b="0" i="0" dirty="0">
              <a:solidFill>
                <a:srgbClr val="FF0000"/>
              </a:solidFill>
              <a:effectLst/>
              <a:latin typeface="-apple-system"/>
            </a:endParaRPr>
          </a:p>
          <a:p>
            <a:pPr>
              <a:lnSpc>
                <a:spcPct val="170000"/>
              </a:lnSpc>
              <a:spcAft>
                <a:spcPct val="10000"/>
              </a:spcAft>
            </a:pPr>
            <a:r>
              <a:rPr lang="zh-CN" altLang="en-US" sz="2600" b="0" i="0" dirty="0">
                <a:solidFill>
                  <a:srgbClr val="121212"/>
                </a:solidFill>
                <a:effectLst/>
                <a:latin typeface="-apple-system"/>
              </a:rPr>
              <a:t>试图站在</a:t>
            </a:r>
            <a:r>
              <a:rPr lang="en-US" altLang="zh-CN" sz="2600" b="0" i="0" dirty="0">
                <a:solidFill>
                  <a:srgbClr val="121212"/>
                </a:solidFill>
                <a:effectLst/>
                <a:latin typeface="-apple-system"/>
              </a:rPr>
              <a:t>reviewer</a:t>
            </a:r>
            <a:r>
              <a:rPr lang="zh-CN" altLang="en-US" sz="2600" b="0" i="0" dirty="0">
                <a:solidFill>
                  <a:srgbClr val="121212"/>
                </a:solidFill>
                <a:effectLst/>
                <a:latin typeface="-apple-system"/>
              </a:rPr>
              <a:t>的角度去揣摩提出意见时的想法和心境。应去领会审稿人某句话背后的意图，体会其心意。</a:t>
            </a:r>
            <a:endParaRPr lang="en-US" altLang="zh-CN" sz="2600" b="0" i="0" dirty="0">
              <a:solidFill>
                <a:srgbClr val="121212"/>
              </a:solidFill>
              <a:effectLst/>
              <a:latin typeface="-apple-system"/>
            </a:endParaRPr>
          </a:p>
          <a:p>
            <a:pPr>
              <a:lnSpc>
                <a:spcPct val="170000"/>
              </a:lnSpc>
              <a:spcAft>
                <a:spcPct val="10000"/>
              </a:spcAft>
            </a:pPr>
            <a:r>
              <a:rPr lang="zh-CN" altLang="en-US" sz="2600" dirty="0">
                <a:solidFill>
                  <a:srgbClr val="121212"/>
                </a:solidFill>
                <a:latin typeface="-apple-system"/>
              </a:rPr>
              <a:t>比如说：有些审稿人是不熟悉你的研究方向的，所以会表达出看不懂你的做法；而有些审稿人刚好是你引用的论文作者，所以会提更加深入的细节问题，与领域内的大问题。</a:t>
            </a:r>
            <a:endParaRPr lang="en-US" altLang="zh-CN" sz="2600" b="0" i="0" dirty="0">
              <a:solidFill>
                <a:srgbClr val="121212"/>
              </a:solidFill>
              <a:effectLst/>
              <a:latin typeface="-apple-system"/>
            </a:endParaRPr>
          </a:p>
        </p:txBody>
      </p:sp>
      <p:sp>
        <p:nvSpPr>
          <p:cNvPr id="6" name="文本框 5">
            <a:extLst>
              <a:ext uri="{FF2B5EF4-FFF2-40B4-BE49-F238E27FC236}">
                <a16:creationId xmlns:a16="http://schemas.microsoft.com/office/drawing/2014/main" id="{187ED4BB-EF54-3E90-3995-F51A943EA0EE}"/>
              </a:ext>
            </a:extLst>
          </p:cNvPr>
          <p:cNvSpPr txBox="1"/>
          <p:nvPr/>
        </p:nvSpPr>
        <p:spPr>
          <a:xfrm>
            <a:off x="32665" y="6447441"/>
            <a:ext cx="2534944" cy="369332"/>
          </a:xfrm>
          <a:prstGeom prst="rect">
            <a:avLst/>
          </a:prstGeom>
          <a:noFill/>
        </p:spPr>
        <p:txBody>
          <a:bodyPr wrap="square">
            <a:spAutoFit/>
          </a:bodyPr>
          <a:lstStyle/>
          <a:p>
            <a:pPr algn="l"/>
            <a:r>
              <a:rPr lang="zh-CN" altLang="en-US" b="0" i="0" u="none" strike="noStrike" dirty="0">
                <a:solidFill>
                  <a:srgbClr val="1A0DAB"/>
                </a:solidFill>
                <a:effectLst/>
                <a:latin typeface="Arial" panose="020B0604020202020204" pitchFamily="34" charset="0"/>
                <a:hlinkClick r:id="rId2"/>
              </a:rPr>
              <a:t>浅谈学术论文</a:t>
            </a:r>
            <a:r>
              <a:rPr lang="en-US" altLang="zh-CN" b="0" i="0" u="none" strike="noStrike" dirty="0">
                <a:solidFill>
                  <a:srgbClr val="1A0DAB"/>
                </a:solidFill>
                <a:effectLst/>
                <a:latin typeface="Arial" panose="020B0604020202020204" pitchFamily="34" charset="0"/>
                <a:hlinkClick r:id="rId2"/>
              </a:rPr>
              <a:t>rebuttal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 </a:t>
            </a:r>
            <a:r>
              <a:rPr lang="zh-CN" altLang="en-US" dirty="0"/>
              <a:t>如何</a:t>
            </a:r>
            <a:r>
              <a:rPr lang="en-US" altLang="zh-CN" dirty="0"/>
              <a:t>Rebuttal</a:t>
            </a:r>
            <a:r>
              <a:rPr lang="zh-CN" altLang="en-US" dirty="0"/>
              <a:t>？</a:t>
            </a:r>
            <a:r>
              <a:rPr lang="en-US" altLang="zh-CN" dirty="0"/>
              <a:t>——</a:t>
            </a:r>
            <a:r>
              <a:rPr lang="zh-CN" altLang="en-US" dirty="0"/>
              <a:t>分析意见</a:t>
            </a:r>
          </a:p>
        </p:txBody>
      </p:sp>
      <p:sp>
        <p:nvSpPr>
          <p:cNvPr id="2" name="灯片编号占位符 1"/>
          <p:cNvSpPr>
            <a:spLocks noGrp="1"/>
          </p:cNvSpPr>
          <p:nvPr>
            <p:ph type="sldNum" sz="quarter" idx="12"/>
          </p:nvPr>
        </p:nvSpPr>
        <p:spPr/>
        <p:txBody>
          <a:bodyPr/>
          <a:lstStyle/>
          <a:p>
            <a:pPr algn="r"/>
            <a:fld id="{CBD803B2-A378-42BD-B5EC-F7748F169FE0}" type="slidenum">
              <a:rPr lang="en-US" altLang="zh-CN" smtClean="0"/>
              <a:t>23</a:t>
            </a:fld>
            <a:endParaRPr lang="zh-CN" altLang="en-US" dirty="0"/>
          </a:p>
        </p:txBody>
      </p:sp>
      <p:sp>
        <p:nvSpPr>
          <p:cNvPr id="5" name="内容占位符 4"/>
          <p:cNvSpPr>
            <a:spLocks noGrp="1"/>
          </p:cNvSpPr>
          <p:nvPr>
            <p:ph idx="1"/>
          </p:nvPr>
        </p:nvSpPr>
        <p:spPr>
          <a:xfrm>
            <a:off x="479376" y="908720"/>
            <a:ext cx="11103024" cy="5949280"/>
          </a:xfrm>
        </p:spPr>
        <p:txBody>
          <a:bodyPr>
            <a:normAutofit/>
          </a:bodyPr>
          <a:lstStyle/>
          <a:p>
            <a:pPr>
              <a:lnSpc>
                <a:spcPct val="170000"/>
              </a:lnSpc>
              <a:spcAft>
                <a:spcPct val="10000"/>
              </a:spcAft>
            </a:pPr>
            <a:r>
              <a:rPr lang="zh-CN" altLang="en-US" sz="2600" b="1" dirty="0">
                <a:latin typeface="黑体" panose="02010609060101010101" pitchFamily="49" charset="-122"/>
                <a:ea typeface="黑体" panose="02010609060101010101" pitchFamily="49" charset="-122"/>
                <a:cs typeface="黑体" panose="02010609060101010101" pitchFamily="49" charset="-122"/>
              </a:rPr>
              <a:t>审稿人总是会期待更加有突破性的成果。</a:t>
            </a:r>
            <a:endParaRPr lang="en-US" altLang="zh-CN" sz="2600" b="1" dirty="0">
              <a:latin typeface="黑体" panose="02010609060101010101" pitchFamily="49" charset="-122"/>
              <a:ea typeface="黑体" panose="02010609060101010101" pitchFamily="49" charset="-122"/>
              <a:cs typeface="黑体" panose="02010609060101010101" pitchFamily="49" charset="-122"/>
            </a:endParaRPr>
          </a:p>
          <a:p>
            <a:pPr marL="0" indent="0">
              <a:lnSpc>
                <a:spcPct val="170000"/>
              </a:lnSpc>
              <a:spcAft>
                <a:spcPct val="10000"/>
              </a:spcAft>
              <a:buNone/>
            </a:pPr>
            <a:r>
              <a:rPr lang="zh-CN" altLang="en-US" sz="2600" dirty="0">
                <a:solidFill>
                  <a:srgbClr val="C00000"/>
                </a:solidFill>
                <a:latin typeface="黑体" panose="02010609060101010101" pitchFamily="49" charset="-122"/>
                <a:cs typeface="黑体" panose="02010609060101010101" pitchFamily="49" charset="-122"/>
              </a:rPr>
              <a:t>强调差异和创新</a:t>
            </a:r>
            <a:r>
              <a:rPr lang="zh-CN" altLang="en-US" sz="2600" dirty="0">
                <a:latin typeface="黑体" panose="02010609060101010101" pitchFamily="49" charset="-122"/>
                <a:cs typeface="黑体" panose="02010609060101010101" pitchFamily="49" charset="-122"/>
              </a:rPr>
              <a:t>：大多数好论文也只是在前人的基础上向前走了一小步，你只需要强调和已有工作的不同之处，确实解决了之前工作的问题。</a:t>
            </a:r>
            <a:endParaRPr lang="en-US" altLang="zh-CN" sz="2600" b="1" dirty="0">
              <a:latin typeface="黑体" panose="02010609060101010101" pitchFamily="49" charset="-122"/>
              <a:ea typeface="黑体" panose="02010609060101010101" pitchFamily="49" charset="-122"/>
              <a:cs typeface="黑体" panose="02010609060101010101" pitchFamily="49" charset="-122"/>
            </a:endParaRPr>
          </a:p>
          <a:p>
            <a:pPr>
              <a:lnSpc>
                <a:spcPct val="170000"/>
              </a:lnSpc>
              <a:spcAft>
                <a:spcPct val="10000"/>
              </a:spcAft>
            </a:pPr>
            <a:r>
              <a:rPr lang="zh-CN" altLang="en-US" sz="2600" b="1" dirty="0">
                <a:latin typeface="黑体" panose="02010609060101010101" pitchFamily="49" charset="-122"/>
                <a:ea typeface="黑体" panose="02010609060101010101" pitchFamily="49" charset="-122"/>
                <a:cs typeface="黑体" panose="02010609060101010101" pitchFamily="49" charset="-122"/>
              </a:rPr>
              <a:t>审稿人总是会期待实验的多样性。</a:t>
            </a:r>
            <a:endParaRPr lang="en-US" altLang="zh-CN" sz="2600" b="1" dirty="0">
              <a:latin typeface="黑体" panose="02010609060101010101" pitchFamily="49" charset="-122"/>
              <a:ea typeface="黑体" panose="02010609060101010101" pitchFamily="49" charset="-122"/>
              <a:cs typeface="黑体" panose="02010609060101010101" pitchFamily="49" charset="-122"/>
            </a:endParaRPr>
          </a:p>
          <a:p>
            <a:pPr marL="0" indent="0">
              <a:lnSpc>
                <a:spcPct val="170000"/>
              </a:lnSpc>
              <a:spcAft>
                <a:spcPct val="10000"/>
              </a:spcAft>
              <a:buNone/>
            </a:pPr>
            <a:r>
              <a:rPr lang="zh-CN" altLang="en-US" sz="2600" b="0" i="0" dirty="0">
                <a:solidFill>
                  <a:srgbClr val="C00000"/>
                </a:solidFill>
                <a:effectLst/>
                <a:latin typeface="source-serif-pro"/>
              </a:rPr>
              <a:t>数据胜于雄辩</a:t>
            </a:r>
            <a:r>
              <a:rPr lang="zh-CN" altLang="en-US" sz="2600" dirty="0">
                <a:solidFill>
                  <a:srgbClr val="242424"/>
                </a:solidFill>
                <a:latin typeface="source-serif-pro"/>
              </a:rPr>
              <a:t>：没有和最新</a:t>
            </a:r>
            <a:r>
              <a:rPr lang="en-US" altLang="zh-CN" sz="2600" dirty="0">
                <a:solidFill>
                  <a:srgbClr val="242424"/>
                </a:solidFill>
                <a:latin typeface="source-serif-pro"/>
              </a:rPr>
              <a:t>SOTA</a:t>
            </a:r>
            <a:r>
              <a:rPr lang="zh-CN" altLang="en-US" sz="2600" dirty="0">
                <a:solidFill>
                  <a:srgbClr val="242424"/>
                </a:solidFill>
                <a:latin typeface="source-serif-pro"/>
              </a:rPr>
              <a:t>比？</a:t>
            </a:r>
            <a:endParaRPr lang="en-US" altLang="zh-CN" sz="2600" dirty="0">
              <a:solidFill>
                <a:srgbClr val="242424"/>
              </a:solidFill>
              <a:latin typeface="source-serif-pro"/>
            </a:endParaRPr>
          </a:p>
          <a:p>
            <a:pPr marL="0" indent="0">
              <a:lnSpc>
                <a:spcPct val="170000"/>
              </a:lnSpc>
              <a:spcAft>
                <a:spcPct val="10000"/>
              </a:spcAft>
              <a:buNone/>
            </a:pPr>
            <a:r>
              <a:rPr lang="zh-CN" altLang="en-US" sz="2600" b="0" i="0" dirty="0">
                <a:solidFill>
                  <a:srgbClr val="242424"/>
                </a:solidFill>
                <a:effectLst/>
                <a:latin typeface="source-serif-pro"/>
              </a:rPr>
              <a:t>请你补充实验结果。没有在更多数据集</a:t>
            </a:r>
            <a:endParaRPr lang="en-US" altLang="zh-CN" sz="2600" b="0" i="0" dirty="0">
              <a:solidFill>
                <a:srgbClr val="242424"/>
              </a:solidFill>
              <a:effectLst/>
              <a:latin typeface="source-serif-pro"/>
            </a:endParaRPr>
          </a:p>
          <a:p>
            <a:pPr marL="0" indent="0">
              <a:lnSpc>
                <a:spcPct val="170000"/>
              </a:lnSpc>
              <a:spcAft>
                <a:spcPct val="10000"/>
              </a:spcAft>
              <a:buNone/>
            </a:pPr>
            <a:r>
              <a:rPr lang="zh-CN" altLang="en-US" sz="2600" b="0" i="0" dirty="0">
                <a:solidFill>
                  <a:srgbClr val="242424"/>
                </a:solidFill>
                <a:effectLst/>
                <a:latin typeface="source-serif-pro"/>
              </a:rPr>
              <a:t>上实验？请你补充实验结果。动机缺少实验证明？请你补充实验结果。</a:t>
            </a:r>
            <a:endParaRPr lang="en-US" altLang="zh-CN" sz="2600" b="0" i="0" dirty="0">
              <a:solidFill>
                <a:srgbClr val="242424"/>
              </a:solidFill>
              <a:effectLst/>
              <a:latin typeface="source-serif-pro"/>
            </a:endParaRPr>
          </a:p>
        </p:txBody>
      </p:sp>
      <p:pic>
        <p:nvPicPr>
          <p:cNvPr id="4" name="图片 3">
            <a:extLst>
              <a:ext uri="{FF2B5EF4-FFF2-40B4-BE49-F238E27FC236}">
                <a16:creationId xmlns:a16="http://schemas.microsoft.com/office/drawing/2014/main" id="{8B545D21-D9DA-6C9E-044E-03C89841FEDD}"/>
              </a:ext>
            </a:extLst>
          </p:cNvPr>
          <p:cNvPicPr>
            <a:picLocks noChangeAspect="1"/>
          </p:cNvPicPr>
          <p:nvPr/>
        </p:nvPicPr>
        <p:blipFill>
          <a:blip r:embed="rId3"/>
          <a:stretch>
            <a:fillRect/>
          </a:stretch>
        </p:blipFill>
        <p:spPr>
          <a:xfrm>
            <a:off x="6981780" y="3429000"/>
            <a:ext cx="5210220" cy="2503800"/>
          </a:xfrm>
          <a:prstGeom prst="rect">
            <a:avLst/>
          </a:prstGeom>
        </p:spPr>
      </p:pic>
    </p:spTree>
    <p:extLst>
      <p:ext uri="{BB962C8B-B14F-4D97-AF65-F5344CB8AC3E}">
        <p14:creationId xmlns:p14="http://schemas.microsoft.com/office/powerpoint/2010/main" val="1572850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3D8CF-01D9-2EE5-89DD-8E7D0B6ED7E8}"/>
              </a:ext>
            </a:extLst>
          </p:cNvPr>
          <p:cNvSpPr>
            <a:spLocks noGrp="1"/>
          </p:cNvSpPr>
          <p:nvPr>
            <p:ph type="title"/>
          </p:nvPr>
        </p:nvSpPr>
        <p:spPr/>
        <p:txBody>
          <a:bodyPr/>
          <a:lstStyle/>
          <a:p>
            <a:r>
              <a:rPr kumimoji="1" lang="en-US" altLang="zh-CN" dirty="0"/>
              <a:t>Rebuttal</a:t>
            </a:r>
            <a:r>
              <a:rPr kumimoji="1" lang="zh-CN" altLang="en-US" dirty="0"/>
              <a:t>案例</a:t>
            </a:r>
          </a:p>
        </p:txBody>
      </p:sp>
      <p:pic>
        <p:nvPicPr>
          <p:cNvPr id="6" name="内容占位符 5">
            <a:extLst>
              <a:ext uri="{FF2B5EF4-FFF2-40B4-BE49-F238E27FC236}">
                <a16:creationId xmlns:a16="http://schemas.microsoft.com/office/drawing/2014/main" id="{5E1EA2C1-B1E4-F4E8-6823-8707A60F03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9507" y="946333"/>
            <a:ext cx="9952985" cy="5838056"/>
          </a:xfrm>
        </p:spPr>
      </p:pic>
      <p:sp>
        <p:nvSpPr>
          <p:cNvPr id="4" name="灯片编号占位符 3">
            <a:extLst>
              <a:ext uri="{FF2B5EF4-FFF2-40B4-BE49-F238E27FC236}">
                <a16:creationId xmlns:a16="http://schemas.microsoft.com/office/drawing/2014/main" id="{80DD5723-EBF0-ECCD-5A59-61513D2658FA}"/>
              </a:ext>
            </a:extLst>
          </p:cNvPr>
          <p:cNvSpPr>
            <a:spLocks noGrp="1"/>
          </p:cNvSpPr>
          <p:nvPr>
            <p:ph type="sldNum" sz="quarter" idx="12"/>
          </p:nvPr>
        </p:nvSpPr>
        <p:spPr/>
        <p:txBody>
          <a:bodyPr/>
          <a:lstStyle/>
          <a:p>
            <a:pPr algn="r"/>
            <a:fld id="{CBD803B2-A378-42BD-B5EC-F7748F169FE0}" type="slidenum">
              <a:rPr lang="en-US" altLang="zh-CN" smtClean="0"/>
              <a:t>24</a:t>
            </a:fld>
            <a:endParaRPr lang="zh-CN" altLang="en-US" dirty="0"/>
          </a:p>
        </p:txBody>
      </p:sp>
    </p:spTree>
    <p:extLst>
      <p:ext uri="{BB962C8B-B14F-4D97-AF65-F5344CB8AC3E}">
        <p14:creationId xmlns:p14="http://schemas.microsoft.com/office/powerpoint/2010/main" val="2421434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3D8CF-01D9-2EE5-89DD-8E7D0B6ED7E8}"/>
              </a:ext>
            </a:extLst>
          </p:cNvPr>
          <p:cNvSpPr>
            <a:spLocks noGrp="1"/>
          </p:cNvSpPr>
          <p:nvPr>
            <p:ph type="title"/>
          </p:nvPr>
        </p:nvSpPr>
        <p:spPr/>
        <p:txBody>
          <a:bodyPr/>
          <a:lstStyle/>
          <a:p>
            <a:r>
              <a:rPr kumimoji="1" lang="en-US" altLang="zh-CN" dirty="0"/>
              <a:t>Rebuttal</a:t>
            </a:r>
            <a:r>
              <a:rPr kumimoji="1" lang="zh-CN" altLang="en-US" dirty="0"/>
              <a:t>案例</a:t>
            </a:r>
          </a:p>
        </p:txBody>
      </p:sp>
      <p:pic>
        <p:nvPicPr>
          <p:cNvPr id="6" name="内容占位符 5">
            <a:extLst>
              <a:ext uri="{FF2B5EF4-FFF2-40B4-BE49-F238E27FC236}">
                <a16:creationId xmlns:a16="http://schemas.microsoft.com/office/drawing/2014/main" id="{CCEAAD7E-C837-60B7-72B1-3F6E98D1458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6087"/>
          <a:stretch/>
        </p:blipFill>
        <p:spPr>
          <a:xfrm>
            <a:off x="867993" y="884737"/>
            <a:ext cx="10456013" cy="5973263"/>
          </a:xfrm>
        </p:spPr>
      </p:pic>
      <p:sp>
        <p:nvSpPr>
          <p:cNvPr id="4" name="灯片编号占位符 3">
            <a:extLst>
              <a:ext uri="{FF2B5EF4-FFF2-40B4-BE49-F238E27FC236}">
                <a16:creationId xmlns:a16="http://schemas.microsoft.com/office/drawing/2014/main" id="{80DD5723-EBF0-ECCD-5A59-61513D2658FA}"/>
              </a:ext>
            </a:extLst>
          </p:cNvPr>
          <p:cNvSpPr>
            <a:spLocks noGrp="1"/>
          </p:cNvSpPr>
          <p:nvPr>
            <p:ph type="sldNum" sz="quarter" idx="12"/>
          </p:nvPr>
        </p:nvSpPr>
        <p:spPr/>
        <p:txBody>
          <a:bodyPr/>
          <a:lstStyle/>
          <a:p>
            <a:pPr algn="r"/>
            <a:fld id="{CBD803B2-A378-42BD-B5EC-F7748F169FE0}" type="slidenum">
              <a:rPr lang="en-US" altLang="zh-CN" smtClean="0"/>
              <a:t>25</a:t>
            </a:fld>
            <a:endParaRPr lang="zh-CN" altLang="en-US" dirty="0"/>
          </a:p>
        </p:txBody>
      </p:sp>
    </p:spTree>
    <p:extLst>
      <p:ext uri="{BB962C8B-B14F-4D97-AF65-F5344CB8AC3E}">
        <p14:creationId xmlns:p14="http://schemas.microsoft.com/office/powerpoint/2010/main" val="4160783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3D8CF-01D9-2EE5-89DD-8E7D0B6ED7E8}"/>
              </a:ext>
            </a:extLst>
          </p:cNvPr>
          <p:cNvSpPr>
            <a:spLocks noGrp="1"/>
          </p:cNvSpPr>
          <p:nvPr>
            <p:ph type="title"/>
          </p:nvPr>
        </p:nvSpPr>
        <p:spPr/>
        <p:txBody>
          <a:bodyPr/>
          <a:lstStyle/>
          <a:p>
            <a:r>
              <a:rPr kumimoji="1" lang="en-US" altLang="zh-CN" dirty="0"/>
              <a:t>Rebuttal</a:t>
            </a:r>
            <a:r>
              <a:rPr kumimoji="1" lang="zh-CN" altLang="en-US" dirty="0"/>
              <a:t>案例</a:t>
            </a:r>
          </a:p>
        </p:txBody>
      </p:sp>
      <p:sp>
        <p:nvSpPr>
          <p:cNvPr id="4" name="灯片编号占位符 3">
            <a:extLst>
              <a:ext uri="{FF2B5EF4-FFF2-40B4-BE49-F238E27FC236}">
                <a16:creationId xmlns:a16="http://schemas.microsoft.com/office/drawing/2014/main" id="{80DD5723-EBF0-ECCD-5A59-61513D2658FA}"/>
              </a:ext>
            </a:extLst>
          </p:cNvPr>
          <p:cNvSpPr>
            <a:spLocks noGrp="1"/>
          </p:cNvSpPr>
          <p:nvPr>
            <p:ph type="sldNum" sz="quarter" idx="12"/>
          </p:nvPr>
        </p:nvSpPr>
        <p:spPr/>
        <p:txBody>
          <a:bodyPr/>
          <a:lstStyle/>
          <a:p>
            <a:pPr algn="r"/>
            <a:fld id="{CBD803B2-A378-42BD-B5EC-F7748F169FE0}" type="slidenum">
              <a:rPr lang="en-US" altLang="zh-CN" smtClean="0"/>
              <a:t>26</a:t>
            </a:fld>
            <a:endParaRPr lang="zh-CN" altLang="en-US" dirty="0"/>
          </a:p>
        </p:txBody>
      </p:sp>
      <p:pic>
        <p:nvPicPr>
          <p:cNvPr id="8" name="内容占位符 7">
            <a:extLst>
              <a:ext uri="{FF2B5EF4-FFF2-40B4-BE49-F238E27FC236}">
                <a16:creationId xmlns:a16="http://schemas.microsoft.com/office/drawing/2014/main" id="{7099A2ED-8A42-05AA-8238-BE7100DCC7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9166" y="908050"/>
            <a:ext cx="9773668" cy="5949950"/>
          </a:xfrm>
        </p:spPr>
      </p:pic>
    </p:spTree>
    <p:extLst>
      <p:ext uri="{BB962C8B-B14F-4D97-AF65-F5344CB8AC3E}">
        <p14:creationId xmlns:p14="http://schemas.microsoft.com/office/powerpoint/2010/main" val="3950441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3D8CF-01D9-2EE5-89DD-8E7D0B6ED7E8}"/>
              </a:ext>
            </a:extLst>
          </p:cNvPr>
          <p:cNvSpPr>
            <a:spLocks noGrp="1"/>
          </p:cNvSpPr>
          <p:nvPr>
            <p:ph type="title"/>
          </p:nvPr>
        </p:nvSpPr>
        <p:spPr/>
        <p:txBody>
          <a:bodyPr/>
          <a:lstStyle/>
          <a:p>
            <a:r>
              <a:rPr kumimoji="1" lang="en-US" altLang="zh-CN" dirty="0"/>
              <a:t>Rebuttal</a:t>
            </a:r>
            <a:r>
              <a:rPr kumimoji="1" lang="zh-CN" altLang="en-US" dirty="0"/>
              <a:t>案例</a:t>
            </a:r>
          </a:p>
        </p:txBody>
      </p:sp>
      <p:sp>
        <p:nvSpPr>
          <p:cNvPr id="4" name="灯片编号占位符 3">
            <a:extLst>
              <a:ext uri="{FF2B5EF4-FFF2-40B4-BE49-F238E27FC236}">
                <a16:creationId xmlns:a16="http://schemas.microsoft.com/office/drawing/2014/main" id="{80DD5723-EBF0-ECCD-5A59-61513D2658FA}"/>
              </a:ext>
            </a:extLst>
          </p:cNvPr>
          <p:cNvSpPr>
            <a:spLocks noGrp="1"/>
          </p:cNvSpPr>
          <p:nvPr>
            <p:ph type="sldNum" sz="quarter" idx="12"/>
          </p:nvPr>
        </p:nvSpPr>
        <p:spPr/>
        <p:txBody>
          <a:bodyPr/>
          <a:lstStyle/>
          <a:p>
            <a:pPr algn="r"/>
            <a:fld id="{CBD803B2-A378-42BD-B5EC-F7748F169FE0}" type="slidenum">
              <a:rPr lang="en-US" altLang="zh-CN" smtClean="0"/>
              <a:t>27</a:t>
            </a:fld>
            <a:endParaRPr lang="zh-CN" altLang="en-US" dirty="0"/>
          </a:p>
        </p:txBody>
      </p:sp>
      <p:pic>
        <p:nvPicPr>
          <p:cNvPr id="7" name="内容占位符 6">
            <a:extLst>
              <a:ext uri="{FF2B5EF4-FFF2-40B4-BE49-F238E27FC236}">
                <a16:creationId xmlns:a16="http://schemas.microsoft.com/office/drawing/2014/main" id="{8F4126FE-FEFA-3EB9-D8B5-50F93F9DC5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1465" y="831200"/>
            <a:ext cx="10009108" cy="6026799"/>
          </a:xfrm>
        </p:spPr>
      </p:pic>
    </p:spTree>
    <p:extLst>
      <p:ext uri="{BB962C8B-B14F-4D97-AF65-F5344CB8AC3E}">
        <p14:creationId xmlns:p14="http://schemas.microsoft.com/office/powerpoint/2010/main" val="3445633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3D8CF-01D9-2EE5-89DD-8E7D0B6ED7E8}"/>
              </a:ext>
            </a:extLst>
          </p:cNvPr>
          <p:cNvSpPr>
            <a:spLocks noGrp="1"/>
          </p:cNvSpPr>
          <p:nvPr>
            <p:ph type="title"/>
          </p:nvPr>
        </p:nvSpPr>
        <p:spPr/>
        <p:txBody>
          <a:bodyPr/>
          <a:lstStyle/>
          <a:p>
            <a:r>
              <a:rPr kumimoji="1" lang="en-US" altLang="zh-CN" dirty="0"/>
              <a:t>Rebuttal</a:t>
            </a:r>
            <a:r>
              <a:rPr kumimoji="1" lang="zh-CN" altLang="en-US" dirty="0"/>
              <a:t>案例</a:t>
            </a:r>
          </a:p>
        </p:txBody>
      </p:sp>
      <p:sp>
        <p:nvSpPr>
          <p:cNvPr id="4" name="灯片编号占位符 3">
            <a:extLst>
              <a:ext uri="{FF2B5EF4-FFF2-40B4-BE49-F238E27FC236}">
                <a16:creationId xmlns:a16="http://schemas.microsoft.com/office/drawing/2014/main" id="{80DD5723-EBF0-ECCD-5A59-61513D2658FA}"/>
              </a:ext>
            </a:extLst>
          </p:cNvPr>
          <p:cNvSpPr>
            <a:spLocks noGrp="1"/>
          </p:cNvSpPr>
          <p:nvPr>
            <p:ph type="sldNum" sz="quarter" idx="12"/>
          </p:nvPr>
        </p:nvSpPr>
        <p:spPr/>
        <p:txBody>
          <a:bodyPr/>
          <a:lstStyle/>
          <a:p>
            <a:pPr algn="r"/>
            <a:fld id="{CBD803B2-A378-42BD-B5EC-F7748F169FE0}" type="slidenum">
              <a:rPr lang="en-US" altLang="zh-CN" smtClean="0"/>
              <a:t>28</a:t>
            </a:fld>
            <a:endParaRPr lang="zh-CN" altLang="en-US" dirty="0"/>
          </a:p>
        </p:txBody>
      </p:sp>
      <p:sp>
        <p:nvSpPr>
          <p:cNvPr id="5" name="内容占位符 4">
            <a:extLst>
              <a:ext uri="{FF2B5EF4-FFF2-40B4-BE49-F238E27FC236}">
                <a16:creationId xmlns:a16="http://schemas.microsoft.com/office/drawing/2014/main" id="{352603C8-A347-428E-537F-E43E91F589AA}"/>
              </a:ext>
            </a:extLst>
          </p:cNvPr>
          <p:cNvSpPr>
            <a:spLocks noGrp="1"/>
          </p:cNvSpPr>
          <p:nvPr>
            <p:ph idx="1"/>
          </p:nvPr>
        </p:nvSpPr>
        <p:spPr/>
        <p:txBody>
          <a:bodyPr/>
          <a:lstStyle/>
          <a:p>
            <a:endParaRPr lang="zh-CN" altLang="en-US"/>
          </a:p>
        </p:txBody>
      </p:sp>
      <p:pic>
        <p:nvPicPr>
          <p:cNvPr id="6" name="图片 5">
            <a:extLst>
              <a:ext uri="{FF2B5EF4-FFF2-40B4-BE49-F238E27FC236}">
                <a16:creationId xmlns:a16="http://schemas.microsoft.com/office/drawing/2014/main" id="{421DFA8B-B539-3715-AEBD-49856A94D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1464" y="880368"/>
            <a:ext cx="9897918" cy="5949280"/>
          </a:xfrm>
          <a:prstGeom prst="rect">
            <a:avLst/>
          </a:prstGeom>
        </p:spPr>
      </p:pic>
    </p:spTree>
    <p:extLst>
      <p:ext uri="{BB962C8B-B14F-4D97-AF65-F5344CB8AC3E}">
        <p14:creationId xmlns:p14="http://schemas.microsoft.com/office/powerpoint/2010/main" val="1417685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3D8CF-01D9-2EE5-89DD-8E7D0B6ED7E8}"/>
              </a:ext>
            </a:extLst>
          </p:cNvPr>
          <p:cNvSpPr>
            <a:spLocks noGrp="1"/>
          </p:cNvSpPr>
          <p:nvPr>
            <p:ph type="title"/>
          </p:nvPr>
        </p:nvSpPr>
        <p:spPr/>
        <p:txBody>
          <a:bodyPr/>
          <a:lstStyle/>
          <a:p>
            <a:r>
              <a:rPr kumimoji="1" lang="en-US" altLang="zh-CN" dirty="0"/>
              <a:t>Rebuttal</a:t>
            </a:r>
            <a:r>
              <a:rPr kumimoji="1" lang="zh-CN" altLang="en-US" dirty="0"/>
              <a:t>案例</a:t>
            </a:r>
          </a:p>
        </p:txBody>
      </p:sp>
      <p:sp>
        <p:nvSpPr>
          <p:cNvPr id="4" name="灯片编号占位符 3">
            <a:extLst>
              <a:ext uri="{FF2B5EF4-FFF2-40B4-BE49-F238E27FC236}">
                <a16:creationId xmlns:a16="http://schemas.microsoft.com/office/drawing/2014/main" id="{80DD5723-EBF0-ECCD-5A59-61513D2658FA}"/>
              </a:ext>
            </a:extLst>
          </p:cNvPr>
          <p:cNvSpPr>
            <a:spLocks noGrp="1"/>
          </p:cNvSpPr>
          <p:nvPr>
            <p:ph type="sldNum" sz="quarter" idx="12"/>
          </p:nvPr>
        </p:nvSpPr>
        <p:spPr/>
        <p:txBody>
          <a:bodyPr/>
          <a:lstStyle/>
          <a:p>
            <a:pPr algn="r"/>
            <a:fld id="{CBD803B2-A378-42BD-B5EC-F7748F169FE0}" type="slidenum">
              <a:rPr lang="en-US" altLang="zh-CN" smtClean="0"/>
              <a:t>29</a:t>
            </a:fld>
            <a:endParaRPr lang="zh-CN" altLang="en-US" dirty="0"/>
          </a:p>
        </p:txBody>
      </p:sp>
      <p:sp>
        <p:nvSpPr>
          <p:cNvPr id="5" name="内容占位符 4">
            <a:extLst>
              <a:ext uri="{FF2B5EF4-FFF2-40B4-BE49-F238E27FC236}">
                <a16:creationId xmlns:a16="http://schemas.microsoft.com/office/drawing/2014/main" id="{352603C8-A347-428E-537F-E43E91F589AA}"/>
              </a:ext>
            </a:extLst>
          </p:cNvPr>
          <p:cNvSpPr>
            <a:spLocks noGrp="1"/>
          </p:cNvSpPr>
          <p:nvPr>
            <p:ph idx="1"/>
          </p:nvPr>
        </p:nvSpPr>
        <p:spPr/>
        <p:txBody>
          <a:bodyPr/>
          <a:lstStyle/>
          <a:p>
            <a:endParaRPr lang="zh-CN" altLang="en-US"/>
          </a:p>
        </p:txBody>
      </p:sp>
      <p:pic>
        <p:nvPicPr>
          <p:cNvPr id="3" name="图片 2">
            <a:extLst>
              <a:ext uri="{FF2B5EF4-FFF2-40B4-BE49-F238E27FC236}">
                <a16:creationId xmlns:a16="http://schemas.microsoft.com/office/drawing/2014/main" id="{C5C9F0F5-BE44-55FF-9CFC-53DA83A82C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447" y="908720"/>
            <a:ext cx="9857055" cy="5949280"/>
          </a:xfrm>
          <a:prstGeom prst="rect">
            <a:avLst/>
          </a:prstGeom>
        </p:spPr>
      </p:pic>
    </p:spTree>
    <p:extLst>
      <p:ext uri="{BB962C8B-B14F-4D97-AF65-F5344CB8AC3E}">
        <p14:creationId xmlns:p14="http://schemas.microsoft.com/office/powerpoint/2010/main" val="3178169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3D8CF-01D9-2EE5-89DD-8E7D0B6ED7E8}"/>
              </a:ext>
            </a:extLst>
          </p:cNvPr>
          <p:cNvSpPr>
            <a:spLocks noGrp="1"/>
          </p:cNvSpPr>
          <p:nvPr>
            <p:ph type="title"/>
          </p:nvPr>
        </p:nvSpPr>
        <p:spPr/>
        <p:txBody>
          <a:bodyPr/>
          <a:lstStyle/>
          <a:p>
            <a:r>
              <a:rPr kumimoji="1" lang="en-US" altLang="zh-CN" dirty="0"/>
              <a:t>Rebuttal</a:t>
            </a:r>
            <a:r>
              <a:rPr kumimoji="1" lang="zh-CN" altLang="en-US" dirty="0"/>
              <a:t>案例</a:t>
            </a:r>
          </a:p>
        </p:txBody>
      </p:sp>
      <p:sp>
        <p:nvSpPr>
          <p:cNvPr id="4" name="灯片编号占位符 3">
            <a:extLst>
              <a:ext uri="{FF2B5EF4-FFF2-40B4-BE49-F238E27FC236}">
                <a16:creationId xmlns:a16="http://schemas.microsoft.com/office/drawing/2014/main" id="{80DD5723-EBF0-ECCD-5A59-61513D2658FA}"/>
              </a:ext>
            </a:extLst>
          </p:cNvPr>
          <p:cNvSpPr>
            <a:spLocks noGrp="1"/>
          </p:cNvSpPr>
          <p:nvPr>
            <p:ph type="sldNum" sz="quarter" idx="12"/>
          </p:nvPr>
        </p:nvSpPr>
        <p:spPr/>
        <p:txBody>
          <a:bodyPr/>
          <a:lstStyle/>
          <a:p>
            <a:pPr algn="r"/>
            <a:fld id="{CBD803B2-A378-42BD-B5EC-F7748F169FE0}" type="slidenum">
              <a:rPr lang="en-US" altLang="zh-CN" smtClean="0"/>
              <a:t>30</a:t>
            </a:fld>
            <a:endParaRPr lang="zh-CN" altLang="en-US" dirty="0"/>
          </a:p>
        </p:txBody>
      </p:sp>
      <p:pic>
        <p:nvPicPr>
          <p:cNvPr id="6" name="内容占位符 5">
            <a:extLst>
              <a:ext uri="{FF2B5EF4-FFF2-40B4-BE49-F238E27FC236}">
                <a16:creationId xmlns:a16="http://schemas.microsoft.com/office/drawing/2014/main" id="{F20F0533-83D0-3E9B-8F0C-3EED6E72FE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0164" y="908050"/>
            <a:ext cx="9691671" cy="5949950"/>
          </a:xfrm>
        </p:spPr>
      </p:pic>
    </p:spTree>
    <p:extLst>
      <p:ext uri="{BB962C8B-B14F-4D97-AF65-F5344CB8AC3E}">
        <p14:creationId xmlns:p14="http://schemas.microsoft.com/office/powerpoint/2010/main" val="1740535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3D8CF-01D9-2EE5-89DD-8E7D0B6ED7E8}"/>
              </a:ext>
            </a:extLst>
          </p:cNvPr>
          <p:cNvSpPr>
            <a:spLocks noGrp="1"/>
          </p:cNvSpPr>
          <p:nvPr>
            <p:ph type="title"/>
          </p:nvPr>
        </p:nvSpPr>
        <p:spPr/>
        <p:txBody>
          <a:bodyPr/>
          <a:lstStyle/>
          <a:p>
            <a:r>
              <a:rPr kumimoji="1" lang="en-US" altLang="zh-CN" dirty="0"/>
              <a:t>Rebuttal</a:t>
            </a:r>
            <a:r>
              <a:rPr kumimoji="1" lang="zh-CN" altLang="en-US" dirty="0"/>
              <a:t>案例</a:t>
            </a:r>
          </a:p>
        </p:txBody>
      </p:sp>
      <p:sp>
        <p:nvSpPr>
          <p:cNvPr id="4" name="灯片编号占位符 3">
            <a:extLst>
              <a:ext uri="{FF2B5EF4-FFF2-40B4-BE49-F238E27FC236}">
                <a16:creationId xmlns:a16="http://schemas.microsoft.com/office/drawing/2014/main" id="{80DD5723-EBF0-ECCD-5A59-61513D2658FA}"/>
              </a:ext>
            </a:extLst>
          </p:cNvPr>
          <p:cNvSpPr>
            <a:spLocks noGrp="1"/>
          </p:cNvSpPr>
          <p:nvPr>
            <p:ph type="sldNum" sz="quarter" idx="12"/>
          </p:nvPr>
        </p:nvSpPr>
        <p:spPr/>
        <p:txBody>
          <a:bodyPr/>
          <a:lstStyle/>
          <a:p>
            <a:pPr algn="r"/>
            <a:fld id="{CBD803B2-A378-42BD-B5EC-F7748F169FE0}" type="slidenum">
              <a:rPr lang="en-US" altLang="zh-CN" smtClean="0"/>
              <a:t>31</a:t>
            </a:fld>
            <a:endParaRPr lang="zh-CN" altLang="en-US" dirty="0"/>
          </a:p>
        </p:txBody>
      </p:sp>
      <p:sp>
        <p:nvSpPr>
          <p:cNvPr id="5" name="内容占位符 4">
            <a:extLst>
              <a:ext uri="{FF2B5EF4-FFF2-40B4-BE49-F238E27FC236}">
                <a16:creationId xmlns:a16="http://schemas.microsoft.com/office/drawing/2014/main" id="{352603C8-A347-428E-537F-E43E91F589AA}"/>
              </a:ext>
            </a:extLst>
          </p:cNvPr>
          <p:cNvSpPr>
            <a:spLocks noGrp="1"/>
          </p:cNvSpPr>
          <p:nvPr>
            <p:ph idx="1"/>
          </p:nvPr>
        </p:nvSpPr>
        <p:spPr/>
        <p:txBody>
          <a:bodyPr/>
          <a:lstStyle/>
          <a:p>
            <a:endParaRPr lang="zh-CN" altLang="en-US"/>
          </a:p>
        </p:txBody>
      </p:sp>
      <p:pic>
        <p:nvPicPr>
          <p:cNvPr id="3" name="图片 2">
            <a:extLst>
              <a:ext uri="{FF2B5EF4-FFF2-40B4-BE49-F238E27FC236}">
                <a16:creationId xmlns:a16="http://schemas.microsoft.com/office/drawing/2014/main" id="{98419820-AAF2-0217-3D60-B645A99FB6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044" y="908720"/>
            <a:ext cx="9935912" cy="5949280"/>
          </a:xfrm>
          <a:prstGeom prst="rect">
            <a:avLst/>
          </a:prstGeom>
        </p:spPr>
      </p:pic>
    </p:spTree>
    <p:extLst>
      <p:ext uri="{BB962C8B-B14F-4D97-AF65-F5344CB8AC3E}">
        <p14:creationId xmlns:p14="http://schemas.microsoft.com/office/powerpoint/2010/main" val="36501123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2106C-C1AB-7689-77EE-A72B4DBAC1DF}"/>
              </a:ext>
            </a:extLst>
          </p:cNvPr>
          <p:cNvSpPr>
            <a:spLocks noGrp="1"/>
          </p:cNvSpPr>
          <p:nvPr>
            <p:ph type="title"/>
          </p:nvPr>
        </p:nvSpPr>
        <p:spPr/>
        <p:txBody>
          <a:bodyPr/>
          <a:lstStyle/>
          <a:p>
            <a:r>
              <a:rPr kumimoji="1" lang="en-US" altLang="zh-CN" dirty="0"/>
              <a:t>Rebuttal</a:t>
            </a:r>
            <a:r>
              <a:rPr kumimoji="1" lang="zh-CN" altLang="en-US" dirty="0"/>
              <a:t>写作</a:t>
            </a:r>
          </a:p>
        </p:txBody>
      </p:sp>
      <p:sp>
        <p:nvSpPr>
          <p:cNvPr id="3" name="内容占位符 2">
            <a:extLst>
              <a:ext uri="{FF2B5EF4-FFF2-40B4-BE49-F238E27FC236}">
                <a16:creationId xmlns:a16="http://schemas.microsoft.com/office/drawing/2014/main" id="{F952B5C9-9FB0-04FC-207C-6C6C28BF8927}"/>
              </a:ext>
            </a:extLst>
          </p:cNvPr>
          <p:cNvSpPr>
            <a:spLocks noGrp="1"/>
          </p:cNvSpPr>
          <p:nvPr>
            <p:ph idx="1"/>
          </p:nvPr>
        </p:nvSpPr>
        <p:spPr>
          <a:xfrm>
            <a:off x="479376" y="908720"/>
            <a:ext cx="11103024" cy="5746650"/>
          </a:xfrm>
        </p:spPr>
        <p:txBody>
          <a:bodyPr>
            <a:normAutofit/>
          </a:bodyPr>
          <a:lstStyle/>
          <a:p>
            <a:pPr marL="0" indent="0">
              <a:lnSpc>
                <a:spcPct val="170000"/>
              </a:lnSpc>
              <a:spcAft>
                <a:spcPct val="10000"/>
              </a:spcAft>
              <a:buNone/>
            </a:pPr>
            <a:r>
              <a:rPr lang="zh-CN" altLang="en-US" sz="2600" b="0" i="0" dirty="0">
                <a:solidFill>
                  <a:srgbClr val="242424"/>
                </a:solidFill>
                <a:effectLst/>
                <a:latin typeface="source-serif-pro"/>
              </a:rPr>
              <a:t>先写一个初步的</a:t>
            </a:r>
            <a:r>
              <a:rPr kumimoji="1" lang="en-US" altLang="zh-CN" sz="2600" dirty="0"/>
              <a:t>Rebuttal</a:t>
            </a:r>
            <a:r>
              <a:rPr lang="zh-CN" altLang="en-US" sz="2600" b="0" i="0" dirty="0">
                <a:solidFill>
                  <a:srgbClr val="242424"/>
                </a:solidFill>
                <a:effectLst/>
                <a:latin typeface="source-serif-pro"/>
              </a:rPr>
              <a:t>（中文）草稿，包含对</a:t>
            </a:r>
            <a:r>
              <a:rPr lang="zh-CN" altLang="en-US" sz="2600" dirty="0">
                <a:latin typeface="黑体" panose="02010609060101010101" pitchFamily="49" charset="-122"/>
                <a:ea typeface="黑体" panose="02010609060101010101" pitchFamily="49" charset="-122"/>
                <a:cs typeface="黑体" panose="02010609060101010101" pitchFamily="49" charset="-122"/>
              </a:rPr>
              <a:t>审稿人</a:t>
            </a:r>
            <a:r>
              <a:rPr lang="zh-CN" altLang="en-US" sz="2600" dirty="0">
                <a:solidFill>
                  <a:srgbClr val="C00000"/>
                </a:solidFill>
                <a:latin typeface="黑体" panose="02010609060101010101" pitchFamily="49" charset="-122"/>
                <a:ea typeface="黑体" panose="02010609060101010101" pitchFamily="49" charset="-122"/>
                <a:cs typeface="黑体" panose="02010609060101010101" pitchFamily="49" charset="-122"/>
              </a:rPr>
              <a:t>逐条</a:t>
            </a:r>
            <a:r>
              <a:rPr lang="zh-CN" altLang="en-US" sz="2600" dirty="0">
                <a:latin typeface="黑体" panose="02010609060101010101" pitchFamily="49" charset="-122"/>
                <a:ea typeface="黑体" panose="02010609060101010101" pitchFamily="49" charset="-122"/>
                <a:cs typeface="黑体" panose="02010609060101010101" pitchFamily="49" charset="-122"/>
              </a:rPr>
              <a:t>意见的应对思想：</a:t>
            </a:r>
            <a:endParaRPr lang="en-US" altLang="zh-CN" sz="2600" dirty="0">
              <a:latin typeface="黑体" panose="02010609060101010101" pitchFamily="49" charset="-122"/>
              <a:ea typeface="黑体" panose="02010609060101010101" pitchFamily="49" charset="-122"/>
              <a:cs typeface="黑体" panose="02010609060101010101" pitchFamily="49" charset="-122"/>
            </a:endParaRPr>
          </a:p>
          <a:p>
            <a:pPr>
              <a:lnSpc>
                <a:spcPct val="170000"/>
              </a:lnSpc>
              <a:spcAft>
                <a:spcPct val="10000"/>
              </a:spcAft>
            </a:pPr>
            <a:r>
              <a:rPr lang="zh-CN" altLang="en-US" sz="2600" dirty="0">
                <a:latin typeface="source-serif-pro"/>
              </a:rPr>
              <a:t>优先</a:t>
            </a:r>
            <a:r>
              <a:rPr lang="zh-CN" altLang="en-US" sz="2600" b="0" i="0" dirty="0">
                <a:solidFill>
                  <a:srgbClr val="C00000"/>
                </a:solidFill>
                <a:effectLst/>
                <a:latin typeface="source-serif-pro"/>
              </a:rPr>
              <a:t>真诚</a:t>
            </a:r>
            <a:r>
              <a:rPr lang="zh-CN" altLang="en-US" sz="2600" b="0" i="0" dirty="0">
                <a:solidFill>
                  <a:srgbClr val="242424"/>
                </a:solidFill>
                <a:effectLst/>
                <a:latin typeface="source-serif-pro"/>
              </a:rPr>
              <a:t>地</a:t>
            </a:r>
            <a:r>
              <a:rPr lang="zh-CN" altLang="en-US" sz="2600" b="0" i="0" dirty="0">
                <a:solidFill>
                  <a:srgbClr val="C00000"/>
                </a:solidFill>
                <a:effectLst/>
                <a:latin typeface="source-serif-pro"/>
              </a:rPr>
              <a:t>努力采纳</a:t>
            </a:r>
            <a:r>
              <a:rPr lang="zh-CN" altLang="en-US" sz="2600" b="0" i="0" dirty="0">
                <a:solidFill>
                  <a:srgbClr val="242424"/>
                </a:solidFill>
                <a:effectLst/>
                <a:latin typeface="source-serif-pro"/>
              </a:rPr>
              <a:t>反馈并改进自己的工作，除非是实在是</a:t>
            </a:r>
            <a:r>
              <a:rPr lang="zh-CN" altLang="en-US" sz="2600" dirty="0">
                <a:latin typeface="黑体" panose="02010609060101010101" pitchFamily="49" charset="-122"/>
                <a:ea typeface="黑体" panose="02010609060101010101" pitchFamily="49" charset="-122"/>
                <a:cs typeface="黑体" panose="02010609060101010101" pitchFamily="49" charset="-122"/>
              </a:rPr>
              <a:t>不合理或者难以认同的意见才</a:t>
            </a:r>
            <a:r>
              <a:rPr lang="zh-CN" altLang="en-US" sz="2600" dirty="0">
                <a:solidFill>
                  <a:srgbClr val="C00000"/>
                </a:solidFill>
                <a:latin typeface="黑体" panose="02010609060101010101" pitchFamily="49" charset="-122"/>
                <a:ea typeface="黑体" panose="02010609060101010101" pitchFamily="49" charset="-122"/>
                <a:cs typeface="黑体" panose="02010609060101010101" pitchFamily="49" charset="-122"/>
              </a:rPr>
              <a:t>反驳</a:t>
            </a:r>
            <a:r>
              <a:rPr lang="zh-CN" altLang="en-US" sz="2600" dirty="0">
                <a:latin typeface="黑体" panose="02010609060101010101" pitchFamily="49" charset="-122"/>
                <a:ea typeface="黑体" panose="02010609060101010101" pitchFamily="49" charset="-122"/>
                <a:cs typeface="黑体" panose="02010609060101010101" pitchFamily="49" charset="-122"/>
              </a:rPr>
              <a:t>审稿人</a:t>
            </a:r>
          </a:p>
          <a:p>
            <a:pPr eaLnBrk="1" hangingPunct="1">
              <a:lnSpc>
                <a:spcPct val="170000"/>
              </a:lnSpc>
              <a:spcAft>
                <a:spcPct val="10000"/>
              </a:spcAft>
            </a:pPr>
            <a:r>
              <a:rPr kumimoji="1" lang="zh-CN" altLang="en-US" sz="2600" dirty="0"/>
              <a:t>合并相似的问题，统一进行回复（尤其对于</a:t>
            </a:r>
            <a:r>
              <a:rPr kumimoji="1" lang="en-US" altLang="zh-CN" sz="2600" dirty="0"/>
              <a:t>Rebuttal</a:t>
            </a:r>
            <a:r>
              <a:rPr kumimoji="1" lang="zh-CN" altLang="en-US" sz="2600" dirty="0"/>
              <a:t>有篇幅限制的情况），如两个审稿人都对实验设计有疑问</a:t>
            </a:r>
            <a:endParaRPr kumimoji="1" lang="en-US" altLang="zh-CN" sz="2600" dirty="0"/>
          </a:p>
          <a:p>
            <a:pPr eaLnBrk="1" hangingPunct="1">
              <a:lnSpc>
                <a:spcPct val="170000"/>
              </a:lnSpc>
              <a:spcAft>
                <a:spcPct val="10000"/>
              </a:spcAft>
            </a:pPr>
            <a:r>
              <a:rPr kumimoji="1" lang="zh-CN" altLang="en-US" sz="2600" dirty="0"/>
              <a:t>不要害怕强调，如</a:t>
            </a:r>
            <a:r>
              <a:rPr lang="zh-CN" altLang="en-US" sz="2600" b="0" i="0" dirty="0">
                <a:solidFill>
                  <a:srgbClr val="242424"/>
                </a:solidFill>
                <a:effectLst/>
                <a:latin typeface="source-serif-pro"/>
              </a:rPr>
              <a:t>“在论文表 </a:t>
            </a:r>
            <a:r>
              <a:rPr lang="en-US" altLang="zh-CN" sz="2600" b="0" i="0" dirty="0">
                <a:solidFill>
                  <a:srgbClr val="242424"/>
                </a:solidFill>
                <a:effectLst/>
                <a:latin typeface="source-serif-pro"/>
              </a:rPr>
              <a:t>4 </a:t>
            </a:r>
            <a:r>
              <a:rPr lang="zh-CN" altLang="en-US" sz="2600" b="0" i="0" dirty="0">
                <a:solidFill>
                  <a:srgbClr val="242424"/>
                </a:solidFill>
                <a:effectLst/>
                <a:latin typeface="source-serif-pro"/>
              </a:rPr>
              <a:t>的第 </a:t>
            </a:r>
            <a:r>
              <a:rPr lang="en-US" altLang="zh-CN" sz="2600" b="0" i="0" dirty="0">
                <a:solidFill>
                  <a:srgbClr val="242424"/>
                </a:solidFill>
                <a:effectLst/>
                <a:latin typeface="source-serif-pro"/>
              </a:rPr>
              <a:t>2 </a:t>
            </a:r>
            <a:r>
              <a:rPr lang="zh-CN" altLang="en-US" sz="2600" b="0" i="0" dirty="0">
                <a:solidFill>
                  <a:srgbClr val="242424"/>
                </a:solidFill>
                <a:effectLst/>
                <a:latin typeface="source-serif-pro"/>
              </a:rPr>
              <a:t>行正好显示了这一点。”</a:t>
            </a:r>
            <a:endParaRPr kumimoji="1" lang="en-US" altLang="zh-CN" sz="2600" dirty="0"/>
          </a:p>
        </p:txBody>
      </p:sp>
      <p:sp>
        <p:nvSpPr>
          <p:cNvPr id="4" name="灯片编号占位符 3">
            <a:extLst>
              <a:ext uri="{FF2B5EF4-FFF2-40B4-BE49-F238E27FC236}">
                <a16:creationId xmlns:a16="http://schemas.microsoft.com/office/drawing/2014/main" id="{4170856A-62D2-34C6-CD4A-C10369A7F9A1}"/>
              </a:ext>
            </a:extLst>
          </p:cNvPr>
          <p:cNvSpPr>
            <a:spLocks noGrp="1"/>
          </p:cNvSpPr>
          <p:nvPr>
            <p:ph type="sldNum" sz="quarter" idx="12"/>
          </p:nvPr>
        </p:nvSpPr>
        <p:spPr/>
        <p:txBody>
          <a:bodyPr/>
          <a:lstStyle/>
          <a:p>
            <a:pPr algn="r"/>
            <a:fld id="{CBD803B2-A378-42BD-B5EC-F7748F169FE0}" type="slidenum">
              <a:rPr lang="en-US" altLang="zh-CN" smtClean="0"/>
              <a:t>32</a:t>
            </a:fld>
            <a:endParaRPr lang="zh-CN" altLang="en-US" dirty="0"/>
          </a:p>
        </p:txBody>
      </p:sp>
    </p:spTree>
    <p:extLst>
      <p:ext uri="{BB962C8B-B14F-4D97-AF65-F5344CB8AC3E}">
        <p14:creationId xmlns:p14="http://schemas.microsoft.com/office/powerpoint/2010/main" val="1139487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2106C-C1AB-7689-77EE-A72B4DBAC1DF}"/>
              </a:ext>
            </a:extLst>
          </p:cNvPr>
          <p:cNvSpPr>
            <a:spLocks noGrp="1"/>
          </p:cNvSpPr>
          <p:nvPr>
            <p:ph type="title"/>
          </p:nvPr>
        </p:nvSpPr>
        <p:spPr/>
        <p:txBody>
          <a:bodyPr/>
          <a:lstStyle/>
          <a:p>
            <a:r>
              <a:rPr kumimoji="1" lang="en-US" altLang="zh-CN" dirty="0"/>
              <a:t>Rebuttal</a:t>
            </a:r>
            <a:r>
              <a:rPr kumimoji="1" lang="zh-CN" altLang="en-US" dirty="0"/>
              <a:t>写作</a:t>
            </a:r>
          </a:p>
        </p:txBody>
      </p:sp>
      <p:sp>
        <p:nvSpPr>
          <p:cNvPr id="3" name="内容占位符 2">
            <a:extLst>
              <a:ext uri="{FF2B5EF4-FFF2-40B4-BE49-F238E27FC236}">
                <a16:creationId xmlns:a16="http://schemas.microsoft.com/office/drawing/2014/main" id="{F952B5C9-9FB0-04FC-207C-6C6C28BF8927}"/>
              </a:ext>
            </a:extLst>
          </p:cNvPr>
          <p:cNvSpPr>
            <a:spLocks noGrp="1"/>
          </p:cNvSpPr>
          <p:nvPr>
            <p:ph idx="1"/>
          </p:nvPr>
        </p:nvSpPr>
        <p:spPr>
          <a:xfrm>
            <a:off x="479376" y="908720"/>
            <a:ext cx="11103024" cy="5746650"/>
          </a:xfrm>
        </p:spPr>
        <p:txBody>
          <a:bodyPr>
            <a:normAutofit fontScale="92500"/>
          </a:bodyPr>
          <a:lstStyle/>
          <a:p>
            <a:pPr marL="0" indent="0" eaLnBrk="1" hangingPunct="1">
              <a:lnSpc>
                <a:spcPct val="170000"/>
              </a:lnSpc>
              <a:spcAft>
                <a:spcPct val="10000"/>
              </a:spcAft>
              <a:buNone/>
            </a:pPr>
            <a:r>
              <a:rPr kumimoji="1" lang="zh-CN" altLang="en-US" dirty="0"/>
              <a:t>具体写作时注意：</a:t>
            </a:r>
            <a:endParaRPr kumimoji="1" lang="en-US" altLang="zh-CN" dirty="0"/>
          </a:p>
          <a:p>
            <a:pPr>
              <a:lnSpc>
                <a:spcPct val="170000"/>
              </a:lnSpc>
              <a:spcAft>
                <a:spcPct val="10000"/>
              </a:spcAft>
            </a:pPr>
            <a:r>
              <a:rPr kumimoji="1" lang="zh-CN" altLang="en-US" dirty="0">
                <a:solidFill>
                  <a:srgbClr val="C00000"/>
                </a:solidFill>
              </a:rPr>
              <a:t>认可审稿人的努力：</a:t>
            </a:r>
            <a:r>
              <a:rPr kumimoji="1" lang="zh-CN" altLang="en-US" dirty="0"/>
              <a:t>相关工作的指引？谢谢。关于未来工作的详细思考？谢谢。错别字清单？谢谢。加上简短的文字认可！</a:t>
            </a:r>
            <a:endParaRPr kumimoji="1" lang="en-US" altLang="zh-CN" dirty="0"/>
          </a:p>
          <a:p>
            <a:pPr>
              <a:lnSpc>
                <a:spcPct val="170000"/>
              </a:lnSpc>
              <a:spcAft>
                <a:spcPct val="10000"/>
              </a:spcAft>
            </a:pPr>
            <a:r>
              <a:rPr kumimoji="1" lang="zh-CN" altLang="en-US" dirty="0">
                <a:solidFill>
                  <a:srgbClr val="C00000"/>
                </a:solidFill>
              </a:rPr>
              <a:t>保持内容自包含</a:t>
            </a:r>
            <a:r>
              <a:rPr kumimoji="1" lang="zh-CN" altLang="en-US" dirty="0"/>
              <a:t>：假设评审专家们对你的论文记忆不多，而且他们很可能不会再次详细阅读。</a:t>
            </a:r>
            <a:r>
              <a:rPr kumimoji="1" lang="zh-CN" altLang="en-US" dirty="0">
                <a:solidFill>
                  <a:srgbClr val="C00000"/>
                </a:solidFill>
              </a:rPr>
              <a:t>重新强调</a:t>
            </a:r>
            <a:r>
              <a:rPr kumimoji="1" lang="zh-CN" altLang="en-US" dirty="0"/>
              <a:t>动机和创新，说明实验设置的要点。</a:t>
            </a:r>
            <a:endParaRPr kumimoji="1" lang="en-US" altLang="zh-CN" dirty="0"/>
          </a:p>
          <a:p>
            <a:pPr eaLnBrk="1" hangingPunct="1">
              <a:lnSpc>
                <a:spcPct val="170000"/>
              </a:lnSpc>
              <a:spcAft>
                <a:spcPct val="10000"/>
              </a:spcAft>
            </a:pPr>
            <a:r>
              <a:rPr kumimoji="1" lang="zh-CN" altLang="en-US" dirty="0"/>
              <a:t>反复确认是否</a:t>
            </a:r>
            <a:r>
              <a:rPr kumimoji="1" lang="zh-CN" altLang="en-US" dirty="0">
                <a:solidFill>
                  <a:srgbClr val="C00000"/>
                </a:solidFill>
              </a:rPr>
              <a:t>能</a:t>
            </a:r>
            <a:r>
              <a:rPr kumimoji="1" lang="en-US" altLang="zh-CN" dirty="0">
                <a:solidFill>
                  <a:srgbClr val="C00000"/>
                </a:solidFill>
              </a:rPr>
              <a:t>convince</a:t>
            </a:r>
            <a:r>
              <a:rPr lang="zh-CN" altLang="en-US" sz="2800" dirty="0">
                <a:latin typeface="黑体" panose="02010609060101010101" pitchFamily="49" charset="-122"/>
                <a:ea typeface="黑体" panose="02010609060101010101" pitchFamily="49" charset="-122"/>
                <a:cs typeface="黑体" panose="02010609060101010101" pitchFamily="49" charset="-122"/>
              </a:rPr>
              <a:t>审稿人</a:t>
            </a:r>
            <a:r>
              <a:rPr kumimoji="1" lang="zh-CN" altLang="en-US" sz="2800" dirty="0">
                <a:latin typeface="黑体" panose="02010609060101010101" pitchFamily="49" charset="-122"/>
                <a:ea typeface="黑体" panose="02010609060101010101" pitchFamily="49" charset="-122"/>
                <a:cs typeface="黑体" panose="02010609060101010101" pitchFamily="49" charset="-122"/>
              </a:rPr>
              <a:t>；</a:t>
            </a:r>
            <a:r>
              <a:rPr lang="zh-CN" altLang="en-US" b="0" i="0" dirty="0">
                <a:solidFill>
                  <a:srgbClr val="242424"/>
                </a:solidFill>
                <a:effectLst/>
                <a:latin typeface="source-serif-pro"/>
              </a:rPr>
              <a:t>一个中立第三方是否仅根据你的反驳就能判断是否解决了评审者的担忧</a:t>
            </a:r>
            <a:endParaRPr kumimoji="1" lang="zh-CN" altLang="en-US" dirty="0"/>
          </a:p>
        </p:txBody>
      </p:sp>
      <p:sp>
        <p:nvSpPr>
          <p:cNvPr id="4" name="灯片编号占位符 3">
            <a:extLst>
              <a:ext uri="{FF2B5EF4-FFF2-40B4-BE49-F238E27FC236}">
                <a16:creationId xmlns:a16="http://schemas.microsoft.com/office/drawing/2014/main" id="{4170856A-62D2-34C6-CD4A-C10369A7F9A1}"/>
              </a:ext>
            </a:extLst>
          </p:cNvPr>
          <p:cNvSpPr>
            <a:spLocks noGrp="1"/>
          </p:cNvSpPr>
          <p:nvPr>
            <p:ph type="sldNum" sz="quarter" idx="12"/>
          </p:nvPr>
        </p:nvSpPr>
        <p:spPr/>
        <p:txBody>
          <a:bodyPr/>
          <a:lstStyle/>
          <a:p>
            <a:pPr algn="r"/>
            <a:fld id="{CBD803B2-A378-42BD-B5EC-F7748F169FE0}" type="slidenum">
              <a:rPr lang="en-US" altLang="zh-CN" smtClean="0"/>
              <a:t>33</a:t>
            </a:fld>
            <a:endParaRPr lang="zh-CN" altLang="en-US" dirty="0"/>
          </a:p>
        </p:txBody>
      </p:sp>
      <p:sp>
        <p:nvSpPr>
          <p:cNvPr id="6" name="文本框 5">
            <a:extLst>
              <a:ext uri="{FF2B5EF4-FFF2-40B4-BE49-F238E27FC236}">
                <a16:creationId xmlns:a16="http://schemas.microsoft.com/office/drawing/2014/main" id="{92FCC5B5-9F6E-ECB6-2A3B-E150034DE898}"/>
              </a:ext>
            </a:extLst>
          </p:cNvPr>
          <p:cNvSpPr txBox="1"/>
          <p:nvPr/>
        </p:nvSpPr>
        <p:spPr>
          <a:xfrm>
            <a:off x="95072" y="6423287"/>
            <a:ext cx="9241288" cy="369332"/>
          </a:xfrm>
          <a:prstGeom prst="rect">
            <a:avLst/>
          </a:prstGeom>
          <a:noFill/>
        </p:spPr>
        <p:txBody>
          <a:bodyPr wrap="square">
            <a:spAutoFit/>
          </a:bodyPr>
          <a:lstStyle/>
          <a:p>
            <a:r>
              <a:rPr lang="zh-CN" altLang="en-US" dirty="0"/>
              <a:t>https://deviparikh.medium.com/how-we-write-rebuttals-dc84742fece1</a:t>
            </a:r>
          </a:p>
        </p:txBody>
      </p:sp>
    </p:spTree>
    <p:extLst>
      <p:ext uri="{BB962C8B-B14F-4D97-AF65-F5344CB8AC3E}">
        <p14:creationId xmlns:p14="http://schemas.microsoft.com/office/powerpoint/2010/main" val="6931174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2106C-C1AB-7689-77EE-A72B4DBAC1DF}"/>
              </a:ext>
            </a:extLst>
          </p:cNvPr>
          <p:cNvSpPr>
            <a:spLocks noGrp="1"/>
          </p:cNvSpPr>
          <p:nvPr>
            <p:ph type="title"/>
          </p:nvPr>
        </p:nvSpPr>
        <p:spPr/>
        <p:txBody>
          <a:bodyPr/>
          <a:lstStyle/>
          <a:p>
            <a:r>
              <a:rPr kumimoji="1" lang="en-US" altLang="zh-CN" dirty="0"/>
              <a:t>Rebuttal</a:t>
            </a:r>
            <a:r>
              <a:rPr kumimoji="1" lang="zh-CN" altLang="en-US" dirty="0"/>
              <a:t>大招</a:t>
            </a:r>
          </a:p>
        </p:txBody>
      </p:sp>
      <p:sp>
        <p:nvSpPr>
          <p:cNvPr id="3" name="内容占位符 2">
            <a:extLst>
              <a:ext uri="{FF2B5EF4-FFF2-40B4-BE49-F238E27FC236}">
                <a16:creationId xmlns:a16="http://schemas.microsoft.com/office/drawing/2014/main" id="{F952B5C9-9FB0-04FC-207C-6C6C28BF8927}"/>
              </a:ext>
            </a:extLst>
          </p:cNvPr>
          <p:cNvSpPr>
            <a:spLocks noGrp="1"/>
          </p:cNvSpPr>
          <p:nvPr>
            <p:ph idx="1"/>
          </p:nvPr>
        </p:nvSpPr>
        <p:spPr/>
        <p:txBody>
          <a:bodyPr/>
          <a:lstStyle/>
          <a:p>
            <a:pPr marL="0" indent="0">
              <a:lnSpc>
                <a:spcPct val="170000"/>
              </a:lnSpc>
              <a:spcAft>
                <a:spcPct val="10000"/>
              </a:spcAft>
              <a:buNone/>
            </a:pPr>
            <a:r>
              <a:rPr lang="zh-CN" altLang="en-US" b="1" dirty="0">
                <a:solidFill>
                  <a:srgbClr val="C00000"/>
                </a:solidFill>
                <a:latin typeface="source-serif-pro"/>
              </a:rPr>
              <a:t>向</a:t>
            </a:r>
            <a:r>
              <a:rPr lang="en-US" altLang="zh-CN" b="1" dirty="0">
                <a:solidFill>
                  <a:srgbClr val="C00000"/>
                </a:solidFill>
                <a:latin typeface="source-serif-pro"/>
              </a:rPr>
              <a:t>AC</a:t>
            </a:r>
            <a:r>
              <a:rPr lang="zh-CN" altLang="en-US" b="1" dirty="0">
                <a:solidFill>
                  <a:srgbClr val="C00000"/>
                </a:solidFill>
                <a:latin typeface="source-serif-pro"/>
              </a:rPr>
              <a:t>或编辑</a:t>
            </a:r>
            <a:r>
              <a:rPr lang="zh-CN" altLang="en-US" b="1" i="0" dirty="0">
                <a:solidFill>
                  <a:srgbClr val="C00000"/>
                </a:solidFill>
                <a:effectLst/>
                <a:latin typeface="source-serif-pro"/>
              </a:rPr>
              <a:t>写信</a:t>
            </a:r>
            <a:r>
              <a:rPr lang="zh-CN" altLang="en-US" dirty="0">
                <a:solidFill>
                  <a:srgbClr val="242424"/>
                </a:solidFill>
                <a:latin typeface="source-serif-pro"/>
              </a:rPr>
              <a:t>：指出</a:t>
            </a:r>
            <a:r>
              <a:rPr lang="zh-CN" altLang="en-US" b="0" i="0" dirty="0">
                <a:solidFill>
                  <a:srgbClr val="242424"/>
                </a:solidFill>
                <a:effectLst/>
                <a:latin typeface="source-serif-pro"/>
              </a:rPr>
              <a:t>恶意审稿行为，并最终帮助他们做出决定。</a:t>
            </a:r>
            <a:endParaRPr lang="en-US" altLang="zh-CN" b="0" i="0" dirty="0">
              <a:solidFill>
                <a:srgbClr val="242424"/>
              </a:solidFill>
              <a:effectLst/>
              <a:latin typeface="source-serif-pro"/>
            </a:endParaRPr>
          </a:p>
          <a:p>
            <a:pPr>
              <a:lnSpc>
                <a:spcPct val="170000"/>
              </a:lnSpc>
              <a:spcAft>
                <a:spcPct val="10000"/>
              </a:spcAft>
            </a:pPr>
            <a:r>
              <a:rPr kumimoji="1" lang="zh-CN" altLang="en-US" dirty="0"/>
              <a:t>某个审稿人完全没有理解方法，提出了不专业的意见</a:t>
            </a:r>
            <a:endParaRPr kumimoji="1" lang="en-US" altLang="zh-CN" dirty="0"/>
          </a:p>
          <a:p>
            <a:pPr>
              <a:lnSpc>
                <a:spcPct val="170000"/>
              </a:lnSpc>
              <a:spcAft>
                <a:spcPct val="10000"/>
              </a:spcAft>
            </a:pPr>
            <a:r>
              <a:rPr kumimoji="1" lang="zh-CN" altLang="en-US" dirty="0"/>
              <a:t>极其带有个人偏见的审稿意见</a:t>
            </a:r>
            <a:endParaRPr kumimoji="1" lang="en-US" altLang="zh-CN" dirty="0"/>
          </a:p>
          <a:p>
            <a:pPr>
              <a:lnSpc>
                <a:spcPct val="170000"/>
              </a:lnSpc>
              <a:spcAft>
                <a:spcPct val="10000"/>
              </a:spcAft>
            </a:pPr>
            <a:r>
              <a:rPr kumimoji="1" lang="zh-CN" altLang="en-US" dirty="0"/>
              <a:t>明显的</a:t>
            </a:r>
            <a:r>
              <a:rPr kumimoji="1" lang="en-US" altLang="zh-CN" dirty="0"/>
              <a:t>AI</a:t>
            </a:r>
            <a:r>
              <a:rPr kumimoji="1" lang="zh-CN" altLang="en-US" dirty="0"/>
              <a:t>回复</a:t>
            </a:r>
          </a:p>
        </p:txBody>
      </p:sp>
      <p:sp>
        <p:nvSpPr>
          <p:cNvPr id="4" name="灯片编号占位符 3">
            <a:extLst>
              <a:ext uri="{FF2B5EF4-FFF2-40B4-BE49-F238E27FC236}">
                <a16:creationId xmlns:a16="http://schemas.microsoft.com/office/drawing/2014/main" id="{4170856A-62D2-34C6-CD4A-C10369A7F9A1}"/>
              </a:ext>
            </a:extLst>
          </p:cNvPr>
          <p:cNvSpPr>
            <a:spLocks noGrp="1"/>
          </p:cNvSpPr>
          <p:nvPr>
            <p:ph type="sldNum" sz="quarter" idx="12"/>
          </p:nvPr>
        </p:nvSpPr>
        <p:spPr/>
        <p:txBody>
          <a:bodyPr/>
          <a:lstStyle/>
          <a:p>
            <a:pPr algn="r"/>
            <a:fld id="{CBD803B2-A378-42BD-B5EC-F7748F169FE0}" type="slidenum">
              <a:rPr lang="en-US" altLang="zh-CN" smtClean="0"/>
              <a:t>34</a:t>
            </a:fld>
            <a:endParaRPr lang="zh-CN" altLang="en-US" dirty="0"/>
          </a:p>
        </p:txBody>
      </p:sp>
      <p:pic>
        <p:nvPicPr>
          <p:cNvPr id="6" name="图片 5">
            <a:extLst>
              <a:ext uri="{FF2B5EF4-FFF2-40B4-BE49-F238E27FC236}">
                <a16:creationId xmlns:a16="http://schemas.microsoft.com/office/drawing/2014/main" id="{4F8AFCF4-56BC-FD8C-D6EA-DF9A11745FCC}"/>
              </a:ext>
            </a:extLst>
          </p:cNvPr>
          <p:cNvPicPr>
            <a:picLocks noChangeAspect="1"/>
          </p:cNvPicPr>
          <p:nvPr/>
        </p:nvPicPr>
        <p:blipFill rotWithShape="1">
          <a:blip r:embed="rId2">
            <a:extLst>
              <a:ext uri="{28A0092B-C50C-407E-A947-70E740481C1C}">
                <a14:useLocalDpi xmlns:a14="http://schemas.microsoft.com/office/drawing/2010/main" val="0"/>
              </a:ext>
            </a:extLst>
          </a:blip>
          <a:srcRect r="24541" b="14027"/>
          <a:stretch/>
        </p:blipFill>
        <p:spPr>
          <a:xfrm>
            <a:off x="3431704" y="3861049"/>
            <a:ext cx="8760296" cy="2996952"/>
          </a:xfrm>
          <a:prstGeom prst="rect">
            <a:avLst/>
          </a:prstGeom>
        </p:spPr>
      </p:pic>
    </p:spTree>
    <p:extLst>
      <p:ext uri="{BB962C8B-B14F-4D97-AF65-F5344CB8AC3E}">
        <p14:creationId xmlns:p14="http://schemas.microsoft.com/office/powerpoint/2010/main" val="40566230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6BBC36-BDFC-8BEF-E59A-4DEFD8B436F6}"/>
              </a:ext>
            </a:extLst>
          </p:cNvPr>
          <p:cNvSpPr>
            <a:spLocks noGrp="1"/>
          </p:cNvSpPr>
          <p:nvPr>
            <p:ph type="title"/>
          </p:nvPr>
        </p:nvSpPr>
        <p:spPr/>
        <p:txBody>
          <a:bodyPr/>
          <a:lstStyle/>
          <a:p>
            <a:r>
              <a:rPr kumimoji="1" lang="zh-CN" altLang="en-US" dirty="0"/>
              <a:t>期刊论文如何回复</a:t>
            </a:r>
          </a:p>
        </p:txBody>
      </p:sp>
      <p:sp>
        <p:nvSpPr>
          <p:cNvPr id="3" name="内容占位符 2">
            <a:extLst>
              <a:ext uri="{FF2B5EF4-FFF2-40B4-BE49-F238E27FC236}">
                <a16:creationId xmlns:a16="http://schemas.microsoft.com/office/drawing/2014/main" id="{65EF4C33-4167-87A5-A6F2-E5FF69153A71}"/>
              </a:ext>
            </a:extLst>
          </p:cNvPr>
          <p:cNvSpPr>
            <a:spLocks noGrp="1"/>
          </p:cNvSpPr>
          <p:nvPr>
            <p:ph idx="1"/>
          </p:nvPr>
        </p:nvSpPr>
        <p:spPr/>
        <p:txBody>
          <a:bodyPr/>
          <a:lstStyle/>
          <a:p>
            <a:pPr marL="0" indent="0">
              <a:buNone/>
            </a:pPr>
            <a:r>
              <a:rPr kumimoji="1" lang="zh-CN" altLang="en-US" dirty="0"/>
              <a:t>与会议不同的是：</a:t>
            </a:r>
            <a:endParaRPr kumimoji="1" lang="en-US" altLang="zh-CN" dirty="0"/>
          </a:p>
          <a:p>
            <a:r>
              <a:rPr kumimoji="1" lang="zh-CN" altLang="en-US" dirty="0"/>
              <a:t>期刊需要作者在回复的同时，提供</a:t>
            </a:r>
            <a:r>
              <a:rPr kumimoji="1" lang="zh-CN" altLang="en-US" dirty="0">
                <a:solidFill>
                  <a:srgbClr val="C00000"/>
                </a:solidFill>
              </a:rPr>
              <a:t>修改过的论文</a:t>
            </a:r>
            <a:r>
              <a:rPr kumimoji="1" lang="zh-CN" altLang="en-US" dirty="0"/>
              <a:t>供审稿人进行下一轮评审</a:t>
            </a:r>
            <a:endParaRPr kumimoji="1" lang="en-US" altLang="zh-CN" dirty="0"/>
          </a:p>
          <a:p>
            <a:r>
              <a:rPr kumimoji="1" lang="zh-CN" altLang="en-US" dirty="0"/>
              <a:t>在回复中需要包含一个详尽的</a:t>
            </a:r>
            <a:r>
              <a:rPr kumimoji="1" lang="en-US" altLang="zh-CN" dirty="0">
                <a:solidFill>
                  <a:srgbClr val="C00000"/>
                </a:solidFill>
              </a:rPr>
              <a:t>revision list</a:t>
            </a:r>
            <a:r>
              <a:rPr kumimoji="1" lang="zh-CN" altLang="en-US" dirty="0"/>
              <a:t>来对每位审稿人的意见逐条进行</a:t>
            </a:r>
            <a:r>
              <a:rPr kumimoji="1" lang="en-US" altLang="zh-CN" dirty="0"/>
              <a:t>response</a:t>
            </a:r>
            <a:r>
              <a:rPr kumimoji="1" lang="zh-CN" altLang="en-US" dirty="0"/>
              <a:t>和</a:t>
            </a:r>
            <a:r>
              <a:rPr kumimoji="1" lang="en-US" altLang="zh-CN" dirty="0"/>
              <a:t>rebuttal</a:t>
            </a:r>
            <a:r>
              <a:rPr kumimoji="1" lang="zh-CN" altLang="en-US" dirty="0"/>
              <a:t>，讲明白对论文做了什么修改</a:t>
            </a:r>
            <a:endParaRPr kumimoji="1" lang="en-US" altLang="zh-CN" dirty="0"/>
          </a:p>
          <a:p>
            <a:r>
              <a:rPr lang="zh-CN" altLang="en-US" b="0" i="0" dirty="0">
                <a:solidFill>
                  <a:srgbClr val="121212"/>
                </a:solidFill>
                <a:effectLst/>
                <a:latin typeface="-apple-system"/>
              </a:rPr>
              <a:t>期刊论文的</a:t>
            </a:r>
            <a:r>
              <a:rPr kumimoji="1" lang="en-US" altLang="zh-CN" dirty="0"/>
              <a:t>rebuttal</a:t>
            </a:r>
            <a:r>
              <a:rPr kumimoji="1" lang="zh-CN" altLang="en-US" dirty="0"/>
              <a:t>过程</a:t>
            </a:r>
            <a:r>
              <a:rPr lang="zh-CN" altLang="en-US" b="0" i="0" dirty="0">
                <a:solidFill>
                  <a:srgbClr val="121212"/>
                </a:solidFill>
                <a:effectLst/>
                <a:latin typeface="-apple-system"/>
              </a:rPr>
              <a:t>可以反复多次</a:t>
            </a:r>
            <a:endParaRPr kumimoji="1" lang="zh-CN" altLang="en-US" dirty="0"/>
          </a:p>
        </p:txBody>
      </p:sp>
      <p:sp>
        <p:nvSpPr>
          <p:cNvPr id="4" name="灯片编号占位符 3">
            <a:extLst>
              <a:ext uri="{FF2B5EF4-FFF2-40B4-BE49-F238E27FC236}">
                <a16:creationId xmlns:a16="http://schemas.microsoft.com/office/drawing/2014/main" id="{FAA5B64B-ECD1-4A6F-F442-485C80E8F2F9}"/>
              </a:ext>
            </a:extLst>
          </p:cNvPr>
          <p:cNvSpPr>
            <a:spLocks noGrp="1"/>
          </p:cNvSpPr>
          <p:nvPr>
            <p:ph type="sldNum" sz="quarter" idx="12"/>
          </p:nvPr>
        </p:nvSpPr>
        <p:spPr/>
        <p:txBody>
          <a:bodyPr/>
          <a:lstStyle/>
          <a:p>
            <a:pPr algn="r"/>
            <a:fld id="{CBD803B2-A378-42BD-B5EC-F7748F169FE0}" type="slidenum">
              <a:rPr lang="en-US" altLang="zh-CN" smtClean="0"/>
              <a:t>35</a:t>
            </a:fld>
            <a:endParaRPr lang="zh-CN" altLang="en-US" dirty="0"/>
          </a:p>
        </p:txBody>
      </p:sp>
    </p:spTree>
    <p:extLst>
      <p:ext uri="{BB962C8B-B14F-4D97-AF65-F5344CB8AC3E}">
        <p14:creationId xmlns:p14="http://schemas.microsoft.com/office/powerpoint/2010/main" val="592416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93506" y="2139079"/>
            <a:ext cx="10004987" cy="1015663"/>
          </a:xfrm>
          <a:prstGeom prst="rect">
            <a:avLst/>
          </a:prstGeom>
        </p:spPr>
        <p:txBody>
          <a:bodyPr wrap="square">
            <a:spAutoFit/>
          </a:bodyPr>
          <a:lstStyle/>
          <a:p>
            <a:pPr algn="ctr"/>
            <a:r>
              <a:rPr kumimoji="1" lang="zh-CN" altLang="en-US" sz="6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感谢聆听，敬请指正！</a:t>
            </a:r>
            <a:endParaRPr kumimoji="1" lang="en-US" altLang="zh-CN" sz="6000" b="1" dirty="0">
              <a:solidFill>
                <a:srgbClr val="203864"/>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CBD803B2-A378-42BD-B5EC-F7748F169FE0}" type="slidenum">
              <a:rPr lang="en-US" altLang="zh-CN" smtClean="0"/>
              <a:t>36</a:t>
            </a:fld>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0835" y="124839"/>
            <a:ext cx="1331089" cy="1331089"/>
          </a:xfrm>
          <a:prstGeom prst="rect">
            <a:avLst/>
          </a:prstGeom>
        </p:spPr>
      </p:pic>
      <p:pic>
        <p:nvPicPr>
          <p:cNvPr id="13" name="图片 12" descr="图片包含 天空, 建筑物, 户外, 道路&#10;&#10;已生成极高可信度的说明"/>
          <p:cNvPicPr>
            <a:picLocks noChangeAspect="1"/>
          </p:cNvPicPr>
          <p:nvPr/>
        </p:nvPicPr>
        <p:blipFill rotWithShape="1">
          <a:blip r:embed="rId4">
            <a:duotone>
              <a:prstClr val="black"/>
              <a:schemeClr val="tx2">
                <a:tint val="45000"/>
                <a:satMod val="400000"/>
              </a:schemeClr>
            </a:duotone>
            <a:extLst>
              <a:ext uri="{28A0092B-C50C-407E-A947-70E740481C1C}">
                <a14:useLocalDpi xmlns:a14="http://schemas.microsoft.com/office/drawing/2010/main" val="0"/>
              </a:ext>
            </a:extLst>
          </a:blip>
          <a:srcRect t="14284" b="12793"/>
          <a:stretch>
            <a:fillRect/>
          </a:stretch>
        </p:blipFill>
        <p:spPr>
          <a:xfrm>
            <a:off x="0" y="4484225"/>
            <a:ext cx="12192000" cy="2372761"/>
          </a:xfrm>
          <a:prstGeom prst="rect">
            <a:avLst/>
          </a:prstGeom>
        </p:spPr>
      </p:pic>
      <p:sp>
        <p:nvSpPr>
          <p:cNvPr id="14" name="矩形 13"/>
          <p:cNvSpPr/>
          <p:nvPr/>
        </p:nvSpPr>
        <p:spPr bwMode="auto">
          <a:xfrm>
            <a:off x="0" y="4484225"/>
            <a:ext cx="12192000" cy="2360665"/>
          </a:xfrm>
          <a:prstGeom prst="rect">
            <a:avLst/>
          </a:prstGeom>
          <a:solidFill>
            <a:srgbClr val="04487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91440" algn="l" fontAlgn="auto">
              <a:spcBef>
                <a:spcPts val="0"/>
              </a:spcBef>
              <a:spcAft>
                <a:spcPts val="0"/>
              </a:spcAft>
              <a:defRPr/>
            </a:pPr>
            <a:endParaRPr lang="zh-CN" altLang="en-US" dirty="0">
              <a:solidFill>
                <a:srgbClr val="FFFFFF"/>
              </a:solidFill>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b8488d6-013d-4f79-b99c-07d6bdc768d8"/>
  <p:tag name="COMMONDATA" val="eyJoZGlkIjoiNTVlZmI5NWM4MTA1NmIyYjhiNmEzMGRhODMxNjEyMjI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37370b75-e22c-4efd-bf43-2e5cef3c56d1}"/>
  <p:tag name="TABLE_ENDDRAG_ORIGIN_RECT" val="816*395"/>
  <p:tag name="TABLE_ENDDRAG_RECT" val="68*100*816*39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7221</TotalTime>
  <Words>1856</Words>
  <Application>Microsoft Macintosh PowerPoint</Application>
  <PresentationFormat>宽屏</PresentationFormat>
  <Paragraphs>231</Paragraphs>
  <Slides>36</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36</vt:i4>
      </vt:variant>
    </vt:vector>
  </HeadingPairs>
  <TitlesOfParts>
    <vt:vector size="48" baseType="lpstr">
      <vt:lpstr>-apple-system</vt:lpstr>
      <vt:lpstr>等线</vt:lpstr>
      <vt:lpstr>黑体</vt:lpstr>
      <vt:lpstr>微软雅黑</vt:lpstr>
      <vt:lpstr>source-serif-pro</vt:lpstr>
      <vt:lpstr>Arial</vt:lpstr>
      <vt:lpstr>Calibri</vt:lpstr>
      <vt:lpstr>Cambria</vt:lpstr>
      <vt:lpstr>Segoe Print</vt:lpstr>
      <vt:lpstr>Times New Roman</vt:lpstr>
      <vt:lpstr>Wingdings</vt:lpstr>
      <vt:lpstr>Office 主题</vt:lpstr>
      <vt:lpstr>学术论文之投稿流程与Rebuttal</vt:lpstr>
      <vt:lpstr>（回顾）AI领域主要会议及期刊</vt:lpstr>
      <vt:lpstr> （回顾）AI领域主要会议及期刊</vt:lpstr>
      <vt:lpstr> （回顾）投稿会议之前需要了解什么？</vt:lpstr>
      <vt:lpstr> Open Access</vt:lpstr>
      <vt:lpstr> 投稿期刊之前需要了解什么？</vt:lpstr>
      <vt:lpstr> Open Access</vt:lpstr>
      <vt:lpstr> 投稿信写作（cover letter）</vt:lpstr>
      <vt:lpstr> 投稿信写作（cover letter）</vt:lpstr>
      <vt:lpstr> 会议审稿流程</vt:lpstr>
      <vt:lpstr> 期刊审稿流程</vt:lpstr>
      <vt:lpstr>期刊审稿流程</vt:lpstr>
      <vt:lpstr> （回顾）学术论文写作过程——批判性修改</vt:lpstr>
      <vt:lpstr>审稿人意见主要来源于</vt:lpstr>
      <vt:lpstr>Rebuttal案例</vt:lpstr>
      <vt:lpstr>Rebuttal阶段——论文的审稿分数</vt:lpstr>
      <vt:lpstr>Rebuttal阶段——论文的审稿分数</vt:lpstr>
      <vt:lpstr>会议论文的审稿分数</vt:lpstr>
      <vt:lpstr>Rebuttal的重要性</vt:lpstr>
      <vt:lpstr> 如何Rebuttal？</vt:lpstr>
      <vt:lpstr> 如何Rebuttal？</vt:lpstr>
      <vt:lpstr>  如何Rebuttal？——分析意见</vt:lpstr>
      <vt:lpstr> 如何Rebuttal？——分析意见</vt:lpstr>
      <vt:lpstr>Rebuttal案例</vt:lpstr>
      <vt:lpstr>Rebuttal案例</vt:lpstr>
      <vt:lpstr>Rebuttal案例</vt:lpstr>
      <vt:lpstr>Rebuttal案例</vt:lpstr>
      <vt:lpstr>Rebuttal案例</vt:lpstr>
      <vt:lpstr>Rebuttal案例</vt:lpstr>
      <vt:lpstr>Rebuttal案例</vt:lpstr>
      <vt:lpstr>Rebuttal案例</vt:lpstr>
      <vt:lpstr>Rebuttal写作</vt:lpstr>
      <vt:lpstr>Rebuttal写作</vt:lpstr>
      <vt:lpstr>Rebuttal大招</vt:lpstr>
      <vt:lpstr>期刊论文如何回复</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Fei Gao</dc:creator>
  <cp:lastModifiedBy>Microsoft Office User</cp:lastModifiedBy>
  <cp:revision>1139</cp:revision>
  <dcterms:created xsi:type="dcterms:W3CDTF">2022-12-11T05:00:00Z</dcterms:created>
  <dcterms:modified xsi:type="dcterms:W3CDTF">2025-10-27T13:31:48Z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420D3A0B25728E146BFE55632B83E334</vt:lpwstr>
  </property>
  <property fmtid="{D5CDD505-2E9C-101B-9397-08002B2CF9AE}" pid="3" name="KSOProductBuildVer">
    <vt:lpwstr>2052-11.1.0.12763</vt:lpwstr>
  </property>
</Properties>
</file>