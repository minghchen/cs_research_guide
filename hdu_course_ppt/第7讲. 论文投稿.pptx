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419" r:id="rId4"/>
    <p:sldId id="420" r:id="rId5"/>
    <p:sldId id="421" r:id="rId6"/>
    <p:sldId id="422" r:id="rId7"/>
    <p:sldId id="425" r:id="rId8"/>
    <p:sldId id="426" r:id="rId9"/>
    <p:sldId id="423" r:id="rId10"/>
    <p:sldId id="424" r:id="rId11"/>
    <p:sldId id="433" r:id="rId12"/>
    <p:sldId id="430" r:id="rId13"/>
    <p:sldId id="432" r:id="rId14"/>
    <p:sldId id="475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0F0"/>
    <a:srgbClr val="F8F8F8"/>
    <a:srgbClr val="F1F1F1"/>
    <a:srgbClr val="B07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33" autoAdjust="0"/>
    <p:restoredTop sz="70575" autoAdjust="0"/>
  </p:normalViewPr>
  <p:slideViewPr>
    <p:cSldViewPr>
      <p:cViewPr varScale="1">
        <p:scale>
          <a:sx n="81" d="100"/>
          <a:sy n="81" d="100"/>
        </p:scale>
        <p:origin x="1072" y="176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C6822-2CF9-407B-97F6-B5C3F0D04FD0}" type="datetimeFigureOut">
              <a:rPr lang="zh-CN" altLang="en-US" smtClean="0"/>
              <a:t>2024/10/16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3BB54-13A4-4BBD-86B6-C67793120F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9359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F64D2-B46D-458F-8F5A-49B31CD8FEF4}" type="datetimeFigureOut">
              <a:rPr lang="zh-CN" altLang="en-US" smtClean="0"/>
              <a:t>2024/10/16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280D9-CCCD-4530-9608-C2BA9AEF1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965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899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本次报告的提纲如下，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20E77-9BE9-420C-B698-3E0ECA1FA4F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610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847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280D9-CCCD-4530-9608-C2BA9AEF16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167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38100" y="931863"/>
            <a:ext cx="3963988" cy="22304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以上是我汇报的全部内容，请各位专家指正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953BD76-09F8-4556-8F7F-1E413B4F017A}" type="datetime1">
              <a:rPr lang="en-US" altLang="zh-CN" smtClean="0"/>
              <a:t>10/16/24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Confidentiality Label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88AFD-C26B-478C-B2D8-3A933D69C9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10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0" y="2348881"/>
            <a:ext cx="12192000" cy="1470025"/>
          </a:xfr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>
                    <a:lumMod val="9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等线" panose="02010600030101010101" pitchFamily="2" charset="-122"/>
                <a:ea typeface="楷体" panose="02010609060101010101" pitchFamily="49" charset="-122"/>
                <a:cs typeface="Segoe Print" panose="02000600000000000000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828800" y="4038285"/>
            <a:ext cx="8534400" cy="1983003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Reporter</a:t>
            </a:r>
          </a:p>
          <a:p>
            <a:r>
              <a:rPr lang="en-US" altLang="zh-CN" dirty="0"/>
              <a:t>Hangzhou </a:t>
            </a:r>
            <a:r>
              <a:rPr lang="en-US" altLang="zh-CN" dirty="0" err="1"/>
              <a:t>Dianzi</a:t>
            </a:r>
            <a:r>
              <a:rPr lang="en-US" altLang="zh-CN" dirty="0"/>
              <a:t> University</a:t>
            </a:r>
          </a:p>
          <a:p>
            <a:r>
              <a:rPr lang="en-US" altLang="zh-CN" dirty="0"/>
              <a:t>Email: </a:t>
            </a:r>
          </a:p>
          <a:p>
            <a:r>
              <a:rPr lang="en-US" altLang="zh-CN" dirty="0"/>
              <a:t>http://camalab.hdu.edu.cn</a:t>
            </a:r>
            <a:endParaRPr lang="zh-CN" altLang="en-US" dirty="0"/>
          </a:p>
        </p:txBody>
      </p:sp>
      <p:sp>
        <p:nvSpPr>
          <p:cNvPr id="6" name="梯形 5"/>
          <p:cNvSpPr/>
          <p:nvPr userDrawn="1"/>
        </p:nvSpPr>
        <p:spPr>
          <a:xfrm rot="18949264">
            <a:off x="-555650" y="540832"/>
            <a:ext cx="2849619" cy="457480"/>
          </a:xfrm>
          <a:prstGeom prst="trapezoid">
            <a:avLst>
              <a:gd name="adj" fmla="val 946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+mj-ea"/>
                <a:ea typeface="+mj-ea"/>
              </a:rPr>
              <a:t>论文写作指导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4552" y="44624"/>
            <a:ext cx="1016177" cy="100811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0" y="202630"/>
            <a:ext cx="12192000" cy="562074"/>
          </a:xfrm>
          <a:noFill/>
          <a:ln>
            <a:noFill/>
          </a:ln>
        </p:spPr>
        <p:txBody>
          <a:bodyPr>
            <a:noAutofit/>
          </a:bodyPr>
          <a:lstStyle>
            <a:lvl1pPr marL="360045" algn="l">
              <a:defRPr sz="3600" b="1" baseline="0">
                <a:solidFill>
                  <a:schemeClr val="tx2">
                    <a:lumMod val="75000"/>
                  </a:schemeClr>
                </a:solidFill>
                <a:latin typeface="等线" panose="02010600030101010101" pitchFamily="2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79376" y="908720"/>
            <a:ext cx="11103024" cy="5328592"/>
          </a:xfrm>
        </p:spPr>
        <p:txBody>
          <a:bodyPr/>
          <a:lstStyle>
            <a:lvl1pPr>
              <a:defRPr b="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sz="240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sz="200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  <a:p>
            <a:pPr lvl="1"/>
            <a:r>
              <a:rPr lang="en-US" altLang="zh-CN" dirty="0"/>
              <a:t>First Level</a:t>
            </a:r>
            <a:endParaRPr lang="zh-CN" altLang="en-US" dirty="0"/>
          </a:p>
          <a:p>
            <a:pPr lvl="2"/>
            <a:r>
              <a:rPr lang="en-US" altLang="zh-CN" dirty="0"/>
              <a:t>Second Level</a:t>
            </a:r>
            <a:endParaRPr lang="zh-CN" altLang="en-US" dirty="0"/>
          </a:p>
          <a:p>
            <a:pPr lvl="3"/>
            <a:r>
              <a:rPr lang="en-US" altLang="zh-CN" dirty="0"/>
              <a:t>Third Level</a:t>
            </a:r>
            <a:endParaRPr lang="zh-CN" altLang="en-US" dirty="0"/>
          </a:p>
          <a:p>
            <a:pPr lvl="4"/>
            <a:r>
              <a:rPr lang="en-US" altLang="zh-CN" dirty="0"/>
              <a:t>Fourth Level</a:t>
            </a:r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79376" y="836712"/>
            <a:ext cx="1110302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96600" y="82361"/>
            <a:ext cx="615218" cy="610335"/>
          </a:xfrm>
          <a:prstGeom prst="rect">
            <a:avLst/>
          </a:prstGeom>
        </p:spPr>
      </p:pic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36360" y="638132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r"/>
            <a:fld id="{CBD803B2-A378-42BD-B5EC-F7748F169FE0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35635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BD803B2-A378-42BD-B5EC-F7748F169FE0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207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052736"/>
            <a:ext cx="109728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0" kern="1200">
          <a:solidFill>
            <a:schemeClr val="bg1"/>
          </a:solidFill>
          <a:latin typeface="Segoe Print" panose="02000600000000000000" charset="0"/>
          <a:ea typeface="宋体" panose="02010600030101010101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5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800" b="1" kern="1200">
          <a:solidFill>
            <a:srgbClr val="0070C0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1pPr>
      <a:lvl2pPr marL="742950" indent="-2857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Segoe Print" panose="02000600000000000000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147770737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2639781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310903"/>
            <a:ext cx="12192000" cy="1470025"/>
          </a:xfrm>
          <a:noFill/>
          <a:effectLst/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zh-CN" altLang="en-US" sz="5400" dirty="0">
                <a:solidFill>
                  <a:srgbClr val="002060"/>
                </a:solidFill>
                <a:effectLst/>
                <a:latin typeface="+mj-ea"/>
                <a:ea typeface="+mj-ea"/>
              </a:rPr>
              <a:t>第七讲：英文学术论文之投稿流程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75520" y="2780928"/>
            <a:ext cx="8534400" cy="1584175"/>
          </a:xfrm>
        </p:spPr>
        <p:txBody>
          <a:bodyPr/>
          <a:lstStyle/>
          <a:p>
            <a:r>
              <a:rPr lang="zh-CN" altLang="en-US" sz="4000" b="1" dirty="0">
                <a:latin typeface="+mn-lt"/>
                <a:ea typeface="楷体" panose="02010609060101010101" pitchFamily="49" charset="-122"/>
              </a:rPr>
              <a:t>陈铭浩</a:t>
            </a:r>
            <a:endParaRPr lang="en-US" altLang="zh-CN" sz="4000" b="1" dirty="0">
              <a:latin typeface="+mn-lt"/>
              <a:ea typeface="楷体" panose="02010609060101010101" pitchFamily="49" charset="-122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杭州电子科技大学计算机学院</a:t>
            </a:r>
            <a:endParaRPr lang="en-US" altLang="zh-CN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45" r="499" b="3131"/>
          <a:stretch>
            <a:fillRect/>
          </a:stretch>
        </p:blipFill>
        <p:spPr>
          <a:xfrm>
            <a:off x="0" y="4653136"/>
            <a:ext cx="12192000" cy="2194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投稿之前需要了解什么？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2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79425" y="1196975"/>
            <a:ext cx="5650230" cy="4887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论文水平自我评估、论文及期刊的分类</a:t>
            </a: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期刊报道的范围、读者对象</a:t>
            </a: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期刊的学术地位、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影响和期刊等级</a:t>
            </a: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年出版周期 </a:t>
            </a: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出版论文容量 </a:t>
            </a: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对作者是否有资格要求 </a:t>
            </a: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语言文种 </a:t>
            </a: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是否友好 </a:t>
            </a: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版费 </a:t>
            </a: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"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当前组稿倾向与论文时效性 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目标刊物考虑因素有哪些？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3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稿件主题是否适合于期刊所规定的</a:t>
            </a:r>
          </a:p>
          <a:p>
            <a:r>
              <a:rPr lang="zh-CN" altLang="en-US"/>
              <a:t>期刊的读者群和显示度如何，</a:t>
            </a:r>
            <a:r>
              <a:rPr lang="en-US" altLang="zh-CN"/>
              <a:t>Indexed/Non-indexed</a:t>
            </a:r>
          </a:p>
          <a:p>
            <a:r>
              <a:rPr lang="zh-CN" altLang="en-US"/>
              <a:t>期刊的学术质量和影响</a:t>
            </a:r>
          </a:p>
          <a:p>
            <a:r>
              <a:rPr lang="zh-CN" altLang="en-US"/>
              <a:t>稿件被接受至发表的时滞</a:t>
            </a:r>
          </a:p>
          <a:p>
            <a:pPr lvl="1"/>
            <a:r>
              <a:rPr lang="zh-CN" altLang="en-US" sz="2400"/>
              <a:t>观察收稿日期（</a:t>
            </a:r>
            <a:r>
              <a:rPr lang="en-US" altLang="zh-CN" sz="2400"/>
              <a:t>Submitted Date</a:t>
            </a:r>
            <a:r>
              <a:rPr lang="zh-CN" altLang="en-US" sz="2400"/>
              <a:t>）和接受日期（</a:t>
            </a:r>
            <a:r>
              <a:rPr lang="en-US" altLang="zh-CN" sz="2400"/>
              <a:t>Accepted Date</a:t>
            </a:r>
            <a:r>
              <a:rPr lang="zh-CN" altLang="en-US" sz="2400"/>
              <a:t>）</a:t>
            </a:r>
          </a:p>
          <a:p>
            <a:pPr lvl="0"/>
            <a:r>
              <a:rPr lang="zh-CN" altLang="en-US" sz="2800"/>
              <a:t>期刊对不同国家或地区的来稿是否有区别对待的现象</a:t>
            </a:r>
          </a:p>
          <a:p>
            <a:pPr lvl="0"/>
            <a:r>
              <a:rPr lang="zh-CN" altLang="en-US" sz="2800"/>
              <a:t>出版周期</a:t>
            </a:r>
            <a:r>
              <a:rPr lang="en-US" altLang="zh-CN" sz="2800"/>
              <a:t> </a:t>
            </a:r>
            <a:r>
              <a:rPr lang="zh-CN" altLang="en-US" sz="2800"/>
              <a:t>biannual/annual/bimonthly/</a:t>
            </a:r>
            <a:r>
              <a:rPr lang="zh-CN" altLang="en-US"/>
              <a:t>monthly/biweekly(fortnightly)/weekly</a:t>
            </a:r>
          </a:p>
          <a:p>
            <a:pPr lvl="0"/>
            <a:r>
              <a:rPr lang="zh-CN" altLang="en-US"/>
              <a:t>是否</a:t>
            </a:r>
            <a:r>
              <a:rPr lang="en-US" altLang="zh-CN"/>
              <a:t>Open Access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23610" y="3213100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如何了解时滞？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Open Access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4</a:t>
            </a:fld>
            <a:endParaRPr lang="zh-CN" altLang="en-US" dirty="0"/>
          </a:p>
        </p:txBody>
      </p:sp>
      <p:pic>
        <p:nvPicPr>
          <p:cNvPr id="1126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" y="1412875"/>
            <a:ext cx="10828655" cy="53333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Open Access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5</a:t>
            </a:fld>
            <a:endParaRPr lang="zh-CN" altLang="en-US" dirty="0"/>
          </a:p>
        </p:txBody>
      </p:sp>
      <p:pic>
        <p:nvPicPr>
          <p:cNvPr id="12292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1412558"/>
            <a:ext cx="7553325" cy="4333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投稿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6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寄送打印稿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罕见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Email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信箱投稿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期刊采编系统，稿件远程管理系统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中文刊：玛格泰克、勤云、三才、同方、万方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英文刊：</a:t>
            </a:r>
            <a:r>
              <a:rPr lang="en-US" altLang="zh-CN" dirty="0"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ScholarOne Manuscript</a:t>
            </a:r>
            <a:endParaRPr lang="en-US" altLang="zh-CN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Aft>
                <a:spcPct val="10000"/>
              </a:spcAft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       </a:t>
            </a:r>
            <a:r>
              <a:rPr lang="en-US" altLang="zh-CN" dirty="0"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Editorial Manager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确认投稿成功，收到投稿函，论文编号，必要时打电话询问或</a:t>
            </a:r>
            <a:r>
              <a:rPr lang="en-US" altLang="zh-CN" dirty="0"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Email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联系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投稿信写作（</a:t>
            </a:r>
            <a:r>
              <a:rPr lang="en-US" altLang="zh-CN"/>
              <a:t>cover letter</a:t>
            </a:r>
            <a:r>
              <a:rPr lang="zh-CN" altLang="en-US"/>
              <a:t>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7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  <a:hlinkClick r:id="rId3"/>
            </a:endParaRPr>
          </a:p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  <a:hlinkClick r:id="rId3"/>
              </a:rPr>
              <a:t>超实用模板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  <a:hlinkClick r:id="rId3"/>
              </a:rPr>
              <a:t>| </a:t>
            </a:r>
            <a:r>
              <a:rPr lang="en-US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  <a:hlinkClick r:id="rId3"/>
              </a:rPr>
              <a:t>SCI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  <a:hlinkClick r:id="rId3"/>
              </a:rPr>
              <a:t>投稿时</a:t>
            </a:r>
            <a:r>
              <a:rPr lang="en-US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  <a:hlinkClick r:id="rId3"/>
              </a:rPr>
              <a:t>Cover Letter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  <a:hlinkClick r:id="rId3"/>
              </a:rPr>
              <a:t>的撰写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  <a:hlinkClick r:id="rId3"/>
              </a:rPr>
              <a:t>-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  <a:hlinkClick r:id="rId3"/>
              </a:rPr>
              <a:t>知乎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  <a:hlinkClick r:id="rId3"/>
              </a:rPr>
              <a:t>(</a:t>
            </a:r>
            <a:r>
              <a:rPr lang="en-US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  <a:hlinkClick r:id="rId3"/>
              </a:rPr>
              <a:t>zhihu.com)</a:t>
            </a:r>
            <a:endParaRPr lang="en-US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endParaRPr lang="en-US" altLang="zh-CN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许多期刊都要求作者附上Cover Letter,即使有时期刊规定Cover Letter是可选的，稿件提交时也最好包含一个Cover Letter。Cover Letter是写给该期刊的总编辑的。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投稿信写作（</a:t>
            </a:r>
            <a:r>
              <a:rPr lang="en-US" altLang="zh-CN"/>
              <a:t>cover letter</a:t>
            </a:r>
            <a:r>
              <a:rPr lang="zh-CN" altLang="en-US"/>
              <a:t>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8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dirty="0">
                <a:solidFill>
                  <a:srgbClr val="12121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如果目标期刊的作者说明中包含</a:t>
            </a:r>
            <a:r>
              <a:rPr lang="en-US" altLang="zh-CN" dirty="0">
                <a:solidFill>
                  <a:srgbClr val="12121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Cover Letter</a:t>
            </a:r>
            <a:r>
              <a:rPr lang="zh-CN" altLang="en-US" dirty="0">
                <a:solidFill>
                  <a:srgbClr val="12121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的规格，请根据期刊的要求进行适当调整。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简短明了，重点突出，最好不要超过一页。 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投稿信的基本内容：</a:t>
            </a:r>
          </a:p>
          <a:p>
            <a:pPr lvl="1"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稿件的栏目类型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;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（例如：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regular paper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</a:t>
            </a:r>
          </a:p>
          <a:p>
            <a:pPr lvl="1"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论文的创新点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;    </a:t>
            </a:r>
          </a:p>
          <a:p>
            <a:pPr lvl="1"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论文的基金资助情况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;</a:t>
            </a:r>
          </a:p>
          <a:p>
            <a:pPr lvl="1"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建议的审稿人或需回避的审稿人；</a:t>
            </a:r>
          </a:p>
          <a:p>
            <a:pPr lvl="1"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联系人或通讯作者详细的联系地址、电话、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E-mail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期刊审稿流程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9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419200" y="1628800"/>
            <a:ext cx="1703569" cy="52188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作者投稿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40632" y="1628800"/>
            <a:ext cx="1703569" cy="521888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编辑初审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535376" y="1628800"/>
            <a:ext cx="948823" cy="5218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拒稿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419200" y="4631964"/>
            <a:ext cx="3136700" cy="9541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修改后录用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(minor)</a:t>
            </a:r>
          </a:p>
          <a:p>
            <a:pPr algn="ctr"/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再审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(major)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535375" y="5601636"/>
            <a:ext cx="948823" cy="5218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录用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040632" y="2796925"/>
            <a:ext cx="2458315" cy="9532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专家外审</a:t>
            </a:r>
          </a:p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（同行评议）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419200" y="3011958"/>
            <a:ext cx="2038559" cy="5232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副主编分配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535375" y="4581128"/>
            <a:ext cx="948823" cy="5218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拒稿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535375" y="3012624"/>
            <a:ext cx="948823" cy="5218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拒稿</a:t>
            </a:r>
          </a:p>
        </p:txBody>
      </p:sp>
      <p:cxnSp>
        <p:nvCxnSpPr>
          <p:cNvPr id="15" name="直接箭头连接符 14"/>
          <p:cNvCxnSpPr>
            <a:stCxn id="6" idx="3"/>
            <a:endCxn id="7" idx="1"/>
          </p:cNvCxnSpPr>
          <p:nvPr/>
        </p:nvCxnSpPr>
        <p:spPr>
          <a:xfrm>
            <a:off x="3122769" y="1889744"/>
            <a:ext cx="1917863" cy="0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7" idx="3"/>
            <a:endCxn id="8" idx="1"/>
          </p:cNvCxnSpPr>
          <p:nvPr/>
        </p:nvCxnSpPr>
        <p:spPr>
          <a:xfrm>
            <a:off x="6744201" y="1889744"/>
            <a:ext cx="1791175" cy="0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1" idx="2"/>
            <a:endCxn id="9" idx="0"/>
          </p:cNvCxnSpPr>
          <p:nvPr/>
        </p:nvCxnSpPr>
        <p:spPr>
          <a:xfrm flipH="1">
            <a:off x="2987550" y="3750212"/>
            <a:ext cx="3282240" cy="881752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1" idx="3"/>
            <a:endCxn id="14" idx="1"/>
          </p:cNvCxnSpPr>
          <p:nvPr/>
        </p:nvCxnSpPr>
        <p:spPr>
          <a:xfrm flipV="1">
            <a:off x="7498947" y="3273568"/>
            <a:ext cx="1036428" cy="1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2" idx="3"/>
            <a:endCxn id="11" idx="1"/>
          </p:cNvCxnSpPr>
          <p:nvPr/>
        </p:nvCxnSpPr>
        <p:spPr>
          <a:xfrm>
            <a:off x="3457759" y="3273568"/>
            <a:ext cx="1582873" cy="1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7" idx="2"/>
            <a:endCxn id="12" idx="0"/>
          </p:cNvCxnSpPr>
          <p:nvPr/>
        </p:nvCxnSpPr>
        <p:spPr>
          <a:xfrm flipH="1">
            <a:off x="2438480" y="2150688"/>
            <a:ext cx="3453937" cy="861270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5375920" y="4835404"/>
            <a:ext cx="2038559" cy="5232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副主编判定</a:t>
            </a:r>
          </a:p>
        </p:txBody>
      </p:sp>
      <p:cxnSp>
        <p:nvCxnSpPr>
          <p:cNvPr id="47" name="直接箭头连接符 46"/>
          <p:cNvCxnSpPr>
            <a:stCxn id="9" idx="3"/>
            <a:endCxn id="46" idx="1"/>
          </p:cNvCxnSpPr>
          <p:nvPr/>
        </p:nvCxnSpPr>
        <p:spPr>
          <a:xfrm flipV="1">
            <a:off x="4555900" y="5097014"/>
            <a:ext cx="820020" cy="12004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6" idx="3"/>
            <a:endCxn id="13" idx="1"/>
          </p:cNvCxnSpPr>
          <p:nvPr/>
        </p:nvCxnSpPr>
        <p:spPr>
          <a:xfrm flipV="1">
            <a:off x="7414479" y="4842072"/>
            <a:ext cx="1120896" cy="254942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46" idx="3"/>
            <a:endCxn id="10" idx="1"/>
          </p:cNvCxnSpPr>
          <p:nvPr/>
        </p:nvCxnSpPr>
        <p:spPr>
          <a:xfrm>
            <a:off x="7414479" y="5097014"/>
            <a:ext cx="1120896" cy="765566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1421422" y="5944603"/>
            <a:ext cx="3090401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作者修改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0" name="左弧形箭头 59"/>
          <p:cNvSpPr/>
          <p:nvPr/>
        </p:nvSpPr>
        <p:spPr>
          <a:xfrm>
            <a:off x="911424" y="5279671"/>
            <a:ext cx="432048" cy="73907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左弧形箭头 60"/>
          <p:cNvSpPr/>
          <p:nvPr/>
        </p:nvSpPr>
        <p:spPr>
          <a:xfrm rot="10800000">
            <a:off x="4640223" y="5358624"/>
            <a:ext cx="432048" cy="73907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期刊审稿流程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10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编辑初审：</a:t>
            </a:r>
          </a:p>
          <a:p>
            <a:pPr lvl="1"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内容审查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：是指确认稿件的主题和内容是否与期刊的宗旨和定位相符；</a:t>
            </a:r>
          </a:p>
          <a:p>
            <a:pPr lvl="1"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形式审查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：涉及稿件的体例格式是否符合期刊的要求。</a:t>
            </a:r>
          </a:p>
          <a:p>
            <a:pPr lvl="0"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专家外审（同行评议）：</a:t>
            </a:r>
          </a:p>
          <a:p>
            <a:pPr lvl="1"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对稿件学术质量进行把关，避免用稿失误</a:t>
            </a:r>
          </a:p>
          <a:p>
            <a:pPr lvl="1" eaLnBrk="1" hangingPunct="1">
              <a:lnSpc>
                <a:spcPct val="120000"/>
              </a:lnSpc>
              <a:spcAft>
                <a:spcPct val="100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判定依据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：侧重于审评论文的科学性、先进性、实用性、可重复性、伦理性和可读性等。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会议审稿流程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11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76129" y="1507599"/>
            <a:ext cx="1703569" cy="52188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作者投稿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11823" y="1506933"/>
            <a:ext cx="2999584" cy="52322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PC/Meta AC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初审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492305" y="1507599"/>
            <a:ext cx="948823" cy="5218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拒稿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11823" y="2835376"/>
            <a:ext cx="2999584" cy="9541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Rebuttal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阶段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（有点会议没有）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35375" y="5601636"/>
            <a:ext cx="948823" cy="5218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录用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212603" y="2814193"/>
            <a:ext cx="1880243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Reviewers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初审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535375" y="4581128"/>
            <a:ext cx="948823" cy="5218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拒稿</a:t>
            </a:r>
          </a:p>
        </p:txBody>
      </p:sp>
      <p:cxnSp>
        <p:nvCxnSpPr>
          <p:cNvPr id="15" name="直接箭头连接符 14"/>
          <p:cNvCxnSpPr>
            <a:stCxn id="6" idx="3"/>
            <a:endCxn id="7" idx="1"/>
          </p:cNvCxnSpPr>
          <p:nvPr/>
        </p:nvCxnSpPr>
        <p:spPr>
          <a:xfrm>
            <a:off x="3079698" y="1768543"/>
            <a:ext cx="1432125" cy="0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7" idx="3"/>
            <a:endCxn id="8" idx="1"/>
          </p:cNvCxnSpPr>
          <p:nvPr/>
        </p:nvCxnSpPr>
        <p:spPr>
          <a:xfrm>
            <a:off x="7511407" y="1768543"/>
            <a:ext cx="980898" cy="0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cxnSpLocks/>
            <a:stCxn id="11" idx="3"/>
            <a:endCxn id="9" idx="1"/>
          </p:cNvCxnSpPr>
          <p:nvPr/>
        </p:nvCxnSpPr>
        <p:spPr>
          <a:xfrm>
            <a:off x="3092846" y="3291247"/>
            <a:ext cx="1418977" cy="21183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cxnSpLocks/>
            <a:stCxn id="7" idx="2"/>
            <a:endCxn id="11" idx="0"/>
          </p:cNvCxnSpPr>
          <p:nvPr/>
        </p:nvCxnSpPr>
        <p:spPr>
          <a:xfrm flipH="1">
            <a:off x="2152725" y="2030153"/>
            <a:ext cx="3858890" cy="784040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1416360" y="4365104"/>
            <a:ext cx="2879439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Reviewers</a:t>
            </a:r>
            <a:r>
              <a:rPr lang="zh-CN" altLang="en-US" dirty="0"/>
              <a:t>讨论，</a:t>
            </a:r>
            <a:r>
              <a:rPr lang="en-US" altLang="zh-CN" dirty="0"/>
              <a:t>AC</a:t>
            </a:r>
            <a:r>
              <a:rPr lang="zh-CN" altLang="en-US" dirty="0"/>
              <a:t>给推荐意见</a:t>
            </a:r>
          </a:p>
        </p:txBody>
      </p:sp>
      <p:cxnSp>
        <p:nvCxnSpPr>
          <p:cNvPr id="47" name="直接箭头连接符 46"/>
          <p:cNvCxnSpPr>
            <a:stCxn id="9" idx="3"/>
            <a:endCxn id="59" idx="1"/>
          </p:cNvCxnSpPr>
          <p:nvPr/>
        </p:nvCxnSpPr>
        <p:spPr>
          <a:xfrm>
            <a:off x="7511407" y="3312430"/>
            <a:ext cx="957712" cy="0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6" idx="3"/>
            <a:endCxn id="13" idx="1"/>
          </p:cNvCxnSpPr>
          <p:nvPr/>
        </p:nvCxnSpPr>
        <p:spPr>
          <a:xfrm flipV="1">
            <a:off x="4295799" y="4842072"/>
            <a:ext cx="4239576" cy="86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58" idx="3"/>
          </p:cNvCxnSpPr>
          <p:nvPr/>
        </p:nvCxnSpPr>
        <p:spPr>
          <a:xfrm>
            <a:off x="7175238" y="4873348"/>
            <a:ext cx="1317067" cy="817902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8469119" y="2835376"/>
            <a:ext cx="948824" cy="9541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作者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回复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4967743" y="4396294"/>
            <a:ext cx="2207495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PC/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Meta AC</a:t>
            </a:r>
            <a:r>
              <a:rPr lang="zh-CN" altLang="en-US" dirty="0"/>
              <a:t>最终决定</a:t>
            </a:r>
          </a:p>
        </p:txBody>
      </p:sp>
      <p:cxnSp>
        <p:nvCxnSpPr>
          <p:cNvPr id="65" name="直接箭头连接符 64"/>
          <p:cNvCxnSpPr>
            <a:stCxn id="59" idx="2"/>
            <a:endCxn id="46" idx="0"/>
          </p:cNvCxnSpPr>
          <p:nvPr/>
        </p:nvCxnSpPr>
        <p:spPr>
          <a:xfrm flipH="1">
            <a:off x="2856080" y="3789483"/>
            <a:ext cx="6087451" cy="575621"/>
          </a:xfrm>
          <a:prstGeom prst="straightConnector1">
            <a:avLst/>
          </a:prstGeom>
          <a:ln w="22225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622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同行评议的内容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12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稿件内容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是否新颖、重要</a:t>
            </a:r>
          </a:p>
          <a:p>
            <a:pPr lvl="1"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055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选题是否新颖</a:t>
            </a:r>
          </a:p>
          <a:p>
            <a:pPr lvl="1"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055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结果是否具有新意</a:t>
            </a:r>
          </a:p>
          <a:p>
            <a:pPr lvl="1"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055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数据是否真实</a:t>
            </a:r>
          </a:p>
          <a:p>
            <a:pPr lvl="1"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055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结论是否明确</a:t>
            </a:r>
          </a:p>
          <a:p>
            <a:pPr lvl="0"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39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实验描述</a:t>
            </a:r>
            <a:r>
              <a:rPr lang="zh-CN" altLang="en-US" sz="2395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是否清楚、完整</a:t>
            </a:r>
          </a:p>
          <a:p>
            <a:pPr lvl="0"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39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讨论和结论</a:t>
            </a:r>
            <a:r>
              <a:rPr lang="zh-CN" altLang="en-US" sz="2395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是否合理</a:t>
            </a:r>
          </a:p>
          <a:p>
            <a:pPr lvl="0"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39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参考文献的引用</a:t>
            </a:r>
            <a:r>
              <a:rPr lang="zh-CN" altLang="en-US" sz="2395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是否有必要、合理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如何应对同行评议结果？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BD803B2-A378-42BD-B5EC-F7748F169FE0}" type="slidenum">
              <a:rPr lang="en-US" altLang="zh-CN" smtClean="0"/>
              <a:t>13</a:t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逐条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回复审稿人的意见</a:t>
            </a:r>
          </a:p>
          <a:p>
            <a:pPr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395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回答问题时，层次分明，抓住审稿人的重点，</a:t>
            </a:r>
            <a:r>
              <a:rPr lang="zh-CN" altLang="en-US" sz="239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直面</a:t>
            </a:r>
            <a:r>
              <a:rPr lang="zh-CN" altLang="en-US" sz="2395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审稿人的问题</a:t>
            </a:r>
          </a:p>
          <a:p>
            <a:pPr lvl="0"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395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</a:t>
            </a:r>
            <a:r>
              <a:rPr lang="zh-CN" altLang="en-US" sz="239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盲目</a:t>
            </a:r>
            <a:r>
              <a:rPr lang="zh-CN" altLang="en-US" sz="2395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接受审稿人不合理或者难以认同的建议</a:t>
            </a:r>
          </a:p>
          <a:p>
            <a:pPr lvl="0" eaLnBrk="1" hangingPunct="1">
              <a:lnSpc>
                <a:spcPct val="170000"/>
              </a:lnSpc>
              <a:spcAft>
                <a:spcPct val="10000"/>
              </a:spcAft>
            </a:pPr>
            <a:r>
              <a:rPr lang="zh-CN" altLang="en-US" sz="2395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撰写修改信</a:t>
            </a:r>
          </a:p>
          <a:p>
            <a:pPr lvl="1" eaLnBrk="1" hangingPunct="1">
              <a:lnSpc>
                <a:spcPct val="170000"/>
              </a:lnSpc>
              <a:spcAft>
                <a:spcPct val="10000"/>
              </a:spcAft>
            </a:pPr>
            <a:r>
              <a:rPr lang="en-US" altLang="zh-CN" sz="205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hlinkClick r:id="rId2" action="ppaction://hlinkfile"/>
              </a:rPr>
              <a:t>Response Letter </a:t>
            </a:r>
            <a:r>
              <a:rPr lang="zh-CN" altLang="en-US" sz="205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hlinkClick r:id="rId2" action="ppaction://hlinkfile"/>
              </a:rPr>
              <a:t>的格式及其相关写法</a:t>
            </a:r>
            <a:r>
              <a:rPr lang="en-US" altLang="zh-CN" sz="205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hlinkClick r:id="rId2" action="ppaction://hlinkfile"/>
              </a:rPr>
              <a:t>-</a:t>
            </a:r>
            <a:r>
              <a:rPr lang="zh-CN" altLang="en-US" sz="205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hlinkClick r:id="rId2" action="ppaction://hlinkfile"/>
              </a:rPr>
              <a:t>知乎</a:t>
            </a:r>
            <a:endParaRPr lang="zh-CN" altLang="en-US" sz="205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93506" y="2139079"/>
            <a:ext cx="100049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6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感谢聆听，敬请指正！</a:t>
            </a:r>
            <a:endParaRPr kumimoji="1" lang="en-US" altLang="zh-CN" sz="6000" b="1" dirty="0">
              <a:solidFill>
                <a:srgbClr val="203864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03B2-A378-42BD-B5EC-F7748F169FE0}" type="slidenum">
              <a:rPr lang="en-US" altLang="zh-CN" smtClean="0"/>
              <a:t>14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835" y="124839"/>
            <a:ext cx="1331089" cy="1331089"/>
          </a:xfrm>
          <a:prstGeom prst="rect">
            <a:avLst/>
          </a:prstGeom>
        </p:spPr>
      </p:pic>
      <p:pic>
        <p:nvPicPr>
          <p:cNvPr id="13" name="图片 12" descr="图片包含 天空, 建筑物, 户外, 道路&#10;&#10;已生成极高可信度的说明"/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4" b="12793"/>
          <a:stretch>
            <a:fillRect/>
          </a:stretch>
        </p:blipFill>
        <p:spPr>
          <a:xfrm>
            <a:off x="0" y="4484225"/>
            <a:ext cx="12192000" cy="2372761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 bwMode="auto">
          <a:xfrm>
            <a:off x="0" y="4484225"/>
            <a:ext cx="12192000" cy="2360665"/>
          </a:xfrm>
          <a:prstGeom prst="rect">
            <a:avLst/>
          </a:prstGeom>
          <a:solidFill>
            <a:srgbClr val="04487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91440" algn="l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b8488d6-013d-4f79-b99c-07d6bdc768d8"/>
  <p:tag name="COMMONDATA" val="eyJoZGlkIjoiNTVlZmI5NWM4MTA1NmIyYjhiNmEzMGRhODMxNjEyMj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1205</TotalTime>
  <Words>680</Words>
  <Application>Microsoft Macintosh PowerPoint</Application>
  <PresentationFormat>宽屏</PresentationFormat>
  <Paragraphs>122</Paragraphs>
  <Slides>14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等线</vt:lpstr>
      <vt:lpstr>黑体</vt:lpstr>
      <vt:lpstr>微软雅黑</vt:lpstr>
      <vt:lpstr>Arial</vt:lpstr>
      <vt:lpstr>Calibri</vt:lpstr>
      <vt:lpstr>Segoe Print</vt:lpstr>
      <vt:lpstr>Times New Roman</vt:lpstr>
      <vt:lpstr>Wingdings</vt:lpstr>
      <vt:lpstr>Office 主题</vt:lpstr>
      <vt:lpstr>第七讲：英文学术论文之投稿流程</vt:lpstr>
      <vt:lpstr> 投稿之前需要了解什么？</vt:lpstr>
      <vt:lpstr> 目标刊物考虑因素有哪些？</vt:lpstr>
      <vt:lpstr> Open Access</vt:lpstr>
      <vt:lpstr> Open Access</vt:lpstr>
      <vt:lpstr> 投稿</vt:lpstr>
      <vt:lpstr> 投稿信写作（cover letter）</vt:lpstr>
      <vt:lpstr> 投稿信写作（cover letter）</vt:lpstr>
      <vt:lpstr> 期刊审稿流程</vt:lpstr>
      <vt:lpstr>期刊审稿流程</vt:lpstr>
      <vt:lpstr> 会议审稿流程</vt:lpstr>
      <vt:lpstr> 同行评议的内容</vt:lpstr>
      <vt:lpstr> 如何应对同行评议结果？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Fei Gao</dc:creator>
  <cp:lastModifiedBy>Microsoft Office User</cp:lastModifiedBy>
  <cp:revision>992</cp:revision>
  <dcterms:created xsi:type="dcterms:W3CDTF">2022-12-11T05:00:00Z</dcterms:created>
  <dcterms:modified xsi:type="dcterms:W3CDTF">2024-10-17T01:02:24Z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420D3A0B25728E146BFE55632B83E334</vt:lpwstr>
  </property>
  <property fmtid="{D5CDD505-2E9C-101B-9397-08002B2CF9AE}" pid="3" name="KSOProductBuildVer">
    <vt:lpwstr>2052-11.1.0.12763</vt:lpwstr>
  </property>
</Properties>
</file>