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6" r:id="rId2"/>
    <p:sldId id="257" r:id="rId3"/>
    <p:sldId id="416" r:id="rId4"/>
    <p:sldId id="417" r:id="rId5"/>
    <p:sldId id="422" r:id="rId6"/>
    <p:sldId id="428" r:id="rId7"/>
    <p:sldId id="429" r:id="rId8"/>
    <p:sldId id="420" r:id="rId9"/>
    <p:sldId id="478" r:id="rId10"/>
    <p:sldId id="477" r:id="rId11"/>
    <p:sldId id="476" r:id="rId12"/>
    <p:sldId id="483" r:id="rId13"/>
    <p:sldId id="479" r:id="rId14"/>
    <p:sldId id="480" r:id="rId15"/>
    <p:sldId id="481" r:id="rId16"/>
    <p:sldId id="482" r:id="rId17"/>
    <p:sldId id="437" r:id="rId18"/>
    <p:sldId id="438" r:id="rId19"/>
    <p:sldId id="443" r:id="rId20"/>
    <p:sldId id="454" r:id="rId21"/>
    <p:sldId id="455" r:id="rId22"/>
    <p:sldId id="456" r:id="rId23"/>
    <p:sldId id="460" r:id="rId24"/>
    <p:sldId id="461" r:id="rId25"/>
    <p:sldId id="475" r:id="rId26"/>
  </p:sldIdLst>
  <p:sldSz cx="12192000" cy="6858000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8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6092"/>
    <a:srgbClr val="F7CAAB"/>
    <a:srgbClr val="E3CCE5"/>
    <a:srgbClr val="FDE498"/>
    <a:srgbClr val="0000FF"/>
    <a:srgbClr val="F0F0F0"/>
    <a:srgbClr val="F8F8F8"/>
    <a:srgbClr val="F1F1F1"/>
    <a:srgbClr val="B07B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45" autoAdjust="0"/>
    <p:restoredTop sz="70575" autoAdjust="0"/>
  </p:normalViewPr>
  <p:slideViewPr>
    <p:cSldViewPr>
      <p:cViewPr varScale="1">
        <p:scale>
          <a:sx n="81" d="100"/>
          <a:sy n="81" d="100"/>
        </p:scale>
        <p:origin x="1064" y="176"/>
      </p:cViewPr>
      <p:guideLst>
        <p:guide orient="horz" pos="2160"/>
        <p:guide pos="3889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5C6822-2CF9-407B-97F6-B5C3F0D04FD0}" type="datetimeFigureOut">
              <a:rPr lang="zh-CN" altLang="en-US" smtClean="0"/>
              <a:t>2024/10/16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93BB54-13A4-4BBD-86B6-C67793120F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141058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4F64D2-B46D-458F-8F5A-49B31CD8FEF4}" type="datetimeFigureOut">
              <a:rPr lang="zh-CN" altLang="en-US" smtClean="0"/>
              <a:t>2024/10/16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1280D9-CCCD-4530-9608-C2BA9AEF16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421955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280D9-CCCD-4530-9608-C2BA9AEF16E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84946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80497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50634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8633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67093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91941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29745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12009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1280D9-CCCD-4530-9608-C2BA9AEF16E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77675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1280D9-CCCD-4530-9608-C2BA9AEF16EE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06564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1280D9-CCCD-4530-9608-C2BA9AEF16EE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07408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20292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05983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70637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29101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69833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2142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56568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41914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38100" y="931863"/>
            <a:ext cx="3963988" cy="223043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以上是我汇报的全部内容，请各位专家指正</a:t>
            </a:r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6953BD76-09F8-4556-8F7F-1E413B4F017A}" type="datetime1">
              <a:rPr lang="en-US" altLang="zh-CN" smtClean="0"/>
              <a:t>10/16/24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Confidentiality Label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788AFD-C26B-478C-B2D8-3A933D69C95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104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0" y="2348881"/>
            <a:ext cx="12192000" cy="1470025"/>
          </a:xfr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>
              <a:defRPr sz="4400" b="1" baseline="0">
                <a:solidFill>
                  <a:schemeClr val="bg1">
                    <a:lumMod val="9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等线" panose="02010600030101010101" pitchFamily="2" charset="-122"/>
                <a:ea typeface="楷体" panose="02010609060101010101" pitchFamily="49" charset="-122"/>
                <a:cs typeface="Segoe Print" panose="02000600000000000000" charset="0"/>
              </a:defRPr>
            </a:lvl1pPr>
          </a:lstStyle>
          <a:p>
            <a:r>
              <a:rPr lang="en-US" altLang="zh-CN" dirty="0"/>
              <a:t>Title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828800" y="4038285"/>
            <a:ext cx="8534400" cy="1983003"/>
          </a:xfrm>
        </p:spPr>
        <p:txBody>
          <a:bodyPr anchor="ctr" anchorCtr="1">
            <a:noAutofit/>
          </a:bodyPr>
          <a:lstStyle>
            <a:lvl1pPr mar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 dirty="0"/>
              <a:t>Reporter</a:t>
            </a:r>
          </a:p>
          <a:p>
            <a:r>
              <a:rPr lang="en-US" altLang="zh-CN" dirty="0"/>
              <a:t>Hangzhou </a:t>
            </a:r>
            <a:r>
              <a:rPr lang="en-US" altLang="zh-CN" dirty="0" err="1"/>
              <a:t>Dianzi</a:t>
            </a:r>
            <a:r>
              <a:rPr lang="en-US" altLang="zh-CN" dirty="0"/>
              <a:t> University</a:t>
            </a:r>
          </a:p>
          <a:p>
            <a:r>
              <a:rPr lang="en-US" altLang="zh-CN" dirty="0"/>
              <a:t>Email: </a:t>
            </a:r>
          </a:p>
          <a:p>
            <a:r>
              <a:rPr lang="en-US" altLang="zh-CN" dirty="0"/>
              <a:t>http://camalab.hdu.edu.cn</a:t>
            </a:r>
            <a:endParaRPr lang="zh-CN" altLang="en-US" dirty="0"/>
          </a:p>
        </p:txBody>
      </p:sp>
      <p:sp>
        <p:nvSpPr>
          <p:cNvPr id="6" name="梯形 5"/>
          <p:cNvSpPr/>
          <p:nvPr userDrawn="1"/>
        </p:nvSpPr>
        <p:spPr>
          <a:xfrm rot="18949264">
            <a:off x="-555650" y="540832"/>
            <a:ext cx="2849619" cy="457480"/>
          </a:xfrm>
          <a:prstGeom prst="trapezoid">
            <a:avLst>
              <a:gd name="adj" fmla="val 946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+mj-ea"/>
                <a:ea typeface="+mj-ea"/>
              </a:rPr>
              <a:t>论文写作指导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64552" y="44624"/>
            <a:ext cx="1016177" cy="1008112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0" y="202630"/>
            <a:ext cx="12192000" cy="562074"/>
          </a:xfrm>
          <a:noFill/>
          <a:ln>
            <a:noFill/>
          </a:ln>
        </p:spPr>
        <p:txBody>
          <a:bodyPr>
            <a:noAutofit/>
          </a:bodyPr>
          <a:lstStyle>
            <a:lvl1pPr marL="360045" algn="l">
              <a:defRPr sz="3600" b="1" baseline="0">
                <a:solidFill>
                  <a:schemeClr val="tx2">
                    <a:lumMod val="75000"/>
                  </a:schemeClr>
                </a:solidFill>
                <a:latin typeface="等线" panose="02010600030101010101" pitchFamily="2" charset="-122"/>
                <a:ea typeface="楷体" panose="02010609060101010101" pitchFamily="49" charset="-122"/>
              </a:defRPr>
            </a:lvl1pPr>
          </a:lstStyle>
          <a:p>
            <a:r>
              <a:rPr lang="en-US" altLang="zh-CN" dirty="0"/>
              <a:t>Title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79376" y="908720"/>
            <a:ext cx="11103024" cy="5328592"/>
          </a:xfrm>
        </p:spPr>
        <p:txBody>
          <a:bodyPr/>
          <a:lstStyle>
            <a:lvl1pPr>
              <a:defRPr b="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>
              <a:defRPr sz="2400"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>
              <a:defRPr sz="2000"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>
              <a:defRPr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>
              <a:defRPr baseline="0"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</a:lstStyle>
          <a:p>
            <a:pPr lvl="0"/>
            <a:r>
              <a:rPr lang="en-US" altLang="zh-CN" dirty="0"/>
              <a:t>Title</a:t>
            </a:r>
            <a:endParaRPr lang="zh-CN" altLang="en-US" dirty="0"/>
          </a:p>
          <a:p>
            <a:pPr lvl="1"/>
            <a:r>
              <a:rPr lang="en-US" altLang="zh-CN" dirty="0"/>
              <a:t>First Level</a:t>
            </a:r>
            <a:endParaRPr lang="zh-CN" altLang="en-US" dirty="0"/>
          </a:p>
          <a:p>
            <a:pPr lvl="2"/>
            <a:r>
              <a:rPr lang="en-US" altLang="zh-CN" dirty="0"/>
              <a:t>Second Level</a:t>
            </a:r>
            <a:endParaRPr lang="zh-CN" altLang="en-US" dirty="0"/>
          </a:p>
          <a:p>
            <a:pPr lvl="3"/>
            <a:r>
              <a:rPr lang="en-US" altLang="zh-CN" dirty="0"/>
              <a:t>Third Level</a:t>
            </a:r>
            <a:endParaRPr lang="zh-CN" altLang="en-US" dirty="0"/>
          </a:p>
          <a:p>
            <a:pPr lvl="4"/>
            <a:r>
              <a:rPr lang="en-US" altLang="zh-CN" dirty="0"/>
              <a:t>Fourth Level</a:t>
            </a:r>
            <a:endParaRPr lang="zh-CN" altLang="en-US" dirty="0"/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479376" y="836712"/>
            <a:ext cx="11103024" cy="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496600" y="82361"/>
            <a:ext cx="615218" cy="610335"/>
          </a:xfrm>
          <a:prstGeom prst="rect">
            <a:avLst/>
          </a:prstGeom>
        </p:spPr>
      </p:pic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336360" y="6381328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r"/>
            <a:fld id="{CBD803B2-A378-42BD-B5EC-F7748F169FE0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448800" y="6356353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CBD803B2-A378-42BD-B5EC-F7748F169FE0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62074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052736"/>
            <a:ext cx="10972800" cy="5328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3200" b="0" kern="1200">
          <a:solidFill>
            <a:schemeClr val="bg1"/>
          </a:solidFill>
          <a:latin typeface="Segoe Print" panose="02000600000000000000" charset="0"/>
          <a:ea typeface="宋体" panose="02010600030101010101" pitchFamily="2" charset="-122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125000"/>
        </a:lnSpc>
        <a:spcBef>
          <a:spcPts val="1200"/>
        </a:spcBef>
        <a:spcAft>
          <a:spcPts val="600"/>
        </a:spcAft>
        <a:buFont typeface="Arial" panose="020B0604020202020204" pitchFamily="34" charset="0"/>
        <a:buChar char="•"/>
        <a:defRPr sz="2800" b="1" kern="1200">
          <a:solidFill>
            <a:srgbClr val="0070C0"/>
          </a:solidFill>
          <a:latin typeface="Segoe Print" panose="02000600000000000000" charset="0"/>
          <a:ea typeface="黑体" panose="02010609060101010101" pitchFamily="49" charset="-122"/>
          <a:cs typeface="+mn-cs"/>
        </a:defRPr>
      </a:lvl1pPr>
      <a:lvl2pPr marL="742950" indent="-2857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Segoe Print" panose="02000600000000000000" charset="0"/>
          <a:ea typeface="黑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Segoe Print" panose="02000600000000000000" charset="0"/>
          <a:ea typeface="黑体" panose="020106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Segoe Print" panose="02000600000000000000" charset="0"/>
          <a:ea typeface="黑体" panose="020106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Segoe Print" panose="02000600000000000000" charset="0"/>
          <a:ea typeface="黑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79376" y="1376772"/>
            <a:ext cx="11712624" cy="2088232"/>
          </a:xfrm>
          <a:noFill/>
          <a:effectLst/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zh-CN" altLang="en-US" sz="5400" dirty="0">
                <a:solidFill>
                  <a:srgbClr val="002060"/>
                </a:solidFill>
                <a:effectLst/>
                <a:latin typeface="+mj-ea"/>
                <a:ea typeface="+mj-ea"/>
              </a:rPr>
              <a:t>第五讲</a:t>
            </a:r>
            <a:r>
              <a:rPr lang="en-US" altLang="zh-CN" sz="5400" dirty="0">
                <a:solidFill>
                  <a:srgbClr val="002060"/>
                </a:solidFill>
                <a:effectLst/>
                <a:latin typeface="+mj-ea"/>
                <a:ea typeface="+mj-ea"/>
              </a:rPr>
              <a:t>:</a:t>
            </a:r>
            <a:r>
              <a:rPr lang="zh-CN" altLang="en-US" sz="5400" dirty="0">
                <a:solidFill>
                  <a:srgbClr val="002060"/>
                </a:solidFill>
                <a:effectLst/>
                <a:latin typeface="+mj-ea"/>
                <a:ea typeface="+mj-ea"/>
              </a:rPr>
              <a:t>学术论文之绘制研究动机图和模型框架图</a:t>
            </a:r>
            <a:br>
              <a:rPr lang="en-US" altLang="zh-CN" sz="5400" dirty="0">
                <a:solidFill>
                  <a:srgbClr val="002060"/>
                </a:solidFill>
                <a:effectLst/>
                <a:latin typeface="+mj-ea"/>
                <a:ea typeface="+mj-ea"/>
              </a:rPr>
            </a:br>
            <a:endParaRPr lang="zh-CN" altLang="en-US" sz="3200" dirty="0">
              <a:solidFill>
                <a:srgbClr val="002060"/>
              </a:solidFill>
              <a:effectLst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75520" y="2780928"/>
            <a:ext cx="8534400" cy="1584175"/>
          </a:xfrm>
        </p:spPr>
        <p:txBody>
          <a:bodyPr/>
          <a:lstStyle/>
          <a:p>
            <a:r>
              <a:rPr lang="zh-CN" altLang="en-US" sz="4000" b="1" dirty="0">
                <a:latin typeface="+mn-lt"/>
                <a:ea typeface="楷体" panose="02010609060101010101" pitchFamily="49" charset="-122"/>
              </a:rPr>
              <a:t>陈铭浩</a:t>
            </a:r>
            <a:endParaRPr lang="en-US" altLang="zh-CN" sz="4000" b="1" dirty="0">
              <a:latin typeface="+mn-lt"/>
              <a:ea typeface="楷体" panose="02010609060101010101" pitchFamily="49" charset="-122"/>
            </a:endParaRPr>
          </a:p>
          <a:p>
            <a:r>
              <a:rPr lang="zh-CN" altLang="en-US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杭州电子科技大学计算机学院</a:t>
            </a:r>
            <a:endParaRPr lang="en-US" altLang="zh-CN" sz="28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45" r="499" b="3131"/>
          <a:stretch>
            <a:fillRect/>
          </a:stretch>
        </p:blipFill>
        <p:spPr>
          <a:xfrm>
            <a:off x="0" y="4653136"/>
            <a:ext cx="12192000" cy="21949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dirty="0"/>
              <a:t> 从论文图示与论文写作的关系说起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2</a:t>
            </a:fld>
            <a:endParaRPr lang="zh-CN" altLang="en-US" dirty="0"/>
          </a:p>
        </p:txBody>
      </p:sp>
      <p:grpSp>
        <p:nvGrpSpPr>
          <p:cNvPr id="31" name="组合 30"/>
          <p:cNvGrpSpPr/>
          <p:nvPr/>
        </p:nvGrpSpPr>
        <p:grpSpPr>
          <a:xfrm>
            <a:off x="360045" y="1052830"/>
            <a:ext cx="11679555" cy="5472430"/>
            <a:chOff x="567" y="1658"/>
            <a:chExt cx="18393" cy="8618"/>
          </a:xfrm>
        </p:grpSpPr>
        <p:grpSp>
          <p:nvGrpSpPr>
            <p:cNvPr id="17" name="组合 16"/>
            <p:cNvGrpSpPr/>
            <p:nvPr/>
          </p:nvGrpSpPr>
          <p:grpSpPr>
            <a:xfrm>
              <a:off x="567" y="1658"/>
              <a:ext cx="16857" cy="8618"/>
              <a:chOff x="1361" y="1658"/>
              <a:chExt cx="16857" cy="8618"/>
            </a:xfrm>
          </p:grpSpPr>
          <p:grpSp>
            <p:nvGrpSpPr>
              <p:cNvPr id="11" name="组合 10"/>
              <p:cNvGrpSpPr/>
              <p:nvPr/>
            </p:nvGrpSpPr>
            <p:grpSpPr>
              <a:xfrm>
                <a:off x="1361" y="1658"/>
                <a:ext cx="14095" cy="8618"/>
                <a:chOff x="1475" y="1998"/>
                <a:chExt cx="14095" cy="8618"/>
              </a:xfrm>
            </p:grpSpPr>
            <p:cxnSp>
              <p:nvCxnSpPr>
                <p:cNvPr id="13" name="直接连接符 12"/>
                <p:cNvCxnSpPr/>
                <p:nvPr/>
              </p:nvCxnSpPr>
              <p:spPr>
                <a:xfrm>
                  <a:off x="10508" y="1998"/>
                  <a:ext cx="0" cy="8618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4" name="文本框 13"/>
                <p:cNvSpPr txBox="1"/>
                <p:nvPr/>
              </p:nvSpPr>
              <p:spPr>
                <a:xfrm>
                  <a:off x="4724" y="1999"/>
                  <a:ext cx="1888" cy="62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2000">
                      <a:solidFill>
                        <a:srgbClr val="00B05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论文引言</a:t>
                  </a:r>
                </a:p>
              </p:txBody>
            </p:sp>
            <p:sp>
              <p:nvSpPr>
                <p:cNvPr id="15" name="文本框 14"/>
                <p:cNvSpPr txBox="1"/>
                <p:nvPr/>
              </p:nvSpPr>
              <p:spPr>
                <a:xfrm>
                  <a:off x="13682" y="1998"/>
                  <a:ext cx="1888" cy="62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2000">
                      <a:solidFill>
                        <a:srgbClr val="C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论文模型</a:t>
                  </a:r>
                </a:p>
              </p:txBody>
            </p:sp>
            <p:sp>
              <p:nvSpPr>
                <p:cNvPr id="16" name="文本框 15"/>
                <p:cNvSpPr txBox="1"/>
                <p:nvPr/>
              </p:nvSpPr>
              <p:spPr>
                <a:xfrm>
                  <a:off x="1475" y="2452"/>
                  <a:ext cx="8975" cy="287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>
                    <a:lnSpc>
                      <a:spcPct val="200000"/>
                    </a:lnSpc>
                  </a:pPr>
                  <a:r>
                    <a:rPr lang="zh-CN" altLang="en-US" sz="2000" dirty="0">
                      <a:solidFill>
                        <a:srgbClr val="00B050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  <a:cs typeface="黑体" panose="02010609060101010101" pitchFamily="49" charset="-122"/>
                    </a:rPr>
                    <a:t>科学问题</a:t>
                  </a:r>
                  <a:r>
                    <a:rPr lang="en-US" altLang="zh-CN" sz="2000" dirty="0">
                      <a:latin typeface="黑体" panose="02010609060101010101" pitchFamily="49" charset="-122"/>
                      <a:ea typeface="黑体" panose="02010609060101010101" pitchFamily="49" charset="-122"/>
                      <a:cs typeface="黑体" panose="02010609060101010101" pitchFamily="49" charset="-122"/>
                    </a:rPr>
                    <a:t>   </a:t>
                  </a:r>
                  <a:r>
                    <a:rPr lang="zh-CN" altLang="en-US" sz="2000" dirty="0">
                      <a:latin typeface="黑体" panose="02010609060101010101" pitchFamily="49" charset="-122"/>
                      <a:ea typeface="黑体" panose="02010609060101010101" pitchFamily="49" charset="-122"/>
                      <a:cs typeface="黑体" panose="02010609060101010101" pitchFamily="49" charset="-122"/>
                    </a:rPr>
                    <a:t>是否探索本质?为何重要?</a:t>
                  </a:r>
                </a:p>
                <a:p>
                  <a:pPr algn="l">
                    <a:lnSpc>
                      <a:spcPct val="200000"/>
                    </a:lnSpc>
                  </a:pPr>
                  <a:r>
                    <a:rPr lang="zh-CN" altLang="en-US" sz="2000" dirty="0">
                      <a:solidFill>
                        <a:srgbClr val="00B050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  <a:cs typeface="黑体" panose="02010609060101010101" pitchFamily="49" charset="-122"/>
                    </a:rPr>
                    <a:t>写作逻辑</a:t>
                  </a:r>
                  <a:r>
                    <a:rPr lang="en-US" altLang="zh-CN" sz="2000" dirty="0">
                      <a:latin typeface="黑体" panose="02010609060101010101" pitchFamily="49" charset="-122"/>
                      <a:ea typeface="黑体" panose="02010609060101010101" pitchFamily="49" charset="-122"/>
                      <a:cs typeface="黑体" panose="02010609060101010101" pitchFamily="49" charset="-122"/>
                    </a:rPr>
                    <a:t>   </a:t>
                  </a:r>
                  <a:r>
                    <a:rPr lang="zh-CN" altLang="en-US" sz="2000" dirty="0">
                      <a:latin typeface="黑体" panose="02010609060101010101" pitchFamily="49" charset="-122"/>
                      <a:ea typeface="黑体" panose="02010609060101010101" pitchFamily="49" charset="-122"/>
                      <a:cs typeface="黑体" panose="02010609060101010101" pitchFamily="49" charset="-122"/>
                    </a:rPr>
                    <a:t>背景-现状-问题-方法如何环环相扣?</a:t>
                  </a:r>
                </a:p>
                <a:p>
                  <a:pPr algn="l">
                    <a:lnSpc>
                      <a:spcPct val="200000"/>
                    </a:lnSpc>
                  </a:pPr>
                  <a:r>
                    <a:rPr lang="zh-CN" altLang="en-US" sz="2000" dirty="0">
                      <a:solidFill>
                        <a:srgbClr val="00B050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  <a:cs typeface="黑体" panose="02010609060101010101" pitchFamily="49" charset="-122"/>
                    </a:rPr>
                    <a:t>表达方式</a:t>
                  </a:r>
                  <a:r>
                    <a:rPr lang="en-US" altLang="zh-CN" sz="2000" dirty="0">
                      <a:latin typeface="黑体" panose="02010609060101010101" pitchFamily="49" charset="-122"/>
                      <a:ea typeface="黑体" panose="02010609060101010101" pitchFamily="49" charset="-122"/>
                      <a:cs typeface="黑体" panose="02010609060101010101" pitchFamily="49" charset="-122"/>
                    </a:rPr>
                    <a:t>   </a:t>
                  </a:r>
                  <a:r>
                    <a:rPr lang="en-US" altLang="zh-CN" sz="2000" dirty="0" err="1">
                      <a:latin typeface="黑体" panose="02010609060101010101" pitchFamily="49" charset="-122"/>
                      <a:ea typeface="黑体" panose="02010609060101010101" pitchFamily="49" charset="-122"/>
                      <a:cs typeface="黑体" panose="02010609060101010101" pitchFamily="49" charset="-122"/>
                    </a:rPr>
                    <a:t>抓住重点</a:t>
                  </a:r>
                  <a:r>
                    <a:rPr lang="zh-CN" altLang="en-US" sz="2000" dirty="0">
                      <a:latin typeface="黑体" panose="02010609060101010101" pitchFamily="49" charset="-122"/>
                      <a:ea typeface="黑体" panose="02010609060101010101" pitchFamily="49" charset="-122"/>
                      <a:cs typeface="黑体" panose="02010609060101010101" pitchFamily="49" charset="-122"/>
                    </a:rPr>
                    <a:t>，</a:t>
                  </a:r>
                  <a:r>
                    <a:rPr lang="en-US" altLang="zh-CN" sz="2000" dirty="0" err="1">
                      <a:latin typeface="黑体" panose="02010609060101010101" pitchFamily="49" charset="-122"/>
                      <a:ea typeface="黑体" panose="02010609060101010101" pitchFamily="49" charset="-122"/>
                      <a:cs typeface="黑体" panose="02010609060101010101" pitchFamily="49" charset="-122"/>
                    </a:rPr>
                    <a:t>深入浅出</a:t>
                  </a:r>
                  <a:endParaRPr lang="en-US" altLang="zh-CN" sz="2000" dirty="0"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endParaRPr>
                </a:p>
              </p:txBody>
            </p:sp>
            <p:sp>
              <p:nvSpPr>
                <p:cNvPr id="18" name="文本框 17"/>
                <p:cNvSpPr txBox="1"/>
                <p:nvPr/>
              </p:nvSpPr>
              <p:spPr>
                <a:xfrm>
                  <a:off x="11641" y="2792"/>
                  <a:ext cx="488" cy="62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2000"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endParaRPr>
                </a:p>
              </p:txBody>
            </p:sp>
          </p:grpSp>
          <p:sp>
            <p:nvSpPr>
              <p:cNvPr id="22" name="矩形 21"/>
              <p:cNvSpPr/>
              <p:nvPr/>
            </p:nvSpPr>
            <p:spPr>
              <a:xfrm>
                <a:off x="16064" y="9596"/>
                <a:ext cx="2154" cy="56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4" name="文本框 23"/>
            <p:cNvSpPr txBox="1"/>
            <p:nvPr/>
          </p:nvSpPr>
          <p:spPr>
            <a:xfrm>
              <a:off x="9827" y="2112"/>
              <a:ext cx="8571" cy="28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200000"/>
                </a:lnSpc>
              </a:pPr>
              <a:r>
                <a:rPr lang="zh-CN" altLang="en-US" sz="2000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解决方法</a:t>
              </a:r>
              <a:r>
                <a:rPr lang="en-US" altLang="zh-CN" sz="2000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   </a:t>
              </a:r>
              <a:r>
                <a:rPr lang="zh-CN" altLang="en-US" sz="2000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是否专注核心挑战?如何解决?</a:t>
              </a:r>
            </a:p>
            <a:p>
              <a:pPr algn="l">
                <a:lnSpc>
                  <a:spcPct val="200000"/>
                </a:lnSpc>
              </a:pPr>
              <a:r>
                <a:rPr lang="zh-CN" altLang="en-US" sz="2000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写作逻辑</a:t>
              </a:r>
              <a:r>
                <a:rPr lang="en-US" altLang="zh-CN" sz="2000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   </a:t>
              </a:r>
              <a:r>
                <a:rPr lang="zh-CN" altLang="en-US" sz="2000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方法如何分解?各自解决哪些问题?</a:t>
              </a:r>
            </a:p>
            <a:p>
              <a:pPr algn="l">
                <a:lnSpc>
                  <a:spcPct val="200000"/>
                </a:lnSpc>
              </a:pPr>
              <a:r>
                <a:rPr lang="zh-CN" altLang="en-US" sz="2000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表达方式</a:t>
              </a:r>
              <a:r>
                <a:rPr lang="en-US" altLang="zh-CN" sz="2000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   </a:t>
              </a:r>
              <a:r>
                <a:rPr lang="en-US" altLang="zh-CN" sz="2000" dirty="0" err="1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准确清晰</a:t>
              </a:r>
              <a:r>
                <a:rPr lang="zh-CN" altLang="en-US" sz="2000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的表达</a:t>
              </a:r>
              <a:endParaRPr lang="en-US" altLang="zh-CN" sz="20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endParaRPr>
            </a:p>
          </p:txBody>
        </p:sp>
        <p:pic>
          <p:nvPicPr>
            <p:cNvPr id="27" name="图片 2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35" y="5164"/>
              <a:ext cx="6318" cy="5061"/>
            </a:xfrm>
            <a:prstGeom prst="rect">
              <a:avLst/>
            </a:prstGeom>
          </p:spPr>
        </p:pic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827" y="5514"/>
              <a:ext cx="9133" cy="3753"/>
            </a:xfrm>
            <a:prstGeom prst="rect">
              <a:avLst/>
            </a:prstGeom>
          </p:spPr>
        </p:pic>
        <p:sp>
          <p:nvSpPr>
            <p:cNvPr id="29" name="文本框 28"/>
            <p:cNvSpPr txBox="1"/>
            <p:nvPr/>
          </p:nvSpPr>
          <p:spPr>
            <a:xfrm rot="20640000">
              <a:off x="6632" y="9542"/>
              <a:ext cx="2693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>
                  <a:solidFill>
                    <a:srgbClr val="00B05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研究动机图</a:t>
              </a:r>
            </a:p>
          </p:txBody>
        </p:sp>
        <p:sp>
          <p:nvSpPr>
            <p:cNvPr id="30" name="文本框 29"/>
            <p:cNvSpPr txBox="1"/>
            <p:nvPr/>
          </p:nvSpPr>
          <p:spPr>
            <a:xfrm rot="20640000">
              <a:off x="15885" y="9517"/>
              <a:ext cx="2693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模型框架图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dirty="0"/>
              <a:t> 论文研究动机图绘制思路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3</a:t>
            </a:fld>
            <a:endParaRPr lang="zh-CN" altLang="en-US" dirty="0"/>
          </a:p>
        </p:txBody>
      </p:sp>
      <p:grpSp>
        <p:nvGrpSpPr>
          <p:cNvPr id="8" name="组合 7"/>
          <p:cNvGrpSpPr/>
          <p:nvPr/>
        </p:nvGrpSpPr>
        <p:grpSpPr>
          <a:xfrm>
            <a:off x="1847215" y="1268730"/>
            <a:ext cx="8555355" cy="4554220"/>
            <a:chOff x="3136" y="2041"/>
            <a:chExt cx="13473" cy="7172"/>
          </a:xfrm>
        </p:grpSpPr>
        <p:sp>
          <p:nvSpPr>
            <p:cNvPr id="6" name="文本框 5"/>
            <p:cNvSpPr txBox="1"/>
            <p:nvPr/>
          </p:nvSpPr>
          <p:spPr>
            <a:xfrm>
              <a:off x="3136" y="4946"/>
              <a:ext cx="4768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>
                  <a:solidFill>
                    <a:schemeClr val="accent1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让我们一起来复盘</a:t>
              </a:r>
            </a:p>
          </p:txBody>
        </p:sp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73" y="2041"/>
              <a:ext cx="7237" cy="7172"/>
            </a:xfrm>
            <a:prstGeom prst="rect">
              <a:avLst/>
            </a:prstGeom>
          </p:spPr>
        </p:pic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F09583B8-E896-5114-F67D-963FC64A14F0}"/>
              </a:ext>
            </a:extLst>
          </p:cNvPr>
          <p:cNvSpPr/>
          <p:nvPr/>
        </p:nvSpPr>
        <p:spPr>
          <a:xfrm>
            <a:off x="28952" y="6474274"/>
            <a:ext cx="540724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/>
              <a:t>*</a:t>
            </a:r>
            <a:r>
              <a:rPr lang="zh-CN" altLang="en-US" sz="1600" dirty="0"/>
              <a:t>本课件部分内容来源自：https://mmlab-iie.github.io/course/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 </a:t>
            </a:r>
            <a:r>
              <a:rPr lang="zh-CN" altLang="en-US" dirty="0"/>
              <a:t>示例一：</a:t>
            </a:r>
            <a:r>
              <a:rPr lang="en-US" altLang="zh-CN" dirty="0"/>
              <a:t>MMnasNet v1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4</a:t>
            </a:fld>
            <a:endParaRPr lang="zh-CN" altLang="en-US" dirty="0"/>
          </a:p>
        </p:txBody>
      </p:sp>
      <p:grpSp>
        <p:nvGrpSpPr>
          <p:cNvPr id="42" name="组合 41"/>
          <p:cNvGrpSpPr/>
          <p:nvPr/>
        </p:nvGrpSpPr>
        <p:grpSpPr>
          <a:xfrm>
            <a:off x="495300" y="980440"/>
            <a:ext cx="10766425" cy="5574665"/>
            <a:chOff x="780" y="1544"/>
            <a:chExt cx="16955" cy="8779"/>
          </a:xfrm>
        </p:grpSpPr>
        <p:sp>
          <p:nvSpPr>
            <p:cNvPr id="6" name="文本框 5"/>
            <p:cNvSpPr txBox="1"/>
            <p:nvPr/>
          </p:nvSpPr>
          <p:spPr>
            <a:xfrm>
              <a:off x="6425" y="1544"/>
              <a:ext cx="5328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>
                  <a:solidFill>
                    <a:schemeClr val="accent1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直观地记录研究动机</a:t>
              </a: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8579" y="5400"/>
              <a:ext cx="2031" cy="82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US" altLang="zh-CN" sz="28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MMnas</a:t>
              </a:r>
            </a:p>
          </p:txBody>
        </p:sp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02" y="2366"/>
              <a:ext cx="2494" cy="1478"/>
            </a:xfrm>
            <a:prstGeom prst="rect">
              <a:avLst/>
            </a:prstGeom>
          </p:spPr>
        </p:pic>
        <p:sp>
          <p:nvSpPr>
            <p:cNvPr id="13" name="文本框 12"/>
            <p:cNvSpPr txBox="1"/>
            <p:nvPr/>
          </p:nvSpPr>
          <p:spPr>
            <a:xfrm>
              <a:off x="1890" y="3816"/>
              <a:ext cx="4535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Q: how many cows on the grass</a:t>
              </a:r>
            </a:p>
            <a:p>
              <a:r>
                <a:rPr lang="en-US" altLang="zh-CN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A: 9</a:t>
              </a: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780" y="2962"/>
              <a:ext cx="106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VQA</a:t>
              </a:r>
            </a:p>
          </p:txBody>
        </p:sp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02" y="4901"/>
              <a:ext cx="2730" cy="1695"/>
            </a:xfrm>
            <a:prstGeom prst="rect">
              <a:avLst/>
            </a:prstGeom>
          </p:spPr>
        </p:pic>
        <p:sp>
          <p:nvSpPr>
            <p:cNvPr id="16" name="文本框 15"/>
            <p:cNvSpPr txBox="1"/>
            <p:nvPr/>
          </p:nvSpPr>
          <p:spPr>
            <a:xfrm>
              <a:off x="1890" y="6610"/>
              <a:ext cx="4535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Text: two players are grabbing the football</a:t>
              </a:r>
            </a:p>
          </p:txBody>
        </p: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002" y="7543"/>
              <a:ext cx="2730" cy="1710"/>
            </a:xfrm>
            <a:prstGeom prst="rect">
              <a:avLst/>
            </a:prstGeom>
          </p:spPr>
        </p:pic>
        <p:sp>
          <p:nvSpPr>
            <p:cNvPr id="18" name="文本框 17"/>
            <p:cNvSpPr txBox="1"/>
            <p:nvPr/>
          </p:nvSpPr>
          <p:spPr>
            <a:xfrm>
              <a:off x="2002" y="9404"/>
              <a:ext cx="4535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Query: the white sofa on the left of the room</a:t>
              </a: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780" y="5459"/>
              <a:ext cx="94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ITM</a:t>
              </a: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850" y="8108"/>
              <a:ext cx="80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VG</a:t>
              </a:r>
            </a:p>
          </p:txBody>
        </p:sp>
        <p:sp>
          <p:nvSpPr>
            <p:cNvPr id="21" name="右箭头 20"/>
            <p:cNvSpPr/>
            <p:nvPr/>
          </p:nvSpPr>
          <p:spPr>
            <a:xfrm>
              <a:off x="6085" y="5513"/>
              <a:ext cx="1927" cy="453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右箭头 22"/>
            <p:cNvSpPr/>
            <p:nvPr/>
          </p:nvSpPr>
          <p:spPr>
            <a:xfrm>
              <a:off x="11188" y="5513"/>
              <a:ext cx="1927" cy="453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/>
            <p:cNvSpPr/>
            <p:nvPr/>
          </p:nvSpPr>
          <p:spPr>
            <a:xfrm>
              <a:off x="14249" y="2791"/>
              <a:ext cx="3402" cy="10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14930" y="3018"/>
              <a:ext cx="2181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VQA results</a:t>
              </a:r>
            </a:p>
          </p:txBody>
        </p:sp>
        <p:sp>
          <p:nvSpPr>
            <p:cNvPr id="27" name="矩形 26"/>
            <p:cNvSpPr/>
            <p:nvPr/>
          </p:nvSpPr>
          <p:spPr>
            <a:xfrm>
              <a:off x="14319" y="5116"/>
              <a:ext cx="3402" cy="10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15000" y="5343"/>
              <a:ext cx="206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ITM results</a:t>
              </a:r>
            </a:p>
          </p:txBody>
        </p:sp>
        <p:sp>
          <p:nvSpPr>
            <p:cNvPr id="29" name="矩形 28"/>
            <p:cNvSpPr/>
            <p:nvPr/>
          </p:nvSpPr>
          <p:spPr>
            <a:xfrm>
              <a:off x="14333" y="7476"/>
              <a:ext cx="3402" cy="10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15014" y="7703"/>
              <a:ext cx="1947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VG results</a:t>
              </a: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8239" y="4039"/>
              <a:ext cx="6288" cy="6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解决的问题是什么？为什么重要？</a:t>
              </a:r>
            </a:p>
          </p:txBody>
        </p:sp>
        <p:cxnSp>
          <p:nvCxnSpPr>
            <p:cNvPr id="32" name="直接箭头连接符 31"/>
            <p:cNvCxnSpPr/>
            <p:nvPr/>
          </p:nvCxnSpPr>
          <p:spPr>
            <a:xfrm flipV="1">
              <a:off x="5501" y="3018"/>
              <a:ext cx="1831" cy="9"/>
            </a:xfrm>
            <a:prstGeom prst="straightConnector1">
              <a:avLst/>
            </a:prstGeom>
            <a:ln>
              <a:solidFill>
                <a:schemeClr val="accent1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/>
            <p:cNvCxnSpPr/>
            <p:nvPr/>
          </p:nvCxnSpPr>
          <p:spPr>
            <a:xfrm flipV="1">
              <a:off x="5726" y="3245"/>
              <a:ext cx="1606" cy="2233"/>
            </a:xfrm>
            <a:prstGeom prst="straightConnector1">
              <a:avLst/>
            </a:prstGeom>
            <a:ln>
              <a:solidFill>
                <a:schemeClr val="accent1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33"/>
            <p:cNvCxnSpPr/>
            <p:nvPr/>
          </p:nvCxnSpPr>
          <p:spPr>
            <a:xfrm flipV="1">
              <a:off x="5771" y="3699"/>
              <a:ext cx="1561" cy="4701"/>
            </a:xfrm>
            <a:prstGeom prst="straightConnector1">
              <a:avLst/>
            </a:prstGeom>
            <a:ln>
              <a:solidFill>
                <a:schemeClr val="accent1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/>
            <p:cNvSpPr txBox="1"/>
            <p:nvPr/>
          </p:nvSpPr>
          <p:spPr>
            <a:xfrm>
              <a:off x="7559" y="2754"/>
              <a:ext cx="4608" cy="10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三种任务相互独立，</a:t>
              </a:r>
            </a:p>
            <a:p>
              <a:r>
                <a:rPr lang="zh-CN" altLang="en-US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如何用同一个网络来解决？</a:t>
              </a:r>
            </a:p>
          </p:txBody>
        </p:sp>
        <p:cxnSp>
          <p:nvCxnSpPr>
            <p:cNvPr id="36" name="直接箭头连接符 35"/>
            <p:cNvCxnSpPr/>
            <p:nvPr/>
          </p:nvCxnSpPr>
          <p:spPr>
            <a:xfrm flipH="1">
              <a:off x="11857" y="3358"/>
              <a:ext cx="2155" cy="4650"/>
            </a:xfrm>
            <a:prstGeom prst="straightConnector1">
              <a:avLst/>
            </a:prstGeom>
            <a:ln>
              <a:solidFill>
                <a:schemeClr val="accent1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/>
            <p:cNvCxnSpPr/>
            <p:nvPr/>
          </p:nvCxnSpPr>
          <p:spPr>
            <a:xfrm flipH="1">
              <a:off x="12208" y="5860"/>
              <a:ext cx="1859" cy="2034"/>
            </a:xfrm>
            <a:prstGeom prst="straightConnector1">
              <a:avLst/>
            </a:prstGeom>
            <a:ln>
              <a:solidFill>
                <a:schemeClr val="accent1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箭头连接符 37"/>
            <p:cNvCxnSpPr/>
            <p:nvPr/>
          </p:nvCxnSpPr>
          <p:spPr>
            <a:xfrm flipH="1">
              <a:off x="12322" y="8008"/>
              <a:ext cx="1814" cy="0"/>
            </a:xfrm>
            <a:prstGeom prst="straightConnector1">
              <a:avLst/>
            </a:prstGeom>
            <a:ln>
              <a:solidFill>
                <a:schemeClr val="accent1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文本框 39"/>
            <p:cNvSpPr txBox="1"/>
            <p:nvPr/>
          </p:nvSpPr>
          <p:spPr>
            <a:xfrm>
              <a:off x="7105" y="8288"/>
              <a:ext cx="604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同一个网络怎么处理三种回答形式？</a:t>
              </a: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7899" y="9350"/>
              <a:ext cx="748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主要问题：结构散乱，内容含糊！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 </a:t>
            </a:r>
            <a:r>
              <a:rPr lang="zh-CN" altLang="en-US" dirty="0"/>
              <a:t>示例一：</a:t>
            </a:r>
            <a:r>
              <a:rPr lang="en-US" altLang="zh-CN" dirty="0"/>
              <a:t>MMnasNet v2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5</a:t>
            </a:fld>
            <a:endParaRPr lang="zh-CN" altLang="en-US" dirty="0"/>
          </a:p>
        </p:txBody>
      </p:sp>
      <p:grpSp>
        <p:nvGrpSpPr>
          <p:cNvPr id="19" name="组合 18"/>
          <p:cNvGrpSpPr/>
          <p:nvPr/>
        </p:nvGrpSpPr>
        <p:grpSpPr>
          <a:xfrm>
            <a:off x="839470" y="980440"/>
            <a:ext cx="10578465" cy="5177155"/>
            <a:chOff x="1322" y="1544"/>
            <a:chExt cx="16659" cy="8153"/>
          </a:xfrm>
        </p:grpSpPr>
        <p:sp>
          <p:nvSpPr>
            <p:cNvPr id="6" name="文本框 5"/>
            <p:cNvSpPr txBox="1"/>
            <p:nvPr/>
          </p:nvSpPr>
          <p:spPr>
            <a:xfrm>
              <a:off x="6376" y="1544"/>
              <a:ext cx="6448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>
                  <a:solidFill>
                    <a:schemeClr val="accent1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模块化绘图，使脉络清晰</a:t>
              </a:r>
            </a:p>
          </p:txBody>
        </p:sp>
        <p:sp>
          <p:nvSpPr>
            <p:cNvPr id="8" name="圆角矩形 7"/>
            <p:cNvSpPr/>
            <p:nvPr/>
          </p:nvSpPr>
          <p:spPr>
            <a:xfrm>
              <a:off x="5518" y="5400"/>
              <a:ext cx="8314" cy="1361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8659" y="5627"/>
              <a:ext cx="2031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MMnas</a:t>
              </a:r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81" y="5053"/>
              <a:ext cx="5789" cy="306"/>
            </a:xfrm>
            <a:prstGeom prst="rect">
              <a:avLst/>
            </a:prstGeom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44" y="6723"/>
              <a:ext cx="8263" cy="2974"/>
            </a:xfrm>
            <a:prstGeom prst="rect">
              <a:avLst/>
            </a:prstGeom>
          </p:spPr>
        </p:pic>
        <p:sp>
          <p:nvSpPr>
            <p:cNvPr id="4" name="圆角矩形 3"/>
            <p:cNvSpPr/>
            <p:nvPr/>
          </p:nvSpPr>
          <p:spPr>
            <a:xfrm>
              <a:off x="5745" y="3764"/>
              <a:ext cx="2267" cy="1295"/>
            </a:xfrm>
            <a:prstGeom prst="roundRect">
              <a:avLst/>
            </a:prstGeom>
            <a:noFill/>
            <a:ln>
              <a:solidFill>
                <a:srgbClr val="FDE498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pattFill prst="pct5">
                    <a:fgClr>
                      <a:srgbClr val="4F81BD"/>
                    </a:fgClr>
                    <a:bgClr>
                      <a:srgbClr val="FFFFFF"/>
                    </a:bgClr>
                  </a:patt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5971" y="4152"/>
              <a:ext cx="1914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VQA head</a:t>
              </a:r>
            </a:p>
          </p:txBody>
        </p:sp>
        <p:sp>
          <p:nvSpPr>
            <p:cNvPr id="14" name="圆角矩形 13"/>
            <p:cNvSpPr/>
            <p:nvPr/>
          </p:nvSpPr>
          <p:spPr>
            <a:xfrm>
              <a:off x="8526" y="3764"/>
              <a:ext cx="2267" cy="1295"/>
            </a:xfrm>
            <a:prstGeom prst="roundRect">
              <a:avLst/>
            </a:prstGeom>
            <a:noFill/>
            <a:ln>
              <a:solidFill>
                <a:srgbClr val="E3CCE5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pattFill prst="pct5">
                    <a:fgClr>
                      <a:srgbClr val="4F81BD"/>
                    </a:fgClr>
                    <a:bgClr>
                      <a:srgbClr val="FFFFFF"/>
                    </a:bgClr>
                  </a:patt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8752" y="4152"/>
              <a:ext cx="1801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ITM head</a:t>
              </a:r>
            </a:p>
          </p:txBody>
        </p:sp>
        <p:sp>
          <p:nvSpPr>
            <p:cNvPr id="16" name="圆角矩形 15"/>
            <p:cNvSpPr/>
            <p:nvPr/>
          </p:nvSpPr>
          <p:spPr>
            <a:xfrm>
              <a:off x="11293" y="3764"/>
              <a:ext cx="2267" cy="1295"/>
            </a:xfrm>
            <a:prstGeom prst="roundRect">
              <a:avLst/>
            </a:prstGeom>
            <a:noFill/>
            <a:ln>
              <a:solidFill>
                <a:srgbClr val="F7CAAB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pattFill prst="pct5">
                    <a:fgClr>
                      <a:srgbClr val="4F81BD"/>
                    </a:fgClr>
                    <a:bgClr>
                      <a:srgbClr val="FFFFFF"/>
                    </a:bgClr>
                  </a:patt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1641" y="4152"/>
              <a:ext cx="1680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VG head</a:t>
              </a: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322" y="2601"/>
              <a:ext cx="8688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主要问题：所解决问题难以理解！</a:t>
              </a: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2321" y="5508"/>
              <a:ext cx="488" cy="6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200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1293" y="5585"/>
              <a:ext cx="6688" cy="11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00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网络到底怎么区分三种任务？</a:t>
              </a:r>
              <a:endParaRPr lang="zh-CN" altLang="en-US" sz="200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l"/>
              <a:r>
                <a:rPr lang="zh-CN" altLang="en-US" sz="200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文字和图片信息分别是怎么处理的？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 </a:t>
            </a:r>
            <a:r>
              <a:rPr lang="zh-CN" altLang="en-US" dirty="0"/>
              <a:t>示例一：</a:t>
            </a:r>
            <a:r>
              <a:rPr lang="en-US" altLang="zh-CN" dirty="0"/>
              <a:t>MMnasNet v3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6</a:t>
            </a:fld>
            <a:endParaRPr lang="zh-CN" altLang="en-US" dirty="0"/>
          </a:p>
        </p:txBody>
      </p:sp>
      <p:grpSp>
        <p:nvGrpSpPr>
          <p:cNvPr id="22" name="组合 21"/>
          <p:cNvGrpSpPr/>
          <p:nvPr/>
        </p:nvGrpSpPr>
        <p:grpSpPr>
          <a:xfrm>
            <a:off x="839470" y="981710"/>
            <a:ext cx="11079480" cy="5344160"/>
            <a:chOff x="1322" y="1546"/>
            <a:chExt cx="17448" cy="8416"/>
          </a:xfrm>
        </p:grpSpPr>
        <p:grpSp>
          <p:nvGrpSpPr>
            <p:cNvPr id="20" name="组合 19"/>
            <p:cNvGrpSpPr/>
            <p:nvPr/>
          </p:nvGrpSpPr>
          <p:grpSpPr>
            <a:xfrm>
              <a:off x="1322" y="1546"/>
              <a:ext cx="13742" cy="8417"/>
              <a:chOff x="1322" y="1546"/>
              <a:chExt cx="13742" cy="8417"/>
            </a:xfrm>
          </p:grpSpPr>
          <p:sp>
            <p:nvSpPr>
              <p:cNvPr id="6" name="文本框 5"/>
              <p:cNvSpPr txBox="1"/>
              <p:nvPr/>
            </p:nvSpPr>
            <p:spPr>
              <a:xfrm>
                <a:off x="4136" y="1546"/>
                <a:ext cx="10928" cy="8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800">
                    <a:solidFill>
                      <a:schemeClr val="accent1">
                        <a:lumMod val="50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增加模型的内部结构，明确解决问题的方式</a:t>
                </a:r>
              </a:p>
            </p:txBody>
          </p:sp>
          <p:pic>
            <p:nvPicPr>
              <p:cNvPr id="10" name="图片 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65" y="5108"/>
                <a:ext cx="5789" cy="306"/>
              </a:xfrm>
              <a:prstGeom prst="rect">
                <a:avLst/>
              </a:prstGeom>
            </p:spPr>
          </p:pic>
          <p:pic>
            <p:nvPicPr>
              <p:cNvPr id="3" name="图片 2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62" y="6989"/>
                <a:ext cx="8263" cy="2974"/>
              </a:xfrm>
              <a:prstGeom prst="rect">
                <a:avLst/>
              </a:prstGeom>
            </p:spPr>
          </p:pic>
          <p:sp>
            <p:nvSpPr>
              <p:cNvPr id="4" name="圆角矩形 3"/>
              <p:cNvSpPr/>
              <p:nvPr/>
            </p:nvSpPr>
            <p:spPr>
              <a:xfrm>
                <a:off x="5744" y="3765"/>
                <a:ext cx="2267" cy="1295"/>
              </a:xfrm>
              <a:prstGeom prst="roundRect">
                <a:avLst/>
              </a:prstGeom>
              <a:noFill/>
              <a:ln>
                <a:solidFill>
                  <a:srgbClr val="FDE498"/>
                </a:solidFill>
                <a:prstDash val="dash"/>
              </a:ln>
              <a:extLst>
                <a:ext uri="{909E8E84-426E-40DD-AFC4-6F175D3DCCD1}">
                  <a14:hiddenFill xmlns:a14="http://schemas.microsoft.com/office/drawing/2010/main">
                    <a:pattFill prst="pct5">
                      <a:fgClr>
                        <a:srgbClr val="4F81BD"/>
                      </a:fgClr>
                      <a:bgClr>
                        <a:srgbClr val="FFFFFF"/>
                      </a:bgClr>
                    </a:patt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5971" y="4153"/>
                <a:ext cx="1914" cy="5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/>
                  <a:t>VQA head</a:t>
                </a:r>
              </a:p>
            </p:txBody>
          </p:sp>
          <p:sp>
            <p:nvSpPr>
              <p:cNvPr id="14" name="圆角矩形 13"/>
              <p:cNvSpPr/>
              <p:nvPr/>
            </p:nvSpPr>
            <p:spPr>
              <a:xfrm>
                <a:off x="8526" y="3765"/>
                <a:ext cx="2267" cy="1295"/>
              </a:xfrm>
              <a:prstGeom prst="roundRect">
                <a:avLst/>
              </a:prstGeom>
              <a:noFill/>
              <a:ln>
                <a:solidFill>
                  <a:srgbClr val="E3CCE5"/>
                </a:solidFill>
                <a:prstDash val="dash"/>
              </a:ln>
              <a:extLst>
                <a:ext uri="{909E8E84-426E-40DD-AFC4-6F175D3DCCD1}">
                  <a14:hiddenFill xmlns:a14="http://schemas.microsoft.com/office/drawing/2010/main">
                    <a:pattFill prst="pct5">
                      <a:fgClr>
                        <a:srgbClr val="4F81BD"/>
                      </a:fgClr>
                      <a:bgClr>
                        <a:srgbClr val="FFFFFF"/>
                      </a:bgClr>
                    </a:patt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文本框 14"/>
              <p:cNvSpPr txBox="1"/>
              <p:nvPr/>
            </p:nvSpPr>
            <p:spPr>
              <a:xfrm>
                <a:off x="8752" y="4153"/>
                <a:ext cx="1801" cy="5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/>
                  <a:t>ITM head</a:t>
                </a:r>
              </a:p>
            </p:txBody>
          </p:sp>
          <p:sp>
            <p:nvSpPr>
              <p:cNvPr id="16" name="圆角矩形 15"/>
              <p:cNvSpPr/>
              <p:nvPr/>
            </p:nvSpPr>
            <p:spPr>
              <a:xfrm>
                <a:off x="11293" y="3765"/>
                <a:ext cx="2267" cy="1295"/>
              </a:xfrm>
              <a:prstGeom prst="roundRect">
                <a:avLst/>
              </a:prstGeom>
              <a:noFill/>
              <a:ln>
                <a:solidFill>
                  <a:srgbClr val="F7CAAB"/>
                </a:solidFill>
                <a:prstDash val="dash"/>
              </a:ln>
              <a:extLst>
                <a:ext uri="{909E8E84-426E-40DD-AFC4-6F175D3DCCD1}">
                  <a14:hiddenFill xmlns:a14="http://schemas.microsoft.com/office/drawing/2010/main">
                    <a:pattFill prst="pct5">
                      <a:fgClr>
                        <a:srgbClr val="4F81BD"/>
                      </a:fgClr>
                      <a:bgClr>
                        <a:srgbClr val="FFFFFF"/>
                      </a:bgClr>
                    </a:patt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文本框 16"/>
              <p:cNvSpPr txBox="1"/>
              <p:nvPr/>
            </p:nvSpPr>
            <p:spPr>
              <a:xfrm>
                <a:off x="11641" y="4153"/>
                <a:ext cx="1680" cy="5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/>
                  <a:t>VG head</a:t>
                </a:r>
              </a:p>
            </p:txBody>
          </p:sp>
          <p:sp>
            <p:nvSpPr>
              <p:cNvPr id="18" name="文本框 17"/>
              <p:cNvSpPr txBox="1"/>
              <p:nvPr/>
            </p:nvSpPr>
            <p:spPr>
              <a:xfrm>
                <a:off x="1322" y="2602"/>
                <a:ext cx="8688" cy="8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800">
                    <a:solidFill>
                      <a:srgbClr val="C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主要问题：没有体现出“搜索”！</a:t>
                </a:r>
              </a:p>
            </p:txBody>
          </p:sp>
          <p:pic>
            <p:nvPicPr>
              <p:cNvPr id="11" name="图片 10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62" y="5418"/>
                <a:ext cx="8210" cy="1590"/>
              </a:xfrm>
              <a:prstGeom prst="rect">
                <a:avLst/>
              </a:prstGeom>
            </p:spPr>
          </p:pic>
        </p:grpSp>
        <p:sp>
          <p:nvSpPr>
            <p:cNvPr id="21" name="文本框 20"/>
            <p:cNvSpPr txBox="1"/>
            <p:nvPr/>
          </p:nvSpPr>
          <p:spPr>
            <a:xfrm>
              <a:off x="13682" y="4098"/>
              <a:ext cx="5088" cy="6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三种任务的各自搜索过程？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 </a:t>
            </a:r>
            <a:r>
              <a:rPr lang="zh-CN" altLang="en-US" dirty="0"/>
              <a:t>示例一：</a:t>
            </a:r>
            <a:r>
              <a:rPr lang="en-US" altLang="zh-CN" dirty="0"/>
              <a:t>MMnasNet v4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7</a:t>
            </a:fld>
            <a:endParaRPr lang="zh-CN" altLang="en-US" dirty="0"/>
          </a:p>
        </p:txBody>
      </p:sp>
      <p:grpSp>
        <p:nvGrpSpPr>
          <p:cNvPr id="22" name="组合 21"/>
          <p:cNvGrpSpPr/>
          <p:nvPr/>
        </p:nvGrpSpPr>
        <p:grpSpPr>
          <a:xfrm>
            <a:off x="119380" y="947420"/>
            <a:ext cx="11244580" cy="5258435"/>
            <a:chOff x="188" y="1492"/>
            <a:chExt cx="17708" cy="8281"/>
          </a:xfrm>
        </p:grpSpPr>
        <p:sp>
          <p:nvSpPr>
            <p:cNvPr id="6" name="文本框 5"/>
            <p:cNvSpPr txBox="1"/>
            <p:nvPr/>
          </p:nvSpPr>
          <p:spPr>
            <a:xfrm>
              <a:off x="8239" y="1492"/>
              <a:ext cx="3088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>
                  <a:solidFill>
                    <a:schemeClr val="accent1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最终版本！</a:t>
              </a:r>
            </a:p>
          </p:txBody>
        </p: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919" y="2905"/>
              <a:ext cx="8519" cy="6868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8" y="3923"/>
              <a:ext cx="8219" cy="4839"/>
            </a:xfrm>
            <a:prstGeom prst="rect">
              <a:avLst/>
            </a:prstGeom>
          </p:spPr>
        </p:pic>
        <p:sp>
          <p:nvSpPr>
            <p:cNvPr id="20" name="文本框 19"/>
            <p:cNvSpPr txBox="1"/>
            <p:nvPr/>
          </p:nvSpPr>
          <p:spPr>
            <a:xfrm>
              <a:off x="2115" y="2905"/>
              <a:ext cx="412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与正文内容对应！</a:t>
              </a: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2208" y="2452"/>
              <a:ext cx="56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模拟搜索过程，体现本文研究内容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 </a:t>
            </a:r>
            <a:r>
              <a:rPr dirty="0"/>
              <a:t>论文研究动机示意图——小结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9376" y="908720"/>
            <a:ext cx="10873208" cy="5472608"/>
          </a:xfrm>
        </p:spPr>
        <p:txBody>
          <a:bodyPr>
            <a:normAutofit/>
          </a:bodyPr>
          <a:lstStyle/>
          <a:p>
            <a:pPr>
              <a:lnSpc>
                <a:spcPct val="17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研究动机图</a:t>
            </a:r>
            <a:endParaRPr lang="en-US" altLang="zh-CN" b="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lvl="1">
              <a:lnSpc>
                <a:spcPct val="175000"/>
              </a:lnSpc>
              <a:spcAft>
                <a:spcPts val="0"/>
              </a:spcAft>
            </a:pPr>
            <a:r>
              <a:rPr lang="zh-CN" altLang="en-US" b="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明确所解决的</a:t>
            </a:r>
            <a:r>
              <a:rPr lang="zh-CN" altLang="en-US" b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问题</a:t>
            </a:r>
          </a:p>
          <a:p>
            <a:pPr lvl="1">
              <a:lnSpc>
                <a:spcPct val="175000"/>
              </a:lnSpc>
              <a:spcAft>
                <a:spcPts val="0"/>
              </a:spcAft>
            </a:pPr>
            <a:r>
              <a:rPr lang="en-US" altLang="zh-CN" b="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明确所提出的</a:t>
            </a:r>
            <a:r>
              <a:rPr lang="en-US" altLang="zh-CN" b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创新</a:t>
            </a:r>
            <a:endParaRPr lang="en-US" altLang="zh-CN" b="0" dirty="0">
              <a:solidFill>
                <a:schemeClr val="accent1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75000"/>
              </a:lnSpc>
              <a:spcAft>
                <a:spcPts val="0"/>
              </a:spcAft>
            </a:pPr>
            <a:r>
              <a:rPr lang="en-US" altLang="zh-CN" b="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列举鲜明</a:t>
            </a:r>
            <a:r>
              <a:rPr lang="en-US" altLang="zh-CN" b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对比</a:t>
            </a:r>
            <a:r>
              <a:rPr lang="en-US" altLang="zh-CN" b="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实例</a:t>
            </a:r>
          </a:p>
          <a:p>
            <a:pPr lvl="1">
              <a:lnSpc>
                <a:spcPct val="175000"/>
              </a:lnSpc>
              <a:spcAft>
                <a:spcPts val="0"/>
              </a:spcAft>
            </a:pPr>
            <a:r>
              <a:rPr lang="en-US" altLang="zh-CN" b="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覆盖精准</a:t>
            </a:r>
            <a:r>
              <a:rPr lang="en-US" altLang="zh-CN" b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典型</a:t>
            </a:r>
            <a:r>
              <a:rPr lang="en-US" altLang="zh-CN" b="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情况</a:t>
            </a:r>
          </a:p>
          <a:p>
            <a:pPr lvl="1">
              <a:lnSpc>
                <a:spcPct val="175000"/>
              </a:lnSpc>
              <a:spcAft>
                <a:spcPts val="0"/>
              </a:spcAft>
            </a:pP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呼应论文</a:t>
            </a:r>
            <a:r>
              <a:rPr lang="en-US" altLang="zh-CN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叙述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逻辑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8</a:t>
            </a:fld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0C39F9-8560-5172-D428-7D821AE1F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示例二：</a:t>
            </a:r>
            <a:r>
              <a:rPr lang="en-US" altLang="zh-CN" dirty="0"/>
              <a:t>Non-local</a:t>
            </a:r>
            <a:endParaRPr kumimoji="1"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858212F8-A870-B17E-596C-ECAF18FE61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3362" y="1317809"/>
            <a:ext cx="8965276" cy="5329238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E01DA4C-C84A-423E-B208-DD2C18C07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9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DDC3152-C348-8B7E-1184-1B89F5DACBE2}"/>
              </a:ext>
            </a:extLst>
          </p:cNvPr>
          <p:cNvSpPr txBox="1"/>
          <p:nvPr/>
        </p:nvSpPr>
        <p:spPr>
          <a:xfrm>
            <a:off x="407368" y="1052089"/>
            <a:ext cx="61012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j-ea"/>
                <a:ea typeface="+mj-ea"/>
              </a:rPr>
              <a:t>方法动机</a:t>
            </a:r>
          </a:p>
        </p:txBody>
      </p:sp>
    </p:spTree>
    <p:extLst>
      <p:ext uri="{BB962C8B-B14F-4D97-AF65-F5344CB8AC3E}">
        <p14:creationId xmlns:p14="http://schemas.microsoft.com/office/powerpoint/2010/main" val="1293896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74B18C-3C49-95B6-F26C-45224BEAC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示例三：</a:t>
            </a:r>
            <a:r>
              <a:rPr lang="en-US" altLang="zh-CN" dirty="0"/>
              <a:t> CLIP</a:t>
            </a:r>
            <a:endParaRPr kumimoji="1"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E058407E-D3B5-E310-6DBA-2D0021A151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729" y="1528762"/>
            <a:ext cx="10028542" cy="5329238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D431F5-7632-D17D-56F7-FF77002BA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10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72C8A21-3AE1-1779-8AA9-FFC3AB61F18A}"/>
              </a:ext>
            </a:extLst>
          </p:cNvPr>
          <p:cNvSpPr txBox="1"/>
          <p:nvPr/>
        </p:nvSpPr>
        <p:spPr>
          <a:xfrm>
            <a:off x="407368" y="1003819"/>
            <a:ext cx="61012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j-ea"/>
                <a:ea typeface="+mj-ea"/>
              </a:rPr>
              <a:t>方法流程</a:t>
            </a:r>
          </a:p>
        </p:txBody>
      </p:sp>
    </p:spTree>
    <p:extLst>
      <p:ext uri="{BB962C8B-B14F-4D97-AF65-F5344CB8AC3E}">
        <p14:creationId xmlns:p14="http://schemas.microsoft.com/office/powerpoint/2010/main" val="15403963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0E8AFD-27B1-2B56-1591-996AAB6F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示例四：</a:t>
            </a:r>
            <a:r>
              <a:rPr lang="en-US" altLang="zh-CN" dirty="0"/>
              <a:t> Segment Anything </a:t>
            </a:r>
            <a:endParaRPr kumimoji="1"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30FFF00F-7421-4C53-A797-82F7AA2D8F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267" y="1234652"/>
            <a:ext cx="10099465" cy="5329238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7C51DF1-8A02-F354-0A84-783B69F01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11</a:t>
            </a:fld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E259A13-F81A-F094-5DBE-95192197F268}"/>
              </a:ext>
            </a:extLst>
          </p:cNvPr>
          <p:cNvSpPr txBox="1"/>
          <p:nvPr/>
        </p:nvSpPr>
        <p:spPr>
          <a:xfrm>
            <a:off x="407368" y="1052089"/>
            <a:ext cx="61012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j-ea"/>
                <a:ea typeface="+mj-ea"/>
              </a:rPr>
              <a:t>任务、模型、数据</a:t>
            </a:r>
          </a:p>
        </p:txBody>
      </p:sp>
    </p:spTree>
    <p:extLst>
      <p:ext uri="{BB962C8B-B14F-4D97-AF65-F5344CB8AC3E}">
        <p14:creationId xmlns:p14="http://schemas.microsoft.com/office/powerpoint/2010/main" val="42319976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E769F0-BC04-BBA9-28C0-E070781F8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示例五：</a:t>
            </a:r>
            <a:r>
              <a:rPr lang="en-US" altLang="zh-CN" dirty="0"/>
              <a:t> Pseudo-Q</a:t>
            </a:r>
            <a:endParaRPr kumimoji="1" lang="zh-CN" altLang="en-US" dirty="0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FDE021D0-887B-1A34-4D71-447B2080A4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5680" y="1234652"/>
            <a:ext cx="6259119" cy="5329238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344F95-A292-B84B-C69C-1D69A4F5B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12</a:t>
            </a:fld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B33CE91-8220-9C60-3ED5-E85A776433F1}"/>
              </a:ext>
            </a:extLst>
          </p:cNvPr>
          <p:cNvSpPr txBox="1"/>
          <p:nvPr/>
        </p:nvSpPr>
        <p:spPr>
          <a:xfrm>
            <a:off x="407368" y="1052089"/>
            <a:ext cx="61012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j-ea"/>
                <a:ea typeface="+mj-ea"/>
              </a:rPr>
              <a:t>任务</a:t>
            </a:r>
          </a:p>
        </p:txBody>
      </p:sp>
    </p:spTree>
    <p:extLst>
      <p:ext uri="{BB962C8B-B14F-4D97-AF65-F5344CB8AC3E}">
        <p14:creationId xmlns:p14="http://schemas.microsoft.com/office/powerpoint/2010/main" val="3036991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7515E2-53F3-C44B-BDCA-8F02B771C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示例六：</a:t>
            </a:r>
            <a:r>
              <a:rPr kumimoji="1" lang="en-US" altLang="zh-CN" dirty="0"/>
              <a:t>DETR</a:t>
            </a:r>
            <a:endParaRPr kumimoji="1"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BC0CB126-CA91-0C31-C661-36A41E1BF8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983" y="2343795"/>
            <a:ext cx="9038033" cy="3312368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7044FF-A66A-30E8-E8F5-2393DE2CF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13</a:t>
            </a:fld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86DFDDF-55CF-369B-DBB6-D80E68D820A5}"/>
              </a:ext>
            </a:extLst>
          </p:cNvPr>
          <p:cNvSpPr txBox="1"/>
          <p:nvPr/>
        </p:nvSpPr>
        <p:spPr>
          <a:xfrm>
            <a:off x="407368" y="1003819"/>
            <a:ext cx="61012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j-ea"/>
                <a:ea typeface="+mj-ea"/>
              </a:rPr>
              <a:t>模型</a:t>
            </a:r>
          </a:p>
        </p:txBody>
      </p:sp>
    </p:spTree>
    <p:extLst>
      <p:ext uri="{BB962C8B-B14F-4D97-AF65-F5344CB8AC3E}">
        <p14:creationId xmlns:p14="http://schemas.microsoft.com/office/powerpoint/2010/main" val="11525687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B3D754-F3BA-B949-B22F-36D1FAA98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示例七：</a:t>
            </a:r>
            <a:r>
              <a:rPr kumimoji="1" lang="en-US" altLang="zh-CN" dirty="0"/>
              <a:t>SOLO</a:t>
            </a:r>
            <a:endParaRPr kumimoji="1"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49E34050-D6E6-46AC-4A1D-0A400762C0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456" y="2348880"/>
            <a:ext cx="9183949" cy="3528392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E01D5F-278A-FC98-1091-4580415C8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14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103DE0D-1DF0-1A62-DF56-1C9AD23624FF}"/>
              </a:ext>
            </a:extLst>
          </p:cNvPr>
          <p:cNvSpPr txBox="1"/>
          <p:nvPr/>
        </p:nvSpPr>
        <p:spPr>
          <a:xfrm>
            <a:off x="407368" y="1003819"/>
            <a:ext cx="61012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j-ea"/>
                <a:ea typeface="+mj-ea"/>
              </a:rPr>
              <a:t>模型对比</a:t>
            </a:r>
          </a:p>
        </p:txBody>
      </p:sp>
    </p:spTree>
    <p:extLst>
      <p:ext uri="{BB962C8B-B14F-4D97-AF65-F5344CB8AC3E}">
        <p14:creationId xmlns:p14="http://schemas.microsoft.com/office/powerpoint/2010/main" val="20270087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6A886F-66E0-B559-D211-3218414A4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示例八：</a:t>
            </a:r>
            <a:r>
              <a:rPr kumimoji="1" lang="en-US" altLang="zh-CN" dirty="0"/>
              <a:t>CLIP Surgery </a:t>
            </a:r>
            <a:endParaRPr kumimoji="1"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F970CB20-6CC0-773D-4C35-1477AA4B28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544" y="1323747"/>
            <a:ext cx="8933983" cy="5329238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7AFFD78-1CF1-E907-AC88-AD22E6498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15</a:t>
            </a:fld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B4A1665-B944-4CC4-6B13-DCFBDAE71194}"/>
              </a:ext>
            </a:extLst>
          </p:cNvPr>
          <p:cNvSpPr txBox="1"/>
          <p:nvPr/>
        </p:nvSpPr>
        <p:spPr>
          <a:xfrm>
            <a:off x="407368" y="1003819"/>
            <a:ext cx="61012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j-ea"/>
                <a:ea typeface="+mj-ea"/>
              </a:rPr>
              <a:t>效果对比（引出问题）</a:t>
            </a:r>
          </a:p>
        </p:txBody>
      </p:sp>
    </p:spTree>
    <p:extLst>
      <p:ext uri="{BB962C8B-B14F-4D97-AF65-F5344CB8AC3E}">
        <p14:creationId xmlns:p14="http://schemas.microsoft.com/office/powerpoint/2010/main" val="42049666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EA9917-4880-5C93-6877-50D489998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示例久：</a:t>
            </a:r>
            <a:r>
              <a:rPr kumimoji="1" lang="en-US" altLang="zh-CN" dirty="0" err="1"/>
              <a:t>CenterNet</a:t>
            </a:r>
            <a:endParaRPr kumimoji="1"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D2363827-4BC3-FCCD-A393-B927D533E4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3945" y="1319935"/>
            <a:ext cx="7024110" cy="5329238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F17854-33E3-970A-0590-7530D8BDF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16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907E72C-E5EC-EB6C-FE18-5970457DF3C0}"/>
              </a:ext>
            </a:extLst>
          </p:cNvPr>
          <p:cNvSpPr txBox="1"/>
          <p:nvPr/>
        </p:nvSpPr>
        <p:spPr>
          <a:xfrm>
            <a:off x="407368" y="1003819"/>
            <a:ext cx="61012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j-ea"/>
                <a:ea typeface="+mj-ea"/>
              </a:rPr>
              <a:t>效果对比</a:t>
            </a:r>
          </a:p>
        </p:txBody>
      </p:sp>
    </p:spTree>
    <p:extLst>
      <p:ext uri="{BB962C8B-B14F-4D97-AF65-F5344CB8AC3E}">
        <p14:creationId xmlns:p14="http://schemas.microsoft.com/office/powerpoint/2010/main" val="17972592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dirty="0"/>
              <a:t> 从论文图示与论文写作的关系说起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17</a:t>
            </a:fld>
            <a:endParaRPr lang="zh-CN" altLang="en-US" dirty="0"/>
          </a:p>
        </p:txBody>
      </p:sp>
      <p:grpSp>
        <p:nvGrpSpPr>
          <p:cNvPr id="31" name="组合 30"/>
          <p:cNvGrpSpPr/>
          <p:nvPr/>
        </p:nvGrpSpPr>
        <p:grpSpPr>
          <a:xfrm>
            <a:off x="360045" y="1052830"/>
            <a:ext cx="11678920" cy="5472430"/>
            <a:chOff x="567" y="1658"/>
            <a:chExt cx="18392" cy="8618"/>
          </a:xfrm>
        </p:grpSpPr>
        <p:grpSp>
          <p:nvGrpSpPr>
            <p:cNvPr id="17" name="组合 16"/>
            <p:cNvGrpSpPr/>
            <p:nvPr/>
          </p:nvGrpSpPr>
          <p:grpSpPr>
            <a:xfrm>
              <a:off x="567" y="1658"/>
              <a:ext cx="16857" cy="8618"/>
              <a:chOff x="1361" y="1658"/>
              <a:chExt cx="16857" cy="8618"/>
            </a:xfrm>
          </p:grpSpPr>
          <p:grpSp>
            <p:nvGrpSpPr>
              <p:cNvPr id="11" name="组合 10"/>
              <p:cNvGrpSpPr/>
              <p:nvPr/>
            </p:nvGrpSpPr>
            <p:grpSpPr>
              <a:xfrm>
                <a:off x="1361" y="1658"/>
                <a:ext cx="14095" cy="8618"/>
                <a:chOff x="1475" y="1998"/>
                <a:chExt cx="14095" cy="8618"/>
              </a:xfrm>
            </p:grpSpPr>
            <p:cxnSp>
              <p:nvCxnSpPr>
                <p:cNvPr id="13" name="直接连接符 12"/>
                <p:cNvCxnSpPr/>
                <p:nvPr/>
              </p:nvCxnSpPr>
              <p:spPr>
                <a:xfrm>
                  <a:off x="10508" y="1998"/>
                  <a:ext cx="0" cy="8618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4" name="文本框 13"/>
                <p:cNvSpPr txBox="1"/>
                <p:nvPr/>
              </p:nvSpPr>
              <p:spPr>
                <a:xfrm>
                  <a:off x="4724" y="1999"/>
                  <a:ext cx="1888" cy="62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2000">
                      <a:solidFill>
                        <a:srgbClr val="00B05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论文引言</a:t>
                  </a:r>
                </a:p>
              </p:txBody>
            </p:sp>
            <p:sp>
              <p:nvSpPr>
                <p:cNvPr id="15" name="文本框 14"/>
                <p:cNvSpPr txBox="1"/>
                <p:nvPr/>
              </p:nvSpPr>
              <p:spPr>
                <a:xfrm>
                  <a:off x="13682" y="1998"/>
                  <a:ext cx="1888" cy="62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2000">
                      <a:solidFill>
                        <a:srgbClr val="C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论文模型</a:t>
                  </a:r>
                </a:p>
              </p:txBody>
            </p:sp>
            <p:sp>
              <p:nvSpPr>
                <p:cNvPr id="16" name="文本框 15"/>
                <p:cNvSpPr txBox="1"/>
                <p:nvPr/>
              </p:nvSpPr>
              <p:spPr>
                <a:xfrm>
                  <a:off x="1475" y="2452"/>
                  <a:ext cx="8720" cy="305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>
                    <a:lnSpc>
                      <a:spcPct val="200000"/>
                    </a:lnSpc>
                  </a:pPr>
                  <a:r>
                    <a:rPr lang="zh-CN" altLang="en-US" sz="2000">
                      <a:solidFill>
                        <a:srgbClr val="00B050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  <a:cs typeface="黑体" panose="02010609060101010101" pitchFamily="49" charset="-122"/>
                    </a:rPr>
                    <a:t>科学问题</a:t>
                  </a:r>
                  <a:r>
                    <a:rPr lang="en-US" altLang="zh-CN" sz="2000">
                      <a:latin typeface="黑体" panose="02010609060101010101" pitchFamily="49" charset="-122"/>
                      <a:ea typeface="黑体" panose="02010609060101010101" pitchFamily="49" charset="-122"/>
                      <a:cs typeface="黑体" panose="02010609060101010101" pitchFamily="49" charset="-122"/>
                    </a:rPr>
                    <a:t>   </a:t>
                  </a:r>
                  <a:r>
                    <a:rPr lang="zh-CN" altLang="en-US" sz="2000">
                      <a:latin typeface="黑体" panose="02010609060101010101" pitchFamily="49" charset="-122"/>
                      <a:ea typeface="黑体" panose="02010609060101010101" pitchFamily="49" charset="-122"/>
                      <a:cs typeface="黑体" panose="02010609060101010101" pitchFamily="49" charset="-122"/>
                    </a:rPr>
                    <a:t>是否探索本质?为何重要?</a:t>
                  </a:r>
                </a:p>
                <a:p>
                  <a:pPr algn="l">
                    <a:lnSpc>
                      <a:spcPct val="200000"/>
                    </a:lnSpc>
                  </a:pPr>
                  <a:r>
                    <a:rPr lang="zh-CN" altLang="en-US" sz="2000">
                      <a:solidFill>
                        <a:srgbClr val="00B050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  <a:cs typeface="黑体" panose="02010609060101010101" pitchFamily="49" charset="-122"/>
                    </a:rPr>
                    <a:t>写作逻辑</a:t>
                  </a:r>
                  <a:r>
                    <a:rPr lang="en-US" altLang="zh-CN" sz="2000">
                      <a:latin typeface="黑体" panose="02010609060101010101" pitchFamily="49" charset="-122"/>
                      <a:ea typeface="黑体" panose="02010609060101010101" pitchFamily="49" charset="-122"/>
                      <a:cs typeface="黑体" panose="02010609060101010101" pitchFamily="49" charset="-122"/>
                    </a:rPr>
                    <a:t>   </a:t>
                  </a:r>
                  <a:r>
                    <a:rPr lang="zh-CN" altLang="en-US" sz="2000">
                      <a:latin typeface="黑体" panose="02010609060101010101" pitchFamily="49" charset="-122"/>
                      <a:ea typeface="黑体" panose="02010609060101010101" pitchFamily="49" charset="-122"/>
                      <a:cs typeface="黑体" panose="02010609060101010101" pitchFamily="49" charset="-122"/>
                    </a:rPr>
                    <a:t>背景-现状-问题-方法如何环环相扣?</a:t>
                  </a:r>
                </a:p>
                <a:p>
                  <a:pPr algn="l">
                    <a:lnSpc>
                      <a:spcPct val="200000"/>
                    </a:lnSpc>
                  </a:pPr>
                  <a:r>
                    <a:rPr lang="zh-CN" altLang="en-US" sz="2000">
                      <a:solidFill>
                        <a:srgbClr val="00B050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  <a:cs typeface="黑体" panose="02010609060101010101" pitchFamily="49" charset="-122"/>
                    </a:rPr>
                    <a:t>表达方式</a:t>
                  </a:r>
                  <a:r>
                    <a:rPr lang="en-US" altLang="zh-CN" sz="2000">
                      <a:latin typeface="黑体" panose="02010609060101010101" pitchFamily="49" charset="-122"/>
                      <a:ea typeface="黑体" panose="02010609060101010101" pitchFamily="49" charset="-122"/>
                      <a:cs typeface="黑体" panose="02010609060101010101" pitchFamily="49" charset="-122"/>
                    </a:rPr>
                    <a:t>   如何抓住重点?如何深入浅出?</a:t>
                  </a:r>
                </a:p>
              </p:txBody>
            </p:sp>
            <p:sp>
              <p:nvSpPr>
                <p:cNvPr id="18" name="文本框 17"/>
                <p:cNvSpPr txBox="1"/>
                <p:nvPr/>
              </p:nvSpPr>
              <p:spPr>
                <a:xfrm>
                  <a:off x="11641" y="2792"/>
                  <a:ext cx="488" cy="62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2000"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endParaRPr>
                </a:p>
              </p:txBody>
            </p:sp>
          </p:grpSp>
          <p:sp>
            <p:nvSpPr>
              <p:cNvPr id="22" name="矩形 21"/>
              <p:cNvSpPr/>
              <p:nvPr/>
            </p:nvSpPr>
            <p:spPr>
              <a:xfrm>
                <a:off x="16064" y="9596"/>
                <a:ext cx="2154" cy="56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4" name="文本框 23"/>
            <p:cNvSpPr txBox="1"/>
            <p:nvPr/>
          </p:nvSpPr>
          <p:spPr>
            <a:xfrm>
              <a:off x="9827" y="2112"/>
              <a:ext cx="8512" cy="30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200000"/>
                </a:lnSpc>
              </a:pPr>
              <a:r>
                <a:rPr lang="zh-CN" altLang="en-US" sz="200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解决方法</a:t>
              </a:r>
              <a:r>
                <a:rPr lang="en-US" altLang="zh-CN" sz="200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   </a:t>
              </a:r>
              <a:r>
                <a:rPr lang="zh-CN" altLang="en-US" sz="200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是否专注核心挑战?如何解决?</a:t>
              </a:r>
            </a:p>
            <a:p>
              <a:pPr algn="l">
                <a:lnSpc>
                  <a:spcPct val="200000"/>
                </a:lnSpc>
              </a:pPr>
              <a:r>
                <a:rPr lang="zh-CN" altLang="en-US" sz="200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写作逻辑</a:t>
              </a:r>
              <a:r>
                <a:rPr lang="en-US" altLang="zh-CN" sz="200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   </a:t>
              </a:r>
              <a:r>
                <a:rPr lang="zh-CN" altLang="en-US" sz="200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方法如何分解?各自解决哪些问题?</a:t>
              </a:r>
            </a:p>
            <a:p>
              <a:pPr algn="l">
                <a:lnSpc>
                  <a:spcPct val="200000"/>
                </a:lnSpc>
              </a:pPr>
              <a:r>
                <a:rPr lang="zh-CN" altLang="en-US" sz="200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表达方式</a:t>
              </a:r>
              <a:r>
                <a:rPr lang="en-US" altLang="zh-CN" sz="200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   如何准确清晰?如何减少返工?</a:t>
              </a:r>
            </a:p>
          </p:txBody>
        </p:sp>
        <p:pic>
          <p:nvPicPr>
            <p:cNvPr id="27" name="图片 2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35" y="5164"/>
              <a:ext cx="6318" cy="5061"/>
            </a:xfrm>
            <a:prstGeom prst="rect">
              <a:avLst/>
            </a:prstGeom>
          </p:spPr>
        </p:pic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827" y="5514"/>
              <a:ext cx="9133" cy="3753"/>
            </a:xfrm>
            <a:prstGeom prst="rect">
              <a:avLst/>
            </a:prstGeom>
          </p:spPr>
        </p:pic>
        <p:sp>
          <p:nvSpPr>
            <p:cNvPr id="29" name="文本框 28"/>
            <p:cNvSpPr txBox="1"/>
            <p:nvPr/>
          </p:nvSpPr>
          <p:spPr>
            <a:xfrm rot="20640000">
              <a:off x="6632" y="9542"/>
              <a:ext cx="2693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>
                  <a:solidFill>
                    <a:srgbClr val="00B05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研究动机图</a:t>
              </a:r>
            </a:p>
          </p:txBody>
        </p:sp>
        <p:sp>
          <p:nvSpPr>
            <p:cNvPr id="30" name="文本框 29"/>
            <p:cNvSpPr txBox="1"/>
            <p:nvPr/>
          </p:nvSpPr>
          <p:spPr>
            <a:xfrm rot="20640000">
              <a:off x="15885" y="9517"/>
              <a:ext cx="2693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模型框架图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dirty="0"/>
              <a:t> 论文</a:t>
            </a:r>
            <a:r>
              <a:rPr lang="zh-CN" dirty="0"/>
              <a:t>模型框架</a:t>
            </a:r>
            <a:r>
              <a:rPr dirty="0"/>
              <a:t>图绘制思路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18</a:t>
            </a:fld>
            <a:endParaRPr lang="zh-CN" altLang="en-US" dirty="0"/>
          </a:p>
        </p:txBody>
      </p:sp>
      <p:grpSp>
        <p:nvGrpSpPr>
          <p:cNvPr id="8" name="组合 7"/>
          <p:cNvGrpSpPr/>
          <p:nvPr/>
        </p:nvGrpSpPr>
        <p:grpSpPr>
          <a:xfrm>
            <a:off x="1847215" y="1268730"/>
            <a:ext cx="8555355" cy="4554220"/>
            <a:chOff x="3136" y="2041"/>
            <a:chExt cx="13473" cy="7172"/>
          </a:xfrm>
        </p:grpSpPr>
        <p:sp>
          <p:nvSpPr>
            <p:cNvPr id="6" name="文本框 5"/>
            <p:cNvSpPr txBox="1"/>
            <p:nvPr/>
          </p:nvSpPr>
          <p:spPr>
            <a:xfrm>
              <a:off x="3136" y="4946"/>
              <a:ext cx="4768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>
                  <a:solidFill>
                    <a:schemeClr val="accent1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让我们一起来复盘</a:t>
              </a:r>
            </a:p>
          </p:txBody>
        </p:sp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73" y="2041"/>
              <a:ext cx="7237" cy="717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 </a:t>
            </a:r>
            <a:r>
              <a:rPr lang="zh-CN" altLang="en-US" dirty="0"/>
              <a:t>示例一：</a:t>
            </a:r>
            <a:r>
              <a:rPr lang="en-US" altLang="zh-CN" dirty="0"/>
              <a:t>MMnasNet v1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19</a:t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3503930" y="981075"/>
            <a:ext cx="607187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dirty="0">
                <a:solidFill>
                  <a:schemeClr val="tx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最初版本:直观的记录模型输入、输出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550" y="1542415"/>
            <a:ext cx="5049520" cy="437959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775460" y="6119495"/>
            <a:ext cx="946785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主要问题:</a:t>
            </a:r>
            <a:r>
              <a:rPr lang="en-US" altLang="zh-CN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zh-CN" altLang="en-US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过程不明确，模块边界不清晰，如何解决没体现!</a:t>
            </a:r>
          </a:p>
        </p:txBody>
      </p:sp>
      <p:sp>
        <p:nvSpPr>
          <p:cNvPr id="4" name="矩形 3"/>
          <p:cNvSpPr/>
          <p:nvPr/>
        </p:nvSpPr>
        <p:spPr>
          <a:xfrm>
            <a:off x="839470" y="1911985"/>
            <a:ext cx="5687695" cy="2006600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055370" y="4350385"/>
            <a:ext cx="5372100" cy="862330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箭头连接符 8"/>
          <p:cNvCxnSpPr>
            <a:stCxn id="4" idx="3"/>
          </p:cNvCxnSpPr>
          <p:nvPr/>
        </p:nvCxnSpPr>
        <p:spPr>
          <a:xfrm>
            <a:off x="6527165" y="2915285"/>
            <a:ext cx="1296670" cy="673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>
            <a:stCxn id="8" idx="3"/>
          </p:cNvCxnSpPr>
          <p:nvPr/>
        </p:nvCxnSpPr>
        <p:spPr>
          <a:xfrm flipV="1">
            <a:off x="6427470" y="3198495"/>
            <a:ext cx="1324610" cy="15830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8108950" y="2479040"/>
            <a:ext cx="2621280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这些是什么东西？</a:t>
            </a:r>
          </a:p>
          <a:p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解决了什么问题？</a:t>
            </a:r>
          </a:p>
          <a:p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怎么解决的？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7392035" y="4149090"/>
            <a:ext cx="246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线条交叉过于杂乱！</a:t>
            </a:r>
          </a:p>
        </p:txBody>
      </p:sp>
      <p:cxnSp>
        <p:nvCxnSpPr>
          <p:cNvPr id="12" name="直接箭头连接符 11"/>
          <p:cNvCxnSpPr/>
          <p:nvPr/>
        </p:nvCxnSpPr>
        <p:spPr>
          <a:xfrm>
            <a:off x="2459355" y="5622925"/>
            <a:ext cx="4068445" cy="241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V="1">
            <a:off x="5231765" y="5725795"/>
            <a:ext cx="1584325" cy="152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6889750" y="5346700"/>
            <a:ext cx="272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模型的输入太不形象！</a:t>
            </a:r>
          </a:p>
        </p:txBody>
      </p:sp>
      <p:cxnSp>
        <p:nvCxnSpPr>
          <p:cNvPr id="16" name="直接箭头连接符 15"/>
          <p:cNvCxnSpPr>
            <a:endCxn id="43" idx="1"/>
          </p:cNvCxnSpPr>
          <p:nvPr/>
        </p:nvCxnSpPr>
        <p:spPr>
          <a:xfrm>
            <a:off x="4911090" y="4145280"/>
            <a:ext cx="2480945" cy="203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11" grpId="0"/>
      <p:bldP spid="43" grpId="0"/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 </a:t>
            </a:r>
            <a:r>
              <a:rPr lang="zh-CN" altLang="en-US" dirty="0"/>
              <a:t>示例一：</a:t>
            </a:r>
            <a:r>
              <a:rPr lang="en-US" altLang="zh-CN" dirty="0"/>
              <a:t>MMnasNet v2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20</a:t>
            </a:fld>
            <a:endParaRPr lang="zh-CN" altLang="en-US" dirty="0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080" y="1974850"/>
            <a:ext cx="9627870" cy="379857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3647440" y="939165"/>
            <a:ext cx="491045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>
                <a:solidFill>
                  <a:schemeClr val="tx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初步刻画了模型的实现过程</a:t>
            </a:r>
          </a:p>
        </p:txBody>
      </p:sp>
      <p:sp>
        <p:nvSpPr>
          <p:cNvPr id="21" name="矩形 20"/>
          <p:cNvSpPr/>
          <p:nvPr/>
        </p:nvSpPr>
        <p:spPr>
          <a:xfrm>
            <a:off x="910590" y="2708910"/>
            <a:ext cx="4104640" cy="1296035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箭头连接符 21"/>
          <p:cNvCxnSpPr/>
          <p:nvPr/>
        </p:nvCxnSpPr>
        <p:spPr>
          <a:xfrm flipH="1" flipV="1">
            <a:off x="2063115" y="2061210"/>
            <a:ext cx="694055" cy="6477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1054735" y="1635760"/>
            <a:ext cx="297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最重要的部分没有展现！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10488295" y="3141345"/>
            <a:ext cx="155511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不同的结构使用同一种背景颜色，难以区分！</a:t>
            </a:r>
          </a:p>
        </p:txBody>
      </p:sp>
      <p:cxnSp>
        <p:nvCxnSpPr>
          <p:cNvPr id="25" name="直接箭头连接符 24"/>
          <p:cNvCxnSpPr/>
          <p:nvPr/>
        </p:nvCxnSpPr>
        <p:spPr>
          <a:xfrm>
            <a:off x="10069195" y="2769235"/>
            <a:ext cx="562610" cy="2997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>
            <a:off x="9624060" y="3357245"/>
            <a:ext cx="724535" cy="2241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>
            <a:endCxn id="24" idx="1"/>
          </p:cNvCxnSpPr>
          <p:nvPr/>
        </p:nvCxnSpPr>
        <p:spPr>
          <a:xfrm flipV="1">
            <a:off x="9933305" y="3802380"/>
            <a:ext cx="554990" cy="1454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>
            <a:off x="7319645" y="2637155"/>
            <a:ext cx="3024505" cy="57594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 flipV="1">
            <a:off x="4943475" y="3717290"/>
            <a:ext cx="5328285" cy="7124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 flipV="1">
            <a:off x="1918970" y="3644900"/>
            <a:ext cx="8352790" cy="9366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>
            <a:off x="4366895" y="3141345"/>
            <a:ext cx="5760720" cy="431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2091055" y="6107430"/>
            <a:ext cx="733425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主要问题:</a:t>
            </a:r>
            <a:r>
              <a:rPr lang="en-US" altLang="zh-CN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模块边界不清晰，如何解决没体现!</a:t>
            </a:r>
          </a:p>
        </p:txBody>
      </p:sp>
      <p:cxnSp>
        <p:nvCxnSpPr>
          <p:cNvPr id="35" name="直接箭头连接符 34"/>
          <p:cNvCxnSpPr/>
          <p:nvPr/>
        </p:nvCxnSpPr>
        <p:spPr>
          <a:xfrm>
            <a:off x="8909685" y="4826000"/>
            <a:ext cx="786765" cy="4032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9768205" y="5238115"/>
            <a:ext cx="1783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该结构名字过长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3" grpId="0"/>
      <p:bldP spid="24" grpId="0"/>
      <p:bldP spid="3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 </a:t>
            </a:r>
            <a:r>
              <a:rPr lang="zh-CN" altLang="en-US" dirty="0"/>
              <a:t>示例一：</a:t>
            </a:r>
            <a:r>
              <a:rPr lang="en-US" altLang="zh-CN" dirty="0"/>
              <a:t>MMnasNet v3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21</a:t>
            </a:fld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1830070"/>
            <a:ext cx="10452100" cy="410527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860040" y="1007745"/>
            <a:ext cx="660654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dirty="0">
                <a:solidFill>
                  <a:schemeClr val="tx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细化每个阶段实现，区分每种结构颜色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279650" y="6107430"/>
            <a:ext cx="733425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主要问题:</a:t>
            </a:r>
            <a:r>
              <a:rPr lang="en-US" altLang="zh-CN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模块边界不清晰，</a:t>
            </a:r>
            <a:r>
              <a:rPr lang="zh-CN" altLang="en-US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算法逻辑不明确</a:t>
            </a:r>
            <a:r>
              <a:rPr lang="en-US" altLang="zh-CN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!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063750" y="1701165"/>
            <a:ext cx="2214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变量的变化过程？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8688070" y="1445895"/>
            <a:ext cx="246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模块的边界在哪里？</a:t>
            </a:r>
          </a:p>
        </p:txBody>
      </p:sp>
      <p:cxnSp>
        <p:nvCxnSpPr>
          <p:cNvPr id="10" name="直接箭头连接符 9"/>
          <p:cNvCxnSpPr/>
          <p:nvPr/>
        </p:nvCxnSpPr>
        <p:spPr>
          <a:xfrm flipV="1">
            <a:off x="8489315" y="1772920"/>
            <a:ext cx="702945" cy="4019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V="1">
            <a:off x="10272395" y="1772920"/>
            <a:ext cx="0" cy="431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V="1">
            <a:off x="9336405" y="1917065"/>
            <a:ext cx="144145" cy="27362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2063750" y="2099945"/>
            <a:ext cx="297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字体略小，整体不够饱满</a:t>
            </a:r>
          </a:p>
        </p:txBody>
      </p:sp>
      <p:cxnSp>
        <p:nvCxnSpPr>
          <p:cNvPr id="16" name="直接箭头连接符 15"/>
          <p:cNvCxnSpPr/>
          <p:nvPr/>
        </p:nvCxnSpPr>
        <p:spPr>
          <a:xfrm flipV="1">
            <a:off x="1970405" y="2564765"/>
            <a:ext cx="741045" cy="43624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 flipV="1">
            <a:off x="2100580" y="2564765"/>
            <a:ext cx="755015" cy="10299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 </a:t>
            </a:r>
            <a:r>
              <a:rPr lang="zh-CN" altLang="en-US" dirty="0"/>
              <a:t>示例一：</a:t>
            </a:r>
            <a:r>
              <a:rPr lang="en-US" altLang="zh-CN" dirty="0"/>
              <a:t>MMnasNet v4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22</a:t>
            </a:fld>
            <a:endParaRPr lang="zh-CN" altLang="en-US" dirty="0"/>
          </a:p>
        </p:txBody>
      </p:sp>
      <p:grpSp>
        <p:nvGrpSpPr>
          <p:cNvPr id="7" name="组合 6"/>
          <p:cNvGrpSpPr/>
          <p:nvPr/>
        </p:nvGrpSpPr>
        <p:grpSpPr>
          <a:xfrm>
            <a:off x="911225" y="981075"/>
            <a:ext cx="10596880" cy="4837430"/>
            <a:chOff x="1435" y="1545"/>
            <a:chExt cx="16688" cy="7618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35" y="2565"/>
              <a:ext cx="16688" cy="6598"/>
            </a:xfrm>
            <a:prstGeom prst="rect">
              <a:avLst/>
            </a:prstGeom>
          </p:spPr>
        </p:pic>
        <p:sp>
          <p:nvSpPr>
            <p:cNvPr id="4" name="文本框 3"/>
            <p:cNvSpPr txBox="1"/>
            <p:nvPr/>
          </p:nvSpPr>
          <p:spPr>
            <a:xfrm>
              <a:off x="4553" y="1545"/>
              <a:ext cx="10452" cy="150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sz="2800">
                  <a:solidFill>
                    <a:schemeClr val="tx2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最终版本：</a:t>
              </a:r>
              <a:r>
                <a:rPr lang="zh-CN" altLang="en-US" sz="2800">
                  <a:solidFill>
                    <a:schemeClr val="tx2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框出模块范围，细化命名！</a:t>
              </a:r>
              <a:endParaRPr lang="zh-CN" altLang="en-US" sz="2800">
                <a:solidFill>
                  <a:schemeClr val="tx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endParaRPr lang="zh-CN" altLang="en-US" sz="2800">
                <a:solidFill>
                  <a:schemeClr val="tx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 </a:t>
            </a:r>
            <a:r>
              <a:rPr lang="zh-CN" altLang="en-US" dirty="0"/>
              <a:t>模型框架图与论文结合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23</a:t>
            </a:fld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425" y="913765"/>
            <a:ext cx="4797425" cy="589407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6405" y="981075"/>
            <a:ext cx="2301875" cy="562229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1845" y="1628775"/>
            <a:ext cx="6004560" cy="237426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5951855" y="4797425"/>
            <a:ext cx="19608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i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图文对应！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 </a:t>
            </a:r>
            <a:r>
              <a:rPr dirty="0"/>
              <a:t>论文</a:t>
            </a:r>
            <a:r>
              <a:rPr lang="zh-CN" dirty="0"/>
              <a:t>模型框架</a:t>
            </a:r>
            <a:r>
              <a:rPr dirty="0"/>
              <a:t>图——小结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9376" y="908720"/>
            <a:ext cx="10873208" cy="5472608"/>
          </a:xfrm>
        </p:spPr>
        <p:txBody>
          <a:bodyPr>
            <a:normAutofit/>
          </a:bodyPr>
          <a:lstStyle/>
          <a:p>
            <a:pPr>
              <a:lnSpc>
                <a:spcPct val="17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模型框架图</a:t>
            </a:r>
            <a:endParaRPr lang="en-US" altLang="zh-CN" b="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lvl="1">
              <a:lnSpc>
                <a:spcPct val="175000"/>
              </a:lnSpc>
              <a:spcAft>
                <a:spcPts val="0"/>
              </a:spcAft>
            </a:pPr>
            <a:r>
              <a:rPr lang="zh-CN" altLang="en-US" b="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算法的逻辑要明确</a:t>
            </a:r>
            <a:endParaRPr lang="zh-CN" altLang="en-US" b="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75000"/>
              </a:lnSpc>
              <a:spcAft>
                <a:spcPts val="0"/>
              </a:spcAft>
            </a:pPr>
            <a:r>
              <a:rPr lang="zh-CN" altLang="en-US" b="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模块的边界要清晰</a:t>
            </a:r>
          </a:p>
          <a:p>
            <a:pPr lvl="1">
              <a:lnSpc>
                <a:spcPct val="175000"/>
              </a:lnSpc>
              <a:spcAft>
                <a:spcPts val="0"/>
              </a:spcAft>
            </a:pPr>
            <a:r>
              <a:rPr lang="zh-CN" altLang="en-US" b="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排版的布局要直观</a:t>
            </a:r>
          </a:p>
          <a:p>
            <a:pPr lvl="1">
              <a:lnSpc>
                <a:spcPct val="175000"/>
              </a:lnSpc>
              <a:spcAft>
                <a:spcPts val="0"/>
              </a:spcAft>
            </a:pPr>
            <a:r>
              <a:rPr lang="zh-CN" altLang="en-US" b="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整体的配色要讲究</a:t>
            </a:r>
          </a:p>
          <a:p>
            <a:pPr lvl="1">
              <a:lnSpc>
                <a:spcPct val="175000"/>
              </a:lnSpc>
              <a:spcAft>
                <a:spcPts val="0"/>
              </a:spcAft>
            </a:pP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线条的排列不交叉</a:t>
            </a:r>
          </a:p>
          <a:p>
            <a:pPr lvl="1">
              <a:lnSpc>
                <a:spcPct val="175000"/>
              </a:lnSpc>
              <a:spcAft>
                <a:spcPts val="0"/>
              </a:spcAft>
            </a:pPr>
            <a:endParaRPr lang="zh-CN" altLang="en-US" dirty="0">
              <a:solidFill>
                <a:schemeClr val="accent1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75000"/>
              </a:lnSpc>
              <a:spcAft>
                <a:spcPts val="0"/>
              </a:spcAft>
            </a:pPr>
            <a:endParaRPr lang="zh-CN" altLang="en-US" dirty="0">
              <a:solidFill>
                <a:schemeClr val="accent1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24</a:t>
            </a:fld>
            <a:endParaRPr lang="zh-CN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093506" y="2139079"/>
            <a:ext cx="1000498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60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感谢聆听，敬请指正！</a:t>
            </a:r>
            <a:endParaRPr kumimoji="1" lang="en-US" altLang="zh-CN" sz="6000" b="1" dirty="0">
              <a:solidFill>
                <a:srgbClr val="203864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803B2-A378-42BD-B5EC-F7748F169FE0}" type="slidenum">
              <a:rPr lang="en-US" altLang="zh-CN" smtClean="0"/>
              <a:t>25</a:t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0835" y="124839"/>
            <a:ext cx="1331089" cy="1331089"/>
          </a:xfrm>
          <a:prstGeom prst="rect">
            <a:avLst/>
          </a:prstGeom>
        </p:spPr>
      </p:pic>
      <p:pic>
        <p:nvPicPr>
          <p:cNvPr id="13" name="图片 12" descr="图片包含 天空, 建筑物, 户外, 道路&#10;&#10;已生成极高可信度的说明"/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84" b="12793"/>
          <a:stretch>
            <a:fillRect/>
          </a:stretch>
        </p:blipFill>
        <p:spPr>
          <a:xfrm>
            <a:off x="0" y="4484225"/>
            <a:ext cx="12192000" cy="2372761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 bwMode="auto">
          <a:xfrm>
            <a:off x="0" y="4484225"/>
            <a:ext cx="12192000" cy="2360665"/>
          </a:xfrm>
          <a:prstGeom prst="rect">
            <a:avLst/>
          </a:prstGeom>
          <a:solidFill>
            <a:srgbClr val="044875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91440" algn="l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3b8488d6-013d-4f79-b99c-07d6bdc768d8"/>
  <p:tag name="COMMONDATA" val="eyJoZGlkIjoiNTVlZmI5NWM4MTA1NmIyYjhiNmEzMGRhODMxNjEyMj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3456.571653543307,&quot;width&quot;:19200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mbria-Calibri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</TotalTime>
  <Words>822</Words>
  <Application>Microsoft Macintosh PowerPoint</Application>
  <PresentationFormat>宽屏</PresentationFormat>
  <Paragraphs>186</Paragraphs>
  <Slides>25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3" baseType="lpstr">
      <vt:lpstr>等线</vt:lpstr>
      <vt:lpstr>黑体</vt:lpstr>
      <vt:lpstr>微软雅黑</vt:lpstr>
      <vt:lpstr>Arial</vt:lpstr>
      <vt:lpstr>Calibri</vt:lpstr>
      <vt:lpstr>Segoe Print</vt:lpstr>
      <vt:lpstr>Times New Roman</vt:lpstr>
      <vt:lpstr>Office 主题</vt:lpstr>
      <vt:lpstr>第五讲:学术论文之绘制研究动机图和模型框架图 </vt:lpstr>
      <vt:lpstr> 从论文图示与论文写作的关系说起</vt:lpstr>
      <vt:lpstr> 论文研究动机图绘制思路</vt:lpstr>
      <vt:lpstr> 示例一：MMnasNet v1</vt:lpstr>
      <vt:lpstr> 示例一：MMnasNet v2</vt:lpstr>
      <vt:lpstr> 示例一：MMnasNet v3</vt:lpstr>
      <vt:lpstr> 示例一：MMnasNet v4</vt:lpstr>
      <vt:lpstr> 论文研究动机示意图——小结</vt:lpstr>
      <vt:lpstr>示例二：Non-local</vt:lpstr>
      <vt:lpstr>示例三： CLIP</vt:lpstr>
      <vt:lpstr>示例四： Segment Anything </vt:lpstr>
      <vt:lpstr>示例五： Pseudo-Q</vt:lpstr>
      <vt:lpstr>示例六：DETR</vt:lpstr>
      <vt:lpstr>示例七：SOLO</vt:lpstr>
      <vt:lpstr>示例八：CLIP Surgery </vt:lpstr>
      <vt:lpstr>示例久：CenterNet</vt:lpstr>
      <vt:lpstr> 从论文图示与论文写作的关系说起</vt:lpstr>
      <vt:lpstr> 论文模型框架图绘制思路</vt:lpstr>
      <vt:lpstr> 示例一：MMnasNet v1</vt:lpstr>
      <vt:lpstr> 示例一：MMnasNet v2</vt:lpstr>
      <vt:lpstr> 示例一：MMnasNet v3</vt:lpstr>
      <vt:lpstr> 示例一：MMnasNet v4</vt:lpstr>
      <vt:lpstr> 模型框架图与论文结合</vt:lpstr>
      <vt:lpstr> 论文模型框架图——小结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Fei Gao</dc:creator>
  <cp:lastModifiedBy>Microsoft Office User</cp:lastModifiedBy>
  <cp:revision>1036</cp:revision>
  <dcterms:created xsi:type="dcterms:W3CDTF">2022-11-10T03:38:00Z</dcterms:created>
  <dcterms:modified xsi:type="dcterms:W3CDTF">2024-10-16T12:25:59Z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420D3A0B25728E146BFE55632B83E334</vt:lpwstr>
  </property>
  <property fmtid="{D5CDD505-2E9C-101B-9397-08002B2CF9AE}" pid="3" name="KSOProductBuildVer">
    <vt:lpwstr>2052-11.1.0.12763</vt:lpwstr>
  </property>
</Properties>
</file>