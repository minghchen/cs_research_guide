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416" r:id="rId4"/>
    <p:sldId id="417" r:id="rId5"/>
    <p:sldId id="422" r:id="rId6"/>
    <p:sldId id="428" r:id="rId7"/>
    <p:sldId id="429" r:id="rId8"/>
    <p:sldId id="420" r:id="rId9"/>
    <p:sldId id="478" r:id="rId10"/>
    <p:sldId id="477" r:id="rId11"/>
    <p:sldId id="476" r:id="rId12"/>
    <p:sldId id="483" r:id="rId13"/>
    <p:sldId id="479" r:id="rId14"/>
    <p:sldId id="480" r:id="rId15"/>
    <p:sldId id="481" r:id="rId16"/>
    <p:sldId id="482" r:id="rId17"/>
    <p:sldId id="437" r:id="rId18"/>
    <p:sldId id="438" r:id="rId19"/>
    <p:sldId id="443" r:id="rId20"/>
    <p:sldId id="454" r:id="rId21"/>
    <p:sldId id="455" r:id="rId22"/>
    <p:sldId id="456" r:id="rId23"/>
    <p:sldId id="460" r:id="rId24"/>
    <p:sldId id="549" r:id="rId25"/>
    <p:sldId id="461" r:id="rId26"/>
    <p:sldId id="475" r:id="rId27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6092"/>
    <a:srgbClr val="F7CAAB"/>
    <a:srgbClr val="E3CCE5"/>
    <a:srgbClr val="FDE498"/>
    <a:srgbClr val="0000FF"/>
    <a:srgbClr val="F0F0F0"/>
    <a:srgbClr val="F8F8F8"/>
    <a:srgbClr val="F1F1F1"/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67" autoAdjust="0"/>
    <p:restoredTop sz="70575" autoAdjust="0"/>
  </p:normalViewPr>
  <p:slideViewPr>
    <p:cSldViewPr>
      <p:cViewPr varScale="1">
        <p:scale>
          <a:sx n="72" d="100"/>
          <a:sy n="72" d="100"/>
        </p:scale>
        <p:origin x="216" y="384"/>
      </p:cViewPr>
      <p:guideLst>
        <p:guide orient="horz" pos="2160"/>
        <p:guide pos="388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C6822-2CF9-407B-97F6-B5C3F0D04FD0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3BB54-13A4-4BBD-86B6-C67793120F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105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F64D2-B46D-458F-8F5A-49B31CD8FEF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280D9-CCCD-4530-9608-C2BA9AEF1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2195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494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049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063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863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709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194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974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00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767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656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740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29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598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063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910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983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14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656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4394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191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38100" y="931863"/>
            <a:ext cx="3963988" cy="22304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以上是我汇报的全部内容，请各位专家指正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53BD76-09F8-4556-8F7F-1E413B4F017A}" type="datetime1">
              <a:rPr lang="en-US" altLang="zh-CN" smtClean="0"/>
              <a:t>10/9/25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Confidentiality Label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88AFD-C26B-478C-B2D8-3A933D69C95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1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348881"/>
            <a:ext cx="12192000" cy="1470025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Segoe Print" panose="02000600000000000000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28800" y="4038285"/>
            <a:ext cx="8534400" cy="1983003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Reporter</a:t>
            </a:r>
          </a:p>
          <a:p>
            <a:r>
              <a:rPr lang="en-US" altLang="zh-CN" dirty="0"/>
              <a:t>Hangzhou </a:t>
            </a:r>
            <a:r>
              <a:rPr lang="en-US" altLang="zh-CN" dirty="0" err="1"/>
              <a:t>Dianzi</a:t>
            </a:r>
            <a:r>
              <a:rPr lang="en-US" altLang="zh-CN" dirty="0"/>
              <a:t> University</a:t>
            </a:r>
          </a:p>
          <a:p>
            <a:r>
              <a:rPr lang="en-US" altLang="zh-CN" dirty="0"/>
              <a:t>Email: </a:t>
            </a:r>
          </a:p>
          <a:p>
            <a:r>
              <a:rPr lang="en-US" altLang="zh-CN" dirty="0"/>
              <a:t>http://camalab.hdu.edu.cn</a:t>
            </a:r>
            <a:endParaRPr lang="zh-CN" altLang="en-US" dirty="0"/>
          </a:p>
        </p:txBody>
      </p:sp>
      <p:sp>
        <p:nvSpPr>
          <p:cNvPr id="6" name="梯形 5"/>
          <p:cNvSpPr/>
          <p:nvPr userDrawn="1"/>
        </p:nvSpPr>
        <p:spPr>
          <a:xfrm rot="18949264">
            <a:off x="-555650" y="540832"/>
            <a:ext cx="2849619" cy="457480"/>
          </a:xfrm>
          <a:prstGeom prst="trapezoid">
            <a:avLst>
              <a:gd name="adj" fmla="val 946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论文写作指导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4552" y="44624"/>
            <a:ext cx="1016177" cy="100811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0" y="202630"/>
            <a:ext cx="12192000" cy="562074"/>
          </a:xfrm>
          <a:noFill/>
          <a:ln>
            <a:noFill/>
          </a:ln>
        </p:spPr>
        <p:txBody>
          <a:bodyPr>
            <a:noAutofit/>
          </a:bodyPr>
          <a:lstStyle>
            <a:lvl1pPr marL="360045" algn="l">
              <a:defRPr sz="3600" b="1" baseline="0">
                <a:solidFill>
                  <a:schemeClr val="tx2">
                    <a:lumMod val="75000"/>
                  </a:schemeClr>
                </a:solidFill>
                <a:latin typeface="等线" panose="02010600030101010101" pitchFamily="2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79376" y="908720"/>
            <a:ext cx="11103024" cy="5328592"/>
          </a:xfrm>
        </p:spPr>
        <p:txBody>
          <a:bodyPr/>
          <a:lstStyle>
            <a:lvl1pPr>
              <a:defRPr b="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00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  <a:p>
            <a:pPr lvl="1"/>
            <a:r>
              <a:rPr lang="en-US" altLang="zh-CN" dirty="0"/>
              <a:t>First Level</a:t>
            </a:r>
            <a:endParaRPr lang="zh-CN" altLang="en-US" dirty="0"/>
          </a:p>
          <a:p>
            <a:pPr lvl="2"/>
            <a:r>
              <a:rPr lang="en-US" altLang="zh-CN" dirty="0"/>
              <a:t>Second Level</a:t>
            </a:r>
            <a:endParaRPr lang="zh-CN" altLang="en-US" dirty="0"/>
          </a:p>
          <a:p>
            <a:pPr lvl="3"/>
            <a:r>
              <a:rPr lang="en-US" altLang="zh-CN" dirty="0"/>
              <a:t>Third Level</a:t>
            </a:r>
            <a:endParaRPr lang="zh-CN" altLang="en-US" dirty="0"/>
          </a:p>
          <a:p>
            <a:pPr lvl="4"/>
            <a:r>
              <a:rPr lang="en-US" altLang="zh-CN" dirty="0"/>
              <a:t>Fourth Level</a:t>
            </a:r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79376" y="836712"/>
            <a:ext cx="1110302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6600" y="82361"/>
            <a:ext cx="615218" cy="610335"/>
          </a:xfrm>
          <a:prstGeom prst="rect">
            <a:avLst/>
          </a:prstGeom>
        </p:spPr>
      </p:pic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36360" y="638132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35635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207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052736"/>
            <a:ext cx="109728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0" kern="1200">
          <a:solidFill>
            <a:schemeClr val="bg1"/>
          </a:solidFill>
          <a:latin typeface="Segoe Print" panose="02000600000000000000" charset="0"/>
          <a:ea typeface="宋体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5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800" b="1" kern="1200">
          <a:solidFill>
            <a:srgbClr val="0070C0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9376" y="1376772"/>
            <a:ext cx="11712624" cy="2088232"/>
          </a:xfrm>
          <a:noFill/>
          <a:effectLst/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学术论文之</a:t>
            </a:r>
            <a:br>
              <a:rPr lang="en-US" altLang="zh-CN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</a:b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绘制研究动机图和模型框架图</a:t>
            </a:r>
            <a:br>
              <a:rPr lang="en-US" altLang="zh-CN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</a:br>
            <a:endParaRPr lang="zh-CN" altLang="en-US" sz="3200" dirty="0">
              <a:solidFill>
                <a:srgbClr val="002060"/>
              </a:soli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75520" y="2780928"/>
            <a:ext cx="8534400" cy="1584175"/>
          </a:xfrm>
        </p:spPr>
        <p:txBody>
          <a:bodyPr/>
          <a:lstStyle/>
          <a:p>
            <a:r>
              <a:rPr lang="zh-CN" altLang="en-US" sz="4000" b="1" dirty="0">
                <a:latin typeface="+mn-lt"/>
                <a:ea typeface="楷体" panose="02010609060101010101" pitchFamily="49" charset="-122"/>
              </a:rPr>
              <a:t>陈铭浩</a:t>
            </a:r>
            <a:endParaRPr lang="en-US" altLang="zh-CN" sz="4000" b="1" dirty="0">
              <a:latin typeface="+mn-lt"/>
              <a:ea typeface="楷体" panose="02010609060101010101" pitchFamily="49" charset="-12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杭州电子科技大学计算机学院</a:t>
            </a:r>
            <a:endParaRPr lang="en-US" altLang="zh-CN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5" r="499" b="3131"/>
          <a:stretch>
            <a:fillRect/>
          </a:stretch>
        </p:blipFill>
        <p:spPr>
          <a:xfrm>
            <a:off x="0" y="4653136"/>
            <a:ext cx="12192000" cy="219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从论文图示与论文写作的关系说起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</a:t>
            </a:fld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360045" y="1052830"/>
            <a:ext cx="11679555" cy="5472430"/>
            <a:chOff x="567" y="1658"/>
            <a:chExt cx="18393" cy="8618"/>
          </a:xfrm>
        </p:grpSpPr>
        <p:grpSp>
          <p:nvGrpSpPr>
            <p:cNvPr id="17" name="组合 16"/>
            <p:cNvGrpSpPr/>
            <p:nvPr/>
          </p:nvGrpSpPr>
          <p:grpSpPr>
            <a:xfrm>
              <a:off x="567" y="1658"/>
              <a:ext cx="16857" cy="8618"/>
              <a:chOff x="1361" y="1658"/>
              <a:chExt cx="16857" cy="8618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361" y="1658"/>
                <a:ext cx="14095" cy="8618"/>
                <a:chOff x="1475" y="1998"/>
                <a:chExt cx="14095" cy="8618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10508" y="1998"/>
                  <a:ext cx="0" cy="861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文本框 13"/>
                <p:cNvSpPr txBox="1"/>
                <p:nvPr/>
              </p:nvSpPr>
              <p:spPr>
                <a:xfrm>
                  <a:off x="4724" y="1999"/>
                  <a:ext cx="18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论文引言</a:t>
                  </a: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13682" y="1998"/>
                  <a:ext cx="18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论文模型</a:t>
                  </a: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1475" y="2452"/>
                  <a:ext cx="8975" cy="28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 dirty="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科学问题</a:t>
                  </a:r>
                  <a:r>
                    <a:rPr lang="en-US" altLang="zh-CN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zh-CN" altLang="en-US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是否探索本质?为何重要?</a:t>
                  </a:r>
                </a:p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 dirty="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写作逻辑</a:t>
                  </a:r>
                  <a:r>
                    <a:rPr lang="en-US" altLang="zh-CN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zh-CN" altLang="en-US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背景-现状-问题-方法如何环环相扣?</a:t>
                  </a:r>
                </a:p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 dirty="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表达方式</a:t>
                  </a:r>
                  <a:r>
                    <a:rPr lang="en-US" altLang="zh-CN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en-US" altLang="zh-CN" sz="2000" dirty="0" err="1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抓住重点</a:t>
                  </a:r>
                  <a:r>
                    <a:rPr lang="zh-CN" altLang="en-US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，</a:t>
                  </a:r>
                  <a:r>
                    <a:rPr lang="en-US" altLang="zh-CN" sz="2000" dirty="0" err="1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深入浅出</a:t>
                  </a:r>
                  <a:endPara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11641" y="2792"/>
                  <a:ext cx="4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16064" y="9596"/>
                <a:ext cx="2154" cy="5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9827" y="2112"/>
              <a:ext cx="8571" cy="2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00000"/>
                </a:lnSpc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解决方法</a:t>
              </a: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是否专注核心挑战?如何解决?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写作逻辑</a:t>
              </a: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方法如何分解?各自解决哪些问题?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表达方式</a:t>
              </a: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en-US" altLang="zh-CN" sz="2000" dirty="0" err="1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准确清晰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的表达</a:t>
              </a:r>
              <a:endPara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" y="5164"/>
              <a:ext cx="6318" cy="506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7" y="5514"/>
              <a:ext cx="9133" cy="3753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 rot="20640000">
              <a:off x="6632" y="9542"/>
              <a:ext cx="269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研究动机图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 rot="20640000">
              <a:off x="15885" y="9517"/>
              <a:ext cx="269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模型框架图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论文研究动机图绘制思路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847215" y="1268730"/>
            <a:ext cx="8555355" cy="4554220"/>
            <a:chOff x="3136" y="2041"/>
            <a:chExt cx="13473" cy="7172"/>
          </a:xfrm>
        </p:grpSpPr>
        <p:sp>
          <p:nvSpPr>
            <p:cNvPr id="6" name="文本框 5"/>
            <p:cNvSpPr txBox="1"/>
            <p:nvPr/>
          </p:nvSpPr>
          <p:spPr>
            <a:xfrm>
              <a:off x="3136" y="4946"/>
              <a:ext cx="476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让我们一起来复盘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3" y="2041"/>
              <a:ext cx="7237" cy="7172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09583B8-E896-5114-F67D-963FC64A14F0}"/>
              </a:ext>
            </a:extLst>
          </p:cNvPr>
          <p:cNvSpPr/>
          <p:nvPr/>
        </p:nvSpPr>
        <p:spPr>
          <a:xfrm>
            <a:off x="28952" y="6474274"/>
            <a:ext cx="54072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*</a:t>
            </a:r>
            <a:r>
              <a:rPr lang="zh-CN" altLang="en-US" sz="1600" dirty="0"/>
              <a:t>本课件部分内容来源自：https://mmlab-iie.github.io/course/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4</a:t>
            </a:fld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495300" y="980440"/>
            <a:ext cx="10766425" cy="5574665"/>
            <a:chOff x="780" y="1544"/>
            <a:chExt cx="16955" cy="8779"/>
          </a:xfrm>
        </p:grpSpPr>
        <p:sp>
          <p:nvSpPr>
            <p:cNvPr id="6" name="文本框 5"/>
            <p:cNvSpPr txBox="1"/>
            <p:nvPr/>
          </p:nvSpPr>
          <p:spPr>
            <a:xfrm>
              <a:off x="6425" y="1544"/>
              <a:ext cx="53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直观地记录研究动机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579" y="5400"/>
              <a:ext cx="2031" cy="8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MMnas</a:t>
              </a: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2" y="2366"/>
              <a:ext cx="2494" cy="1478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890" y="3816"/>
              <a:ext cx="453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Q: how many cows on the grass</a:t>
              </a:r>
            </a:p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A: 9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80" y="2962"/>
              <a:ext cx="10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VQA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2" y="4901"/>
              <a:ext cx="2730" cy="1695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1890" y="6610"/>
              <a:ext cx="453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Text: two players are grabbing the football</a:t>
              </a: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2" y="7543"/>
              <a:ext cx="2730" cy="1710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2002" y="9404"/>
              <a:ext cx="453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Query: the white sofa on the left of the room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0" y="5459"/>
              <a:ext cx="9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ITM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50" y="8108"/>
              <a:ext cx="8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VG</a:t>
              </a:r>
            </a:p>
          </p:txBody>
        </p:sp>
        <p:sp>
          <p:nvSpPr>
            <p:cNvPr id="21" name="右箭头 20"/>
            <p:cNvSpPr/>
            <p:nvPr/>
          </p:nvSpPr>
          <p:spPr>
            <a:xfrm>
              <a:off x="6085" y="5513"/>
              <a:ext cx="1927" cy="453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右箭头 22"/>
            <p:cNvSpPr/>
            <p:nvPr/>
          </p:nvSpPr>
          <p:spPr>
            <a:xfrm>
              <a:off x="11188" y="5513"/>
              <a:ext cx="1927" cy="453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4249" y="2791"/>
              <a:ext cx="3402" cy="1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4930" y="3018"/>
              <a:ext cx="218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VQA results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14319" y="5116"/>
              <a:ext cx="3402" cy="1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5000" y="5343"/>
              <a:ext cx="20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ITM results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14333" y="7476"/>
              <a:ext cx="3402" cy="1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014" y="7703"/>
              <a:ext cx="1947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VG results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239" y="4039"/>
              <a:ext cx="62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解决的问题是什么？为什么重要？</a:t>
              </a:r>
            </a:p>
          </p:txBody>
        </p:sp>
        <p:cxnSp>
          <p:nvCxnSpPr>
            <p:cNvPr id="32" name="直接箭头连接符 31"/>
            <p:cNvCxnSpPr/>
            <p:nvPr/>
          </p:nvCxnSpPr>
          <p:spPr>
            <a:xfrm flipV="1">
              <a:off x="5501" y="3018"/>
              <a:ext cx="1831" cy="9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5726" y="3245"/>
              <a:ext cx="1606" cy="2233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V="1">
              <a:off x="5771" y="3699"/>
              <a:ext cx="1561" cy="4701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7559" y="2754"/>
              <a:ext cx="460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三种任务相互独立，</a:t>
              </a:r>
            </a:p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如何用同一个网络来解决？</a:t>
              </a:r>
            </a:p>
          </p:txBody>
        </p:sp>
        <p:cxnSp>
          <p:nvCxnSpPr>
            <p:cNvPr id="36" name="直接箭头连接符 35"/>
            <p:cNvCxnSpPr/>
            <p:nvPr/>
          </p:nvCxnSpPr>
          <p:spPr>
            <a:xfrm flipH="1">
              <a:off x="11857" y="3358"/>
              <a:ext cx="2155" cy="465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H="1">
              <a:off x="12208" y="5860"/>
              <a:ext cx="1859" cy="2034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flipH="1">
              <a:off x="12322" y="8008"/>
              <a:ext cx="1814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7105" y="8288"/>
              <a:ext cx="60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同一个网络怎么处理三种回答形式？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899" y="9350"/>
              <a:ext cx="74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主要问题：结构散乱，内容含糊！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v2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5</a:t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839470" y="980440"/>
            <a:ext cx="10578465" cy="5177155"/>
            <a:chOff x="1322" y="1544"/>
            <a:chExt cx="16659" cy="8153"/>
          </a:xfrm>
        </p:grpSpPr>
        <p:sp>
          <p:nvSpPr>
            <p:cNvPr id="6" name="文本框 5"/>
            <p:cNvSpPr txBox="1"/>
            <p:nvPr/>
          </p:nvSpPr>
          <p:spPr>
            <a:xfrm>
              <a:off x="6376" y="1544"/>
              <a:ext cx="644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模块化绘图，使脉络清晰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518" y="5400"/>
              <a:ext cx="8314" cy="136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659" y="5627"/>
              <a:ext cx="203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MMnas</a:t>
              </a: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" y="5053"/>
              <a:ext cx="5789" cy="306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4" y="6723"/>
              <a:ext cx="8263" cy="2974"/>
            </a:xfrm>
            <a:prstGeom prst="rect">
              <a:avLst/>
            </a:prstGeom>
          </p:spPr>
        </p:pic>
        <p:sp>
          <p:nvSpPr>
            <p:cNvPr id="4" name="圆角矩形 3"/>
            <p:cNvSpPr/>
            <p:nvPr/>
          </p:nvSpPr>
          <p:spPr>
            <a:xfrm>
              <a:off x="5745" y="3764"/>
              <a:ext cx="2267" cy="1295"/>
            </a:xfrm>
            <a:prstGeom prst="roundRect">
              <a:avLst/>
            </a:prstGeom>
            <a:noFill/>
            <a:ln>
              <a:solidFill>
                <a:srgbClr val="FDE498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4F81BD"/>
                    </a:fgClr>
                    <a:bgClr>
                      <a:srgbClr val="FFFFFF"/>
                    </a:bgClr>
                  </a:patt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971" y="4152"/>
              <a:ext cx="191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VQA head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8526" y="3764"/>
              <a:ext cx="2267" cy="1295"/>
            </a:xfrm>
            <a:prstGeom prst="roundRect">
              <a:avLst/>
            </a:prstGeom>
            <a:noFill/>
            <a:ln>
              <a:solidFill>
                <a:srgbClr val="E3CCE5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4F81BD"/>
                    </a:fgClr>
                    <a:bgClr>
                      <a:srgbClr val="FFFFFF"/>
                    </a:bgClr>
                  </a:patt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752" y="4152"/>
              <a:ext cx="180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ITM head</a:t>
              </a: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1293" y="3764"/>
              <a:ext cx="2267" cy="1295"/>
            </a:xfrm>
            <a:prstGeom prst="roundRect">
              <a:avLst/>
            </a:prstGeom>
            <a:noFill/>
            <a:ln>
              <a:solidFill>
                <a:srgbClr val="F7CAA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4F81BD"/>
                    </a:fgClr>
                    <a:bgClr>
                      <a:srgbClr val="FFFFFF"/>
                    </a:bgClr>
                  </a:patt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641" y="4152"/>
              <a:ext cx="16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VG head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322" y="2601"/>
              <a:ext cx="868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主要问题：所解决问题难以理解！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321" y="5508"/>
              <a:ext cx="4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0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293" y="5585"/>
              <a:ext cx="6688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网络到底怎么区分三种任务？</a:t>
              </a:r>
              <a:endParaRPr lang="zh-CN" altLang="en-US" sz="20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l"/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文字和图片信息分别是怎么处理的？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v3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6</a:t>
            </a:fld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839470" y="981710"/>
            <a:ext cx="11079480" cy="5344160"/>
            <a:chOff x="1322" y="1546"/>
            <a:chExt cx="17448" cy="8416"/>
          </a:xfrm>
        </p:grpSpPr>
        <p:grpSp>
          <p:nvGrpSpPr>
            <p:cNvPr id="20" name="组合 19"/>
            <p:cNvGrpSpPr/>
            <p:nvPr/>
          </p:nvGrpSpPr>
          <p:grpSpPr>
            <a:xfrm>
              <a:off x="1322" y="1546"/>
              <a:ext cx="13742" cy="8417"/>
              <a:chOff x="1322" y="1546"/>
              <a:chExt cx="13742" cy="8417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4136" y="1546"/>
                <a:ext cx="10928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>
                    <a:solidFill>
                      <a:schemeClr val="accent1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增加模型的内部结构，明确解决问题的方式</a:t>
                </a:r>
              </a:p>
            </p:txBody>
          </p: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5" y="5108"/>
                <a:ext cx="5789" cy="306"/>
              </a:xfrm>
              <a:prstGeom prst="rect">
                <a:avLst/>
              </a:prstGeom>
            </p:spPr>
          </p:pic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2" y="6989"/>
                <a:ext cx="8263" cy="2974"/>
              </a:xfrm>
              <a:prstGeom prst="rect">
                <a:avLst/>
              </a:prstGeom>
            </p:spPr>
          </p:pic>
          <p:sp>
            <p:nvSpPr>
              <p:cNvPr id="4" name="圆角矩形 3"/>
              <p:cNvSpPr/>
              <p:nvPr/>
            </p:nvSpPr>
            <p:spPr>
              <a:xfrm>
                <a:off x="5744" y="3765"/>
                <a:ext cx="2267" cy="1295"/>
              </a:xfrm>
              <a:prstGeom prst="roundRect">
                <a:avLst/>
              </a:prstGeom>
              <a:noFill/>
              <a:ln>
                <a:solidFill>
                  <a:srgbClr val="FDE498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5971" y="4153"/>
                <a:ext cx="1914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VQA head</a:t>
                </a:r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8526" y="3765"/>
                <a:ext cx="2267" cy="1295"/>
              </a:xfrm>
              <a:prstGeom prst="roundRect">
                <a:avLst/>
              </a:prstGeom>
              <a:noFill/>
              <a:ln>
                <a:solidFill>
                  <a:srgbClr val="E3CCE5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8752" y="4153"/>
                <a:ext cx="1801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ITM head</a:t>
                </a: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11293" y="3765"/>
                <a:ext cx="2267" cy="1295"/>
              </a:xfrm>
              <a:prstGeom prst="roundRect">
                <a:avLst/>
              </a:prstGeom>
              <a:noFill/>
              <a:ln>
                <a:solidFill>
                  <a:srgbClr val="F7CAA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1641" y="4153"/>
                <a:ext cx="1680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VG head</a:t>
                </a: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322" y="2602"/>
                <a:ext cx="8688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主要问题：没有体现出“搜索”！</a:t>
                </a: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2" y="5418"/>
                <a:ext cx="8210" cy="1590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/>
          </p:nvSpPr>
          <p:spPr>
            <a:xfrm>
              <a:off x="13682" y="4098"/>
              <a:ext cx="5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三种任务的各自搜索过程？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v4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7</a:t>
            </a:fld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19380" y="947420"/>
            <a:ext cx="11244580" cy="5258435"/>
            <a:chOff x="188" y="1492"/>
            <a:chExt cx="17708" cy="8281"/>
          </a:xfrm>
        </p:grpSpPr>
        <p:sp>
          <p:nvSpPr>
            <p:cNvPr id="6" name="文本框 5"/>
            <p:cNvSpPr txBox="1"/>
            <p:nvPr/>
          </p:nvSpPr>
          <p:spPr>
            <a:xfrm>
              <a:off x="8239" y="1492"/>
              <a:ext cx="308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最终版本！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9" y="2905"/>
              <a:ext cx="8519" cy="6868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" y="3923"/>
              <a:ext cx="8219" cy="4839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2115" y="2905"/>
              <a:ext cx="41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与正文内容对应！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208" y="2452"/>
              <a:ext cx="56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模拟搜索过程，体现本文研究内容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论文研究动机示意图——小结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研究动机图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明确所解决的</a:t>
            </a:r>
            <a:r>
              <a:rPr lang="zh-CN" altLang="en-US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明确所提出的</a:t>
            </a:r>
            <a:r>
              <a:rPr lang="en-US" altLang="zh-CN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创新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列举鲜明</a:t>
            </a:r>
            <a:r>
              <a:rPr lang="en-US" altLang="zh-CN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对比</a:t>
            </a: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覆盖精准</a:t>
            </a:r>
            <a:r>
              <a:rPr lang="en-US" altLang="zh-CN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典型</a:t>
            </a: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情况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呼应论文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叙述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C39F9-8560-5172-D428-7D821AE1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示例二：</a:t>
            </a:r>
            <a:r>
              <a:rPr lang="en-US" altLang="zh-CN" dirty="0"/>
              <a:t>Non-local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58212F8-A870-B17E-596C-ECAF18FE6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362" y="1317809"/>
            <a:ext cx="8965276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01DA4C-C84A-423E-B208-DD2C18C0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DC3152-C348-8B7E-1184-1B89F5DACBE2}"/>
              </a:ext>
            </a:extLst>
          </p:cNvPr>
          <p:cNvSpPr txBox="1"/>
          <p:nvPr/>
        </p:nvSpPr>
        <p:spPr>
          <a:xfrm>
            <a:off x="407368" y="105208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方法动机</a:t>
            </a:r>
          </a:p>
        </p:txBody>
      </p:sp>
    </p:spTree>
    <p:extLst>
      <p:ext uri="{BB962C8B-B14F-4D97-AF65-F5344CB8AC3E}">
        <p14:creationId xmlns:p14="http://schemas.microsoft.com/office/powerpoint/2010/main" val="129389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4B18C-3C49-95B6-F26C-45224BEA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示例三：</a:t>
            </a:r>
            <a:r>
              <a:rPr lang="en-US" altLang="zh-CN" dirty="0"/>
              <a:t> CLIP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058407E-D3B5-E310-6DBA-2D0021A15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29" y="1528762"/>
            <a:ext cx="10028542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431F5-7632-D17D-56F7-FF77002B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2C8A21-3AE1-1779-8AA9-FFC3AB61F18A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方法流程</a:t>
            </a:r>
          </a:p>
        </p:txBody>
      </p:sp>
    </p:spTree>
    <p:extLst>
      <p:ext uri="{BB962C8B-B14F-4D97-AF65-F5344CB8AC3E}">
        <p14:creationId xmlns:p14="http://schemas.microsoft.com/office/powerpoint/2010/main" val="154039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0E8AFD-27B1-2B56-1591-996AAB6F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示例四：</a:t>
            </a:r>
            <a:r>
              <a:rPr lang="en-US" altLang="zh-CN" dirty="0"/>
              <a:t> Segment Anything 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0FFF00F-7421-4C53-A797-82F7AA2D8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67" y="1234652"/>
            <a:ext cx="10099465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C51DF1-8A02-F354-0A84-783B69F01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11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259A13-F81A-F094-5DBE-95192197F268}"/>
              </a:ext>
            </a:extLst>
          </p:cNvPr>
          <p:cNvSpPr txBox="1"/>
          <p:nvPr/>
        </p:nvSpPr>
        <p:spPr>
          <a:xfrm>
            <a:off x="407368" y="105208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任务、模型、数据</a:t>
            </a:r>
          </a:p>
        </p:txBody>
      </p:sp>
    </p:spTree>
    <p:extLst>
      <p:ext uri="{BB962C8B-B14F-4D97-AF65-F5344CB8AC3E}">
        <p14:creationId xmlns:p14="http://schemas.microsoft.com/office/powerpoint/2010/main" val="423199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769F0-BC04-BBA9-28C0-E070781F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示例五：</a:t>
            </a:r>
            <a:r>
              <a:rPr lang="en-US" altLang="zh-CN" dirty="0"/>
              <a:t> Pseudo-Q</a:t>
            </a:r>
            <a:endParaRPr kumimoji="1"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DE021D0-887B-1A34-4D71-447B2080A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1234652"/>
            <a:ext cx="6259119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344F95-A292-B84B-C69C-1D69A4F5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12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33CE91-8220-9C60-3ED5-E85A776433F1}"/>
              </a:ext>
            </a:extLst>
          </p:cNvPr>
          <p:cNvSpPr txBox="1"/>
          <p:nvPr/>
        </p:nvSpPr>
        <p:spPr>
          <a:xfrm>
            <a:off x="407368" y="105208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任务</a:t>
            </a:r>
          </a:p>
        </p:txBody>
      </p:sp>
    </p:spTree>
    <p:extLst>
      <p:ext uri="{BB962C8B-B14F-4D97-AF65-F5344CB8AC3E}">
        <p14:creationId xmlns:p14="http://schemas.microsoft.com/office/powerpoint/2010/main" val="3036991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515E2-53F3-C44B-BDCA-8F02B771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示例六：</a:t>
            </a:r>
            <a:r>
              <a:rPr kumimoji="1" lang="en-US" altLang="zh-CN" dirty="0"/>
              <a:t>DETR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C0CB126-CA91-0C31-C661-36A41E1BF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983" y="2343795"/>
            <a:ext cx="9038033" cy="331236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044FF-A66A-30E8-E8F5-2393DE2CF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13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6DFDDF-55CF-369B-DBB6-D80E68D820A5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152568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3D754-F3BA-B949-B22F-36D1FAA9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示例七：</a:t>
            </a:r>
            <a:r>
              <a:rPr kumimoji="1" lang="en-US" altLang="zh-CN" dirty="0"/>
              <a:t>SOLO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9E34050-D6E6-46AC-4A1D-0A400762C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2348880"/>
            <a:ext cx="9183949" cy="352839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01D5F-278A-FC98-1091-4580415C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03DE0D-1DF0-1A62-DF56-1C9AD23624FF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模型对比</a:t>
            </a:r>
          </a:p>
        </p:txBody>
      </p:sp>
    </p:spTree>
    <p:extLst>
      <p:ext uri="{BB962C8B-B14F-4D97-AF65-F5344CB8AC3E}">
        <p14:creationId xmlns:p14="http://schemas.microsoft.com/office/powerpoint/2010/main" val="2027008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A886F-66E0-B559-D211-3218414A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示例八：</a:t>
            </a:r>
            <a:r>
              <a:rPr kumimoji="1" lang="en-US" altLang="zh-CN" dirty="0"/>
              <a:t>CLIP Surgery 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970CB20-6CC0-773D-4C35-1477AA4B2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323747"/>
            <a:ext cx="8933983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AFFD78-1CF1-E907-AC88-AD22E649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15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4A1665-B944-4CC4-6B13-DCFBDAE71194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效果对比（引出问题）</a:t>
            </a:r>
          </a:p>
        </p:txBody>
      </p:sp>
    </p:spTree>
    <p:extLst>
      <p:ext uri="{BB962C8B-B14F-4D97-AF65-F5344CB8AC3E}">
        <p14:creationId xmlns:p14="http://schemas.microsoft.com/office/powerpoint/2010/main" val="420496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A9917-4880-5C93-6877-50D48999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示例久：</a:t>
            </a:r>
            <a:r>
              <a:rPr kumimoji="1" lang="en-US" altLang="zh-CN" dirty="0" err="1"/>
              <a:t>CenterNet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2363827-4BC3-FCCD-A393-B927D533E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945" y="1319935"/>
            <a:ext cx="7024110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F17854-33E3-970A-0590-7530D8BD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07E72C-E5EC-EB6C-FE18-5970457DF3C0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效果对比</a:t>
            </a:r>
          </a:p>
        </p:txBody>
      </p:sp>
    </p:spTree>
    <p:extLst>
      <p:ext uri="{BB962C8B-B14F-4D97-AF65-F5344CB8AC3E}">
        <p14:creationId xmlns:p14="http://schemas.microsoft.com/office/powerpoint/2010/main" val="1797259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从论文图示与论文写作的关系说起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17</a:t>
            </a:fld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360045" y="1052830"/>
            <a:ext cx="11678920" cy="5472430"/>
            <a:chOff x="567" y="1658"/>
            <a:chExt cx="18392" cy="8618"/>
          </a:xfrm>
        </p:grpSpPr>
        <p:grpSp>
          <p:nvGrpSpPr>
            <p:cNvPr id="17" name="组合 16"/>
            <p:cNvGrpSpPr/>
            <p:nvPr/>
          </p:nvGrpSpPr>
          <p:grpSpPr>
            <a:xfrm>
              <a:off x="567" y="1658"/>
              <a:ext cx="16857" cy="8618"/>
              <a:chOff x="1361" y="1658"/>
              <a:chExt cx="16857" cy="8618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361" y="1658"/>
                <a:ext cx="14095" cy="8618"/>
                <a:chOff x="1475" y="1998"/>
                <a:chExt cx="14095" cy="8618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10508" y="1998"/>
                  <a:ext cx="0" cy="861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文本框 13"/>
                <p:cNvSpPr txBox="1"/>
                <p:nvPr/>
              </p:nvSpPr>
              <p:spPr>
                <a:xfrm>
                  <a:off x="4724" y="1999"/>
                  <a:ext cx="18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论文引言</a:t>
                  </a: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13682" y="1998"/>
                  <a:ext cx="18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论文模型</a:t>
                  </a: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1475" y="2452"/>
                  <a:ext cx="8720" cy="30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科学问题</a:t>
                  </a:r>
                  <a:r>
                    <a:rPr lang="en-US" altLang="zh-CN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zh-CN" altLang="en-US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是否探索本质?为何重要?</a:t>
                  </a:r>
                </a:p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写作逻辑</a:t>
                  </a:r>
                  <a:r>
                    <a:rPr lang="en-US" altLang="zh-CN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zh-CN" altLang="en-US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背景-现状-问题-方法如何环环相扣?</a:t>
                  </a:r>
                </a:p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表达方式</a:t>
                  </a:r>
                  <a:r>
                    <a:rPr lang="en-US" altLang="zh-CN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如何抓住重点?如何深入浅出?</a:t>
                  </a: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11641" y="2792"/>
                  <a:ext cx="4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16064" y="9596"/>
                <a:ext cx="2154" cy="5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9827" y="2112"/>
              <a:ext cx="8512" cy="3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00000"/>
                </a:lnSpc>
              </a:pP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解决方法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是否专注核心挑战?如何解决?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写作逻辑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方法如何分解?各自解决哪些问题?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表达方式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如何准确清晰?如何减少返工?</a:t>
              </a: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" y="5164"/>
              <a:ext cx="6318" cy="506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7" y="5514"/>
              <a:ext cx="9133" cy="3753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 rot="20640000">
              <a:off x="6632" y="9542"/>
              <a:ext cx="269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研究动机图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 rot="20640000">
              <a:off x="15885" y="9517"/>
              <a:ext cx="269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模型框架图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论文</a:t>
            </a:r>
            <a:r>
              <a:rPr lang="zh-CN" dirty="0"/>
              <a:t>模型框架</a:t>
            </a:r>
            <a:r>
              <a:rPr dirty="0"/>
              <a:t>图绘制思路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18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847215" y="1268730"/>
            <a:ext cx="8555355" cy="4554220"/>
            <a:chOff x="3136" y="2041"/>
            <a:chExt cx="13473" cy="7172"/>
          </a:xfrm>
        </p:grpSpPr>
        <p:sp>
          <p:nvSpPr>
            <p:cNvPr id="6" name="文本框 5"/>
            <p:cNvSpPr txBox="1"/>
            <p:nvPr/>
          </p:nvSpPr>
          <p:spPr>
            <a:xfrm>
              <a:off x="3136" y="4946"/>
              <a:ext cx="476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让我们一起来复盘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3" y="2041"/>
              <a:ext cx="7237" cy="71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19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503930" y="981075"/>
            <a:ext cx="60718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最初版本:直观的记录模型输入、输出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0" y="1542415"/>
            <a:ext cx="5049520" cy="4379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75460" y="6119495"/>
            <a:ext cx="946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主要问题: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过程不明确，模块边界不清晰，如何解决没体现!</a:t>
            </a:r>
          </a:p>
        </p:txBody>
      </p:sp>
      <p:sp>
        <p:nvSpPr>
          <p:cNvPr id="4" name="矩形 3"/>
          <p:cNvSpPr/>
          <p:nvPr/>
        </p:nvSpPr>
        <p:spPr>
          <a:xfrm>
            <a:off x="839470" y="1911985"/>
            <a:ext cx="5687695" cy="200660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5370" y="4350385"/>
            <a:ext cx="5372100" cy="86233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4" idx="3"/>
          </p:cNvCxnSpPr>
          <p:nvPr/>
        </p:nvCxnSpPr>
        <p:spPr>
          <a:xfrm>
            <a:off x="6527165" y="2915285"/>
            <a:ext cx="1296670" cy="67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" idx="3"/>
          </p:cNvCxnSpPr>
          <p:nvPr/>
        </p:nvCxnSpPr>
        <p:spPr>
          <a:xfrm flipV="1">
            <a:off x="6427470" y="3198495"/>
            <a:ext cx="1324610" cy="15830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108950" y="2479040"/>
            <a:ext cx="26212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这些是什么东西？</a:t>
            </a:r>
          </a:p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解决了什么问题？</a:t>
            </a:r>
          </a:p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怎么解决的？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392035" y="4149090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线条交叉过于杂乱！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459355" y="5622925"/>
            <a:ext cx="4068445" cy="24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5231765" y="5725795"/>
            <a:ext cx="1584325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889750" y="5346700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模型的输入太不形象！</a:t>
            </a:r>
          </a:p>
        </p:txBody>
      </p:sp>
      <p:cxnSp>
        <p:nvCxnSpPr>
          <p:cNvPr id="16" name="直接箭头连接符 15"/>
          <p:cNvCxnSpPr>
            <a:endCxn id="43" idx="1"/>
          </p:cNvCxnSpPr>
          <p:nvPr/>
        </p:nvCxnSpPr>
        <p:spPr>
          <a:xfrm>
            <a:off x="4911090" y="4145280"/>
            <a:ext cx="2480945" cy="203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/>
      <p:bldP spid="4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v2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20</a:t>
            </a:fld>
            <a:endParaRPr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80" y="1974850"/>
            <a:ext cx="9627870" cy="37985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647440" y="939165"/>
            <a:ext cx="49104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初步刻画了模型的实现过程</a:t>
            </a:r>
          </a:p>
        </p:txBody>
      </p:sp>
      <p:sp>
        <p:nvSpPr>
          <p:cNvPr id="21" name="矩形 20"/>
          <p:cNvSpPr/>
          <p:nvPr/>
        </p:nvSpPr>
        <p:spPr>
          <a:xfrm>
            <a:off x="910590" y="2708910"/>
            <a:ext cx="4104640" cy="129603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2063115" y="2061210"/>
            <a:ext cx="694055" cy="647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54735" y="1635760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最重要的部分没有展现！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0488295" y="3141345"/>
            <a:ext cx="15551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不同的结构使用同一种背景颜色，难以区分！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10069195" y="2769235"/>
            <a:ext cx="562610" cy="2997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9624060" y="3357245"/>
            <a:ext cx="724535" cy="224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24" idx="1"/>
          </p:cNvCxnSpPr>
          <p:nvPr/>
        </p:nvCxnSpPr>
        <p:spPr>
          <a:xfrm flipV="1">
            <a:off x="9933305" y="3802380"/>
            <a:ext cx="554990" cy="145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7319645" y="2637155"/>
            <a:ext cx="3024505" cy="5759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4943475" y="3717290"/>
            <a:ext cx="5328285" cy="7124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1918970" y="3644900"/>
            <a:ext cx="8352790" cy="936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366895" y="3141345"/>
            <a:ext cx="576072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091055" y="6107430"/>
            <a:ext cx="73342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主要问题: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模块边界不清晰，如何解决没体现!</a:t>
            </a: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8909685" y="4826000"/>
            <a:ext cx="786765" cy="4032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9768205" y="5238115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该结构名字过长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/>
      <p:bldP spid="24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v3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21</a:t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30070"/>
            <a:ext cx="10452100" cy="41052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60040" y="1007745"/>
            <a:ext cx="66065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细化每个阶段实现，区分每种结构颜色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79650" y="6107430"/>
            <a:ext cx="73342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主要问题: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模块边界不清晰，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算法逻辑不明确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!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63750" y="1701165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变量的变化过程？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688070" y="1445895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模块的边界在哪里？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8489315" y="1772920"/>
            <a:ext cx="702945" cy="4019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0272395" y="177292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9336405" y="1917065"/>
            <a:ext cx="144145" cy="2736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063750" y="2099945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字体略小，整体不够饱满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1970405" y="2564765"/>
            <a:ext cx="741045" cy="436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2100580" y="2564765"/>
            <a:ext cx="755015" cy="10299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v4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22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911225" y="981075"/>
            <a:ext cx="10596880" cy="4837430"/>
            <a:chOff x="1435" y="1545"/>
            <a:chExt cx="16688" cy="761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" y="2565"/>
              <a:ext cx="16688" cy="6598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4553" y="1545"/>
              <a:ext cx="10452" cy="1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800">
                  <a:solidFill>
                    <a:schemeClr val="tx2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最终版本：</a:t>
              </a:r>
              <a:r>
                <a:rPr lang="zh-CN" altLang="en-US" sz="2800">
                  <a:solidFill>
                    <a:schemeClr val="tx2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框出模块范围，细化命名！</a:t>
              </a:r>
              <a:endParaRPr lang="zh-CN" altLang="en-US" sz="280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endParaRPr lang="zh-CN" altLang="en-US" sz="280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模型框架图与论文结合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23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913765"/>
            <a:ext cx="4797425" cy="58940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405" y="981075"/>
            <a:ext cx="2301875" cy="56222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845" y="1628775"/>
            <a:ext cx="6004560" cy="23742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951855" y="4797425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i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图文对应！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>
                <a:latin typeface="+mn-lt"/>
              </a:rPr>
              <a:t> </a:t>
            </a:r>
            <a:r>
              <a:rPr lang="zh-CN" altLang="en-US" dirty="0">
                <a:latin typeface="+mn-lt"/>
              </a:rPr>
              <a:t>图表中的文字与图表</a:t>
            </a:r>
            <a:r>
              <a:rPr lang="en-US" altLang="zh-CN" dirty="0">
                <a:latin typeface="+mn-lt"/>
              </a:rPr>
              <a:t>Caption</a:t>
            </a:r>
            <a:endParaRPr lang="zh-CN" dirty="0">
              <a:latin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24</a:t>
            </a:fld>
            <a:endParaRPr lang="zh-CN" altLang="en-US" dirty="0"/>
          </a:p>
        </p:txBody>
      </p:sp>
      <p:grpSp>
        <p:nvGrpSpPr>
          <p:cNvPr id="30" name="组合 29"/>
          <p:cNvGrpSpPr/>
          <p:nvPr/>
        </p:nvGrpSpPr>
        <p:grpSpPr>
          <a:xfrm>
            <a:off x="262890" y="909320"/>
            <a:ext cx="11878945" cy="5596255"/>
            <a:chOff x="414" y="1432"/>
            <a:chExt cx="18707" cy="881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" y="6421"/>
              <a:ext cx="10290" cy="382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5" y="2225"/>
              <a:ext cx="6804" cy="4166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99" y="2452"/>
              <a:ext cx="11223" cy="3813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74" y="6648"/>
              <a:ext cx="7020" cy="2880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868" y="1432"/>
              <a:ext cx="16915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Tips</a:t>
              </a:r>
              <a:r>
                <a:rPr lang="zh-CN" altLang="en-US" sz="28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（</a:t>
              </a:r>
              <a:r>
                <a:rPr lang="en-US" altLang="zh-CN" sz="28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4</a:t>
              </a:r>
              <a:r>
                <a:rPr lang="zh-CN" altLang="en-US" sz="28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）图表文字清晰直接表达内容，与图注、表注、正文一致!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论文</a:t>
            </a:r>
            <a:r>
              <a:rPr lang="zh-CN" dirty="0"/>
              <a:t>模型框架</a:t>
            </a:r>
            <a:r>
              <a:rPr dirty="0"/>
              <a:t>图——小结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模型框架图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算法的逻辑要明确</a:t>
            </a:r>
            <a:endParaRPr lang="zh-CN" altLang="en-US" b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模块的边界要清晰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排版的布局要直观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整体的配色要讲究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线条的排列不交叉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endParaRPr lang="zh-CN" altLang="en-US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endParaRPr lang="zh-CN" altLang="en-US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25</a:t>
            </a:fld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93506" y="2139079"/>
            <a:ext cx="100049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感谢聆听，敬请指正！</a:t>
            </a:r>
            <a:endParaRPr kumimoji="1" lang="en-US" altLang="zh-CN" sz="6000" b="1" dirty="0">
              <a:solidFill>
                <a:srgbClr val="20386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03B2-A378-42BD-B5EC-F7748F169FE0}" type="slidenum">
              <a:rPr lang="en-US" altLang="zh-CN" smtClean="0"/>
              <a:t>26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835" y="124839"/>
            <a:ext cx="1331089" cy="1331089"/>
          </a:xfrm>
          <a:prstGeom prst="rect">
            <a:avLst/>
          </a:prstGeom>
        </p:spPr>
      </p:pic>
      <p:pic>
        <p:nvPicPr>
          <p:cNvPr id="13" name="图片 12" descr="图片包含 天空, 建筑物, 户外, 道路&#10;&#10;已生成极高可信度的说明"/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4" b="12793"/>
          <a:stretch>
            <a:fillRect/>
          </a:stretch>
        </p:blipFill>
        <p:spPr>
          <a:xfrm>
            <a:off x="0" y="4484225"/>
            <a:ext cx="12192000" cy="2372761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 bwMode="auto">
          <a:xfrm>
            <a:off x="0" y="4484225"/>
            <a:ext cx="12192000" cy="2360665"/>
          </a:xfrm>
          <a:prstGeom prst="rect">
            <a:avLst/>
          </a:prstGeom>
          <a:solidFill>
            <a:srgbClr val="04487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91440"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b8488d6-013d-4f79-b99c-07d6bdc768d8"/>
  <p:tag name="COMMONDATA" val="eyJoZGlkIjoiNTVlZmI5NWM4MTA1NmIyYjhiNmEzMGRhODMxNjEyM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456.571653543307,&quot;width&quot;:1920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858</Words>
  <Application>Microsoft Macintosh PowerPoint</Application>
  <PresentationFormat>宽屏</PresentationFormat>
  <Paragraphs>191</Paragraphs>
  <Slides>26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等线</vt:lpstr>
      <vt:lpstr>黑体</vt:lpstr>
      <vt:lpstr>微软雅黑</vt:lpstr>
      <vt:lpstr>Arial</vt:lpstr>
      <vt:lpstr>Calibri</vt:lpstr>
      <vt:lpstr>Segoe Print</vt:lpstr>
      <vt:lpstr>Times New Roman</vt:lpstr>
      <vt:lpstr>Office 主题</vt:lpstr>
      <vt:lpstr>学术论文之 绘制研究动机图和模型框架图 </vt:lpstr>
      <vt:lpstr> 从论文图示与论文写作的关系说起</vt:lpstr>
      <vt:lpstr> 论文研究动机图绘制思路</vt:lpstr>
      <vt:lpstr> 示例一：MMnasNet v1</vt:lpstr>
      <vt:lpstr> 示例一：MMnasNet v2</vt:lpstr>
      <vt:lpstr> 示例一：MMnasNet v3</vt:lpstr>
      <vt:lpstr> 示例一：MMnasNet v4</vt:lpstr>
      <vt:lpstr> 论文研究动机示意图——小结</vt:lpstr>
      <vt:lpstr>示例二：Non-local</vt:lpstr>
      <vt:lpstr>示例三： CLIP</vt:lpstr>
      <vt:lpstr>示例四： Segment Anything </vt:lpstr>
      <vt:lpstr>示例五： Pseudo-Q</vt:lpstr>
      <vt:lpstr>示例六：DETR</vt:lpstr>
      <vt:lpstr>示例七：SOLO</vt:lpstr>
      <vt:lpstr>示例八：CLIP Surgery </vt:lpstr>
      <vt:lpstr>示例久：CenterNet</vt:lpstr>
      <vt:lpstr> 从论文图示与论文写作的关系说起</vt:lpstr>
      <vt:lpstr> 论文模型框架图绘制思路</vt:lpstr>
      <vt:lpstr> 示例一：MMnasNet v1</vt:lpstr>
      <vt:lpstr> 示例一：MMnasNet v2</vt:lpstr>
      <vt:lpstr> 示例一：MMnasNet v3</vt:lpstr>
      <vt:lpstr> 示例一：MMnasNet v4</vt:lpstr>
      <vt:lpstr> 模型框架图与论文结合</vt:lpstr>
      <vt:lpstr> 图表中的文字与图表Caption</vt:lpstr>
      <vt:lpstr> 论文模型框架图——小结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Fei Gao</dc:creator>
  <cp:lastModifiedBy>Microsoft Office User</cp:lastModifiedBy>
  <cp:revision>1038</cp:revision>
  <dcterms:created xsi:type="dcterms:W3CDTF">2022-11-10T03:38:00Z</dcterms:created>
  <dcterms:modified xsi:type="dcterms:W3CDTF">2025-10-09T12:14:10Z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420D3A0B25728E146BFE55632B83E334</vt:lpwstr>
  </property>
  <property fmtid="{D5CDD505-2E9C-101B-9397-08002B2CF9AE}" pid="3" name="KSOProductBuildVer">
    <vt:lpwstr>2052-11.1.0.12763</vt:lpwstr>
  </property>
</Properties>
</file>