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1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56" r:id="rId2"/>
    <p:sldId id="257" r:id="rId3"/>
    <p:sldId id="550" r:id="rId4"/>
    <p:sldId id="478" r:id="rId5"/>
    <p:sldId id="477" r:id="rId6"/>
    <p:sldId id="476" r:id="rId7"/>
    <p:sldId id="483" r:id="rId8"/>
    <p:sldId id="479" r:id="rId9"/>
    <p:sldId id="480" r:id="rId10"/>
    <p:sldId id="481" r:id="rId11"/>
    <p:sldId id="482" r:id="rId12"/>
    <p:sldId id="420" r:id="rId13"/>
    <p:sldId id="416" r:id="rId14"/>
    <p:sldId id="417" r:id="rId15"/>
    <p:sldId id="422" r:id="rId16"/>
    <p:sldId id="428" r:id="rId17"/>
    <p:sldId id="429" r:id="rId18"/>
    <p:sldId id="539" r:id="rId19"/>
    <p:sldId id="556" r:id="rId20"/>
    <p:sldId id="541" r:id="rId21"/>
    <p:sldId id="542" r:id="rId22"/>
    <p:sldId id="543" r:id="rId23"/>
    <p:sldId id="437" r:id="rId24"/>
    <p:sldId id="551" r:id="rId25"/>
    <p:sldId id="552" r:id="rId26"/>
    <p:sldId id="554" r:id="rId27"/>
    <p:sldId id="553" r:id="rId28"/>
    <p:sldId id="555" r:id="rId29"/>
    <p:sldId id="557" r:id="rId30"/>
    <p:sldId id="438" r:id="rId31"/>
    <p:sldId id="443" r:id="rId32"/>
    <p:sldId id="454" r:id="rId33"/>
    <p:sldId id="455" r:id="rId34"/>
    <p:sldId id="456" r:id="rId35"/>
    <p:sldId id="460" r:id="rId36"/>
    <p:sldId id="549" r:id="rId37"/>
    <p:sldId id="461" r:id="rId38"/>
    <p:sldId id="475" r:id="rId39"/>
  </p:sldIdLst>
  <p:sldSz cx="12192000" cy="6858000"/>
  <p:notesSz cx="6858000" cy="9144000"/>
  <p:custDataLst>
    <p:tags r:id="rId4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89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angzhujia" initials="w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6092"/>
    <a:srgbClr val="F7CAAB"/>
    <a:srgbClr val="E3CCE5"/>
    <a:srgbClr val="FDE498"/>
    <a:srgbClr val="0000FF"/>
    <a:srgbClr val="F0F0F0"/>
    <a:srgbClr val="F8F8F8"/>
    <a:srgbClr val="F1F1F1"/>
    <a:srgbClr val="B07B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45" autoAdjust="0"/>
    <p:restoredTop sz="70575" autoAdjust="0"/>
  </p:normalViewPr>
  <p:slideViewPr>
    <p:cSldViewPr>
      <p:cViewPr varScale="1">
        <p:scale>
          <a:sx n="72" d="100"/>
          <a:sy n="72" d="100"/>
        </p:scale>
        <p:origin x="216" y="384"/>
      </p:cViewPr>
      <p:guideLst>
        <p:guide orient="horz" pos="2160"/>
        <p:guide pos="3889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gs" Target="tags/tag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2-10-25T21:23:12.975" idx="1">
    <p:pos x="166" y="166"/>
    <p:text>visio不知道要怎么介绍，感觉这是审美的因素要重一些，就是自己配色画图啥的，介绍点经典配色？介绍点好看的模型图？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2-10-25T21:23:12.975" idx="2">
    <p:pos x="166" y="166"/>
    <p:text>visio不知道要怎么介绍，感觉这是审美的因素要重一些，就是自己配色画图啥的，介绍点经典配色？介绍点好看的模型图？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2-10-25T21:23:12.975" idx="3">
    <p:pos x="166" y="166"/>
    <p:text>visio不知道要怎么介绍，感觉这是审美的因素要重一些，就是自己配色画图啥的，介绍点经典配色？介绍点好看的模型图？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2-10-25T21:23:12.975" idx="4">
    <p:pos x="166" y="166"/>
    <p:text>visio不知道要怎么介绍，感觉这是审美的因素要重一些，就是自己配色画图啥的，介绍点经典配色？介绍点好看的模型图？</p:tex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5C6822-2CF9-407B-97F6-B5C3F0D04FD0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93BB54-13A4-4BBD-86B6-C67793120F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141058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F64D2-B46D-458F-8F5A-49B31CD8FEF4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1280D9-CCCD-4530-9608-C2BA9AEF16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2195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49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80497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7789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2564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0644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8447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00811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5063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633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67093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91941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29745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5131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80D9-CCCD-4530-9608-C2BA9AEF16EE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03370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99857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74928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0375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20292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5983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70637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29101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9833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2142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56568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34394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本次报告的提纲如下，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920E77-9BE9-420C-B698-3E0ECA1FA4F1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41914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38100" y="931863"/>
            <a:ext cx="3963988" cy="2230437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以上是我汇报的全部内容，请各位专家指正</a:t>
            </a:r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6953BD76-09F8-4556-8F7F-1E413B4F017A}" type="datetime1">
              <a:rPr lang="en-US" altLang="zh-CN" smtClean="0"/>
              <a:t>10/19/25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Confidentiality Label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788AFD-C26B-478C-B2D8-3A933D69C95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104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0" y="2348881"/>
            <a:ext cx="12192000" cy="1470025"/>
          </a:xfr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>
                    <a:lumMod val="95000"/>
                  </a:schemeClr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等线" panose="02010600030101010101" pitchFamily="2" charset="-122"/>
                <a:ea typeface="楷体" panose="02010609060101010101" pitchFamily="49" charset="-122"/>
                <a:cs typeface="Segoe Print" panose="02000600000000000000" charset="0"/>
              </a:defRPr>
            </a:lvl1pPr>
          </a:lstStyle>
          <a:p>
            <a:r>
              <a:rPr lang="en-US" altLang="zh-CN" dirty="0"/>
              <a:t>Title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28800" y="4038285"/>
            <a:ext cx="8534400" cy="1983003"/>
          </a:xfrm>
        </p:spPr>
        <p:txBody>
          <a:bodyPr anchor="ctr" anchorCtr="1">
            <a:noAutofit/>
          </a:bodyPr>
          <a:lstStyle>
            <a:lvl1pPr marL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dirty="0"/>
              <a:t>Reporter</a:t>
            </a:r>
          </a:p>
          <a:p>
            <a:r>
              <a:rPr lang="en-US" altLang="zh-CN" dirty="0"/>
              <a:t>Hangzhou </a:t>
            </a:r>
            <a:r>
              <a:rPr lang="en-US" altLang="zh-CN" dirty="0" err="1"/>
              <a:t>Dianzi</a:t>
            </a:r>
            <a:r>
              <a:rPr lang="en-US" altLang="zh-CN" dirty="0"/>
              <a:t> University</a:t>
            </a:r>
          </a:p>
          <a:p>
            <a:r>
              <a:rPr lang="en-US" altLang="zh-CN" dirty="0"/>
              <a:t>Email: </a:t>
            </a:r>
          </a:p>
          <a:p>
            <a:r>
              <a:rPr lang="en-US" altLang="zh-CN" dirty="0"/>
              <a:t>http://camalab.hdu.edu.cn</a:t>
            </a:r>
            <a:endParaRPr lang="zh-CN" altLang="en-US" dirty="0"/>
          </a:p>
        </p:txBody>
      </p:sp>
      <p:sp>
        <p:nvSpPr>
          <p:cNvPr id="6" name="梯形 5"/>
          <p:cNvSpPr/>
          <p:nvPr userDrawn="1"/>
        </p:nvSpPr>
        <p:spPr>
          <a:xfrm rot="18949264">
            <a:off x="-555650" y="540832"/>
            <a:ext cx="2849619" cy="457480"/>
          </a:xfrm>
          <a:prstGeom prst="trapezoid">
            <a:avLst>
              <a:gd name="adj" fmla="val 946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latin typeface="+mj-ea"/>
                <a:ea typeface="+mj-ea"/>
              </a:rPr>
              <a:t>论文写作指导</a:t>
            </a: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64552" y="44624"/>
            <a:ext cx="1016177" cy="100811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0" y="202630"/>
            <a:ext cx="12192000" cy="562074"/>
          </a:xfrm>
          <a:noFill/>
          <a:ln>
            <a:noFill/>
          </a:ln>
        </p:spPr>
        <p:txBody>
          <a:bodyPr>
            <a:noAutofit/>
          </a:bodyPr>
          <a:lstStyle>
            <a:lvl1pPr marL="360045" algn="l">
              <a:defRPr sz="3600" b="1" baseline="0">
                <a:solidFill>
                  <a:schemeClr val="tx2">
                    <a:lumMod val="75000"/>
                  </a:schemeClr>
                </a:solidFill>
                <a:latin typeface="等线" panose="02010600030101010101" pitchFamily="2" charset="-122"/>
                <a:ea typeface="楷体" panose="02010609060101010101" pitchFamily="49" charset="-122"/>
              </a:defRPr>
            </a:lvl1pPr>
          </a:lstStyle>
          <a:p>
            <a:r>
              <a:rPr lang="en-US" altLang="zh-CN" dirty="0"/>
              <a:t>Title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479376" y="908720"/>
            <a:ext cx="11103024" cy="5328592"/>
          </a:xfrm>
        </p:spPr>
        <p:txBody>
          <a:bodyPr/>
          <a:lstStyle>
            <a:lvl1pPr>
              <a:defRPr b="0" baseline="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  <a:lvl2pPr>
              <a:defRPr sz="2400">
                <a:latin typeface="Times New Roman" panose="02020603050405020304" pitchFamily="18" charset="0"/>
                <a:ea typeface="黑体" panose="02010609060101010101" pitchFamily="49" charset="-122"/>
              </a:defRPr>
            </a:lvl2pPr>
            <a:lvl3pPr>
              <a:defRPr sz="2000">
                <a:latin typeface="Times New Roman" panose="02020603050405020304" pitchFamily="18" charset="0"/>
                <a:ea typeface="黑体" panose="02010609060101010101" pitchFamily="49" charset="-122"/>
              </a:defRPr>
            </a:lvl3pPr>
            <a:lvl4pPr>
              <a:defRPr>
                <a:latin typeface="Times New Roman" panose="02020603050405020304" pitchFamily="18" charset="0"/>
                <a:ea typeface="黑体" panose="02010609060101010101" pitchFamily="49" charset="-122"/>
              </a:defRPr>
            </a:lvl4pPr>
            <a:lvl5pPr>
              <a:defRPr baseline="0">
                <a:latin typeface="Times New Roman" panose="02020603050405020304" pitchFamily="18" charset="0"/>
                <a:ea typeface="黑体" panose="02010609060101010101" pitchFamily="49" charset="-122"/>
              </a:defRPr>
            </a:lvl5pPr>
          </a:lstStyle>
          <a:p>
            <a:pPr lvl="0"/>
            <a:r>
              <a:rPr lang="en-US" altLang="zh-CN" dirty="0"/>
              <a:t>Title</a:t>
            </a:r>
            <a:endParaRPr lang="zh-CN" altLang="en-US" dirty="0"/>
          </a:p>
          <a:p>
            <a:pPr lvl="1"/>
            <a:r>
              <a:rPr lang="en-US" altLang="zh-CN" dirty="0"/>
              <a:t>First Level</a:t>
            </a:r>
            <a:endParaRPr lang="zh-CN" altLang="en-US" dirty="0"/>
          </a:p>
          <a:p>
            <a:pPr lvl="2"/>
            <a:r>
              <a:rPr lang="en-US" altLang="zh-CN" dirty="0"/>
              <a:t>Second Level</a:t>
            </a:r>
            <a:endParaRPr lang="zh-CN" altLang="en-US" dirty="0"/>
          </a:p>
          <a:p>
            <a:pPr lvl="3"/>
            <a:r>
              <a:rPr lang="en-US" altLang="zh-CN" dirty="0"/>
              <a:t>Third Level</a:t>
            </a:r>
            <a:endParaRPr lang="zh-CN" altLang="en-US" dirty="0"/>
          </a:p>
          <a:p>
            <a:pPr lvl="4"/>
            <a:r>
              <a:rPr lang="en-US" altLang="zh-CN" dirty="0"/>
              <a:t>Fourth Level</a:t>
            </a:r>
            <a:endParaRPr lang="zh-CN" altLang="en-US" dirty="0"/>
          </a:p>
        </p:txBody>
      </p:sp>
      <p:cxnSp>
        <p:nvCxnSpPr>
          <p:cNvPr id="5" name="直接连接符 4"/>
          <p:cNvCxnSpPr/>
          <p:nvPr userDrawn="1"/>
        </p:nvCxnSpPr>
        <p:spPr>
          <a:xfrm>
            <a:off x="479376" y="836712"/>
            <a:ext cx="11103024" cy="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96600" y="82361"/>
            <a:ext cx="615218" cy="610335"/>
          </a:xfrm>
          <a:prstGeom prst="rect">
            <a:avLst/>
          </a:prstGeom>
        </p:spPr>
      </p:pic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336360" y="638132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r"/>
            <a:fld id="{CBD803B2-A378-42BD-B5EC-F7748F169FE0}" type="slidenum">
              <a:rPr lang="en-US" altLang="zh-CN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356353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BD803B2-A378-42BD-B5EC-F7748F169FE0}" type="slidenum">
              <a:rPr lang="en-US" altLang="zh-CN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62074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052736"/>
            <a:ext cx="10972800" cy="5328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3200" b="0" kern="1200">
          <a:solidFill>
            <a:schemeClr val="bg1"/>
          </a:solidFill>
          <a:latin typeface="Segoe Print" panose="02000600000000000000" charset="0"/>
          <a:ea typeface="宋体" panose="02010600030101010101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25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800" b="1" kern="1200">
          <a:solidFill>
            <a:srgbClr val="0070C0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1pPr>
      <a:lvl2pPr marL="742950" indent="-2857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Segoe Print" panose="02000600000000000000" charset="0"/>
          <a:ea typeface="黑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3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comments" Target="../comments/comment4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79376" y="1376772"/>
            <a:ext cx="11712624" cy="2088232"/>
          </a:xfrm>
          <a:noFill/>
          <a:effectLst/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zh-CN" altLang="en-US" sz="5400" dirty="0">
                <a:solidFill>
                  <a:srgbClr val="002060"/>
                </a:solidFill>
                <a:effectLst/>
                <a:latin typeface="+mj-ea"/>
                <a:ea typeface="+mj-ea"/>
              </a:rPr>
              <a:t>学术论文之</a:t>
            </a:r>
            <a:br>
              <a:rPr lang="en-US" altLang="zh-CN" sz="5400" dirty="0">
                <a:solidFill>
                  <a:srgbClr val="002060"/>
                </a:solidFill>
                <a:effectLst/>
                <a:latin typeface="+mj-ea"/>
                <a:ea typeface="+mj-ea"/>
              </a:rPr>
            </a:br>
            <a:r>
              <a:rPr lang="zh-CN" altLang="en-US" sz="5400" dirty="0">
                <a:solidFill>
                  <a:srgbClr val="002060"/>
                </a:solidFill>
                <a:effectLst/>
                <a:latin typeface="+mj-ea"/>
                <a:ea typeface="+mj-ea"/>
              </a:rPr>
              <a:t>绘制研究动机图和模型框架图</a:t>
            </a:r>
            <a:br>
              <a:rPr lang="en-US" altLang="zh-CN" sz="5400" dirty="0">
                <a:solidFill>
                  <a:srgbClr val="002060"/>
                </a:solidFill>
                <a:effectLst/>
                <a:latin typeface="+mj-ea"/>
                <a:ea typeface="+mj-ea"/>
              </a:rPr>
            </a:br>
            <a:endParaRPr lang="zh-CN" altLang="en-US" sz="3200" dirty="0">
              <a:solidFill>
                <a:srgbClr val="002060"/>
              </a:solidFill>
              <a:effectLst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75520" y="2780928"/>
            <a:ext cx="8534400" cy="1584175"/>
          </a:xfrm>
        </p:spPr>
        <p:txBody>
          <a:bodyPr/>
          <a:lstStyle/>
          <a:p>
            <a:r>
              <a:rPr lang="zh-CN" altLang="en-US" sz="4000" b="1" dirty="0">
                <a:latin typeface="+mn-lt"/>
                <a:ea typeface="楷体" panose="02010609060101010101" pitchFamily="49" charset="-122"/>
              </a:rPr>
              <a:t>陈铭浩</a:t>
            </a:r>
            <a:endParaRPr lang="en-US" altLang="zh-CN" sz="4000" b="1" dirty="0">
              <a:latin typeface="+mn-lt"/>
              <a:ea typeface="楷体" panose="02010609060101010101" pitchFamily="49" charset="-122"/>
            </a:endParaRPr>
          </a:p>
          <a:p>
            <a:r>
              <a:rPr lang="zh-CN" altLang="en-US" sz="28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杭州电子科技大学计算机学院</a:t>
            </a:r>
            <a:endParaRPr lang="en-US" altLang="zh-CN" sz="28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45" r="499" b="3131"/>
          <a:stretch>
            <a:fillRect/>
          </a:stretch>
        </p:blipFill>
        <p:spPr>
          <a:xfrm>
            <a:off x="0" y="4653136"/>
            <a:ext cx="12192000" cy="2194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dirty="0"/>
              <a:t> 从论文图示与论文写作的关系说起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</a:t>
            </a:fld>
            <a:endParaRPr lang="zh-CN" altLang="en-US" dirty="0"/>
          </a:p>
        </p:txBody>
      </p:sp>
      <p:grpSp>
        <p:nvGrpSpPr>
          <p:cNvPr id="31" name="组合 30"/>
          <p:cNvGrpSpPr/>
          <p:nvPr/>
        </p:nvGrpSpPr>
        <p:grpSpPr>
          <a:xfrm>
            <a:off x="360045" y="1052830"/>
            <a:ext cx="11679555" cy="5472430"/>
            <a:chOff x="567" y="1658"/>
            <a:chExt cx="18393" cy="8618"/>
          </a:xfrm>
        </p:grpSpPr>
        <p:grpSp>
          <p:nvGrpSpPr>
            <p:cNvPr id="17" name="组合 16"/>
            <p:cNvGrpSpPr/>
            <p:nvPr/>
          </p:nvGrpSpPr>
          <p:grpSpPr>
            <a:xfrm>
              <a:off x="567" y="1658"/>
              <a:ext cx="16857" cy="8618"/>
              <a:chOff x="1361" y="1658"/>
              <a:chExt cx="16857" cy="8618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1361" y="1658"/>
                <a:ext cx="14113" cy="8618"/>
                <a:chOff x="1475" y="1998"/>
                <a:chExt cx="14113" cy="8618"/>
              </a:xfrm>
            </p:grpSpPr>
            <p:cxnSp>
              <p:nvCxnSpPr>
                <p:cNvPr id="13" name="直接连接符 12"/>
                <p:cNvCxnSpPr/>
                <p:nvPr/>
              </p:nvCxnSpPr>
              <p:spPr>
                <a:xfrm>
                  <a:off x="10508" y="1998"/>
                  <a:ext cx="0" cy="8618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" name="文本框 13"/>
                <p:cNvSpPr txBox="1"/>
                <p:nvPr/>
              </p:nvSpPr>
              <p:spPr>
                <a:xfrm>
                  <a:off x="4724" y="1999"/>
                  <a:ext cx="1888" cy="6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200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黑体" panose="02010609060101010101" pitchFamily="49" charset="-122"/>
                      <a:cs typeface="Times New Roman" panose="02020603050405020304" pitchFamily="18" charset="0"/>
                    </a:rPr>
                    <a:t>论文引言</a:t>
                  </a:r>
                </a:p>
              </p:txBody>
            </p:sp>
            <p:sp>
              <p:nvSpPr>
                <p:cNvPr id="15" name="文本框 14"/>
                <p:cNvSpPr txBox="1"/>
                <p:nvPr/>
              </p:nvSpPr>
              <p:spPr>
                <a:xfrm>
                  <a:off x="13682" y="1998"/>
                  <a:ext cx="1906" cy="6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2000" dirty="0">
                      <a:solidFill>
                        <a:srgbClr val="C00000"/>
                      </a:solidFill>
                      <a:latin typeface="Times New Roman" panose="02020603050405020304" pitchFamily="18" charset="0"/>
                      <a:ea typeface="黑体" panose="02010609060101010101" pitchFamily="49" charset="-122"/>
                      <a:cs typeface="Times New Roman" panose="02020603050405020304" pitchFamily="18" charset="0"/>
                    </a:rPr>
                    <a:t>论文方法</a:t>
                  </a:r>
                </a:p>
              </p:txBody>
            </p:sp>
            <p:sp>
              <p:nvSpPr>
                <p:cNvPr id="16" name="文本框 15"/>
                <p:cNvSpPr txBox="1"/>
                <p:nvPr/>
              </p:nvSpPr>
              <p:spPr>
                <a:xfrm>
                  <a:off x="1475" y="2452"/>
                  <a:ext cx="8975" cy="28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>
                    <a:lnSpc>
                      <a:spcPct val="200000"/>
                    </a:lnSpc>
                  </a:pPr>
                  <a:r>
                    <a:rPr lang="zh-CN" altLang="en-US" sz="2000" dirty="0">
                      <a:solidFill>
                        <a:srgbClr val="00B050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科学问题</a:t>
                  </a:r>
                  <a:r>
                    <a:rPr lang="en-US" altLang="zh-CN" sz="2000" dirty="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   </a:t>
                  </a:r>
                  <a:r>
                    <a:rPr lang="zh-CN" altLang="en-US" sz="2000" dirty="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是否探索本质?为何重要?</a:t>
                  </a:r>
                </a:p>
                <a:p>
                  <a:pPr algn="l">
                    <a:lnSpc>
                      <a:spcPct val="200000"/>
                    </a:lnSpc>
                  </a:pPr>
                  <a:r>
                    <a:rPr lang="zh-CN" altLang="en-US" sz="2000" dirty="0">
                      <a:solidFill>
                        <a:srgbClr val="00B050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写作逻辑</a:t>
                  </a:r>
                  <a:r>
                    <a:rPr lang="en-US" altLang="zh-CN" sz="2000" dirty="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   </a:t>
                  </a:r>
                  <a:r>
                    <a:rPr lang="zh-CN" altLang="en-US" sz="2000" dirty="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背景-现状-问题-方法如何环环相扣?</a:t>
                  </a:r>
                </a:p>
                <a:p>
                  <a:pPr algn="l">
                    <a:lnSpc>
                      <a:spcPct val="200000"/>
                    </a:lnSpc>
                  </a:pPr>
                  <a:r>
                    <a:rPr lang="zh-CN" altLang="en-US" sz="2000" dirty="0">
                      <a:solidFill>
                        <a:srgbClr val="00B050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表达方式</a:t>
                  </a:r>
                  <a:r>
                    <a:rPr lang="en-US" altLang="zh-CN" sz="2000" dirty="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   </a:t>
                  </a:r>
                  <a:r>
                    <a:rPr lang="en-US" altLang="zh-CN" sz="2000" dirty="0" err="1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抓住重点</a:t>
                  </a:r>
                  <a:r>
                    <a:rPr lang="zh-CN" altLang="en-US" sz="2000" dirty="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，</a:t>
                  </a:r>
                  <a:r>
                    <a:rPr lang="en-US" altLang="zh-CN" sz="2000" dirty="0" err="1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深入浅出</a:t>
                  </a:r>
                  <a:endParaRPr lang="en-US" altLang="zh-CN" sz="2000" dirty="0">
                    <a:latin typeface="黑体" panose="02010609060101010101" pitchFamily="49" charset="-122"/>
                    <a:ea typeface="黑体" panose="02010609060101010101" pitchFamily="49" charset="-122"/>
                    <a:cs typeface="黑体" panose="02010609060101010101" pitchFamily="49" charset="-122"/>
                  </a:endParaRP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11641" y="2792"/>
                  <a:ext cx="488" cy="6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zh-CN" altLang="en-US" sz="2000">
                    <a:latin typeface="黑体" panose="02010609060101010101" pitchFamily="49" charset="-122"/>
                    <a:ea typeface="黑体" panose="02010609060101010101" pitchFamily="49" charset="-122"/>
                    <a:cs typeface="黑体" panose="02010609060101010101" pitchFamily="49" charset="-122"/>
                  </a:endParaRPr>
                </a:p>
              </p:txBody>
            </p:sp>
          </p:grpSp>
          <p:sp>
            <p:nvSpPr>
              <p:cNvPr id="22" name="矩形 21"/>
              <p:cNvSpPr/>
              <p:nvPr/>
            </p:nvSpPr>
            <p:spPr>
              <a:xfrm>
                <a:off x="16064" y="9596"/>
                <a:ext cx="2154" cy="56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4" name="文本框 23"/>
            <p:cNvSpPr txBox="1"/>
            <p:nvPr/>
          </p:nvSpPr>
          <p:spPr>
            <a:xfrm>
              <a:off x="9827" y="2112"/>
              <a:ext cx="8571" cy="28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200000"/>
                </a:lnSpc>
              </a:pPr>
              <a:r>
                <a:rPr lang="zh-CN" altLang="en-US" sz="2000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解决方法</a:t>
              </a:r>
              <a:r>
                <a: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   </a:t>
              </a:r>
              <a:r>
                <a:rPr lang="zh-CN" altLang="en-US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是否专注核心挑战?如何解决?</a:t>
              </a:r>
            </a:p>
            <a:p>
              <a:pPr algn="l">
                <a:lnSpc>
                  <a:spcPct val="200000"/>
                </a:lnSpc>
              </a:pPr>
              <a:r>
                <a:rPr lang="zh-CN" altLang="en-US" sz="2000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写作逻辑</a:t>
              </a:r>
              <a:r>
                <a: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   </a:t>
              </a:r>
              <a:r>
                <a:rPr lang="zh-CN" altLang="en-US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方法如何分解?各自解决哪些问题?</a:t>
              </a:r>
            </a:p>
            <a:p>
              <a:pPr algn="l">
                <a:lnSpc>
                  <a:spcPct val="200000"/>
                </a:lnSpc>
              </a:pPr>
              <a:r>
                <a:rPr lang="zh-CN" altLang="en-US" sz="2000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表达方式</a:t>
              </a:r>
              <a:r>
                <a: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   </a:t>
              </a:r>
              <a:r>
                <a:rPr lang="en-US" altLang="zh-CN" sz="2000" dirty="0" err="1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准确清晰</a:t>
              </a:r>
              <a:r>
                <a:rPr lang="zh-CN" altLang="en-US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的表达</a:t>
              </a:r>
              <a:endParaRPr lang="en-US" altLang="zh-CN" sz="2000" dirty="0"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endParaRPr>
            </a:p>
          </p:txBody>
        </p:sp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5" y="5164"/>
              <a:ext cx="6318" cy="5061"/>
            </a:xfrm>
            <a:prstGeom prst="rect">
              <a:avLst/>
            </a:prstGeom>
          </p:spPr>
        </p:pic>
        <p:pic>
          <p:nvPicPr>
            <p:cNvPr id="28" name="图片 2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27" y="5514"/>
              <a:ext cx="9133" cy="3753"/>
            </a:xfrm>
            <a:prstGeom prst="rect">
              <a:avLst/>
            </a:prstGeom>
          </p:spPr>
        </p:pic>
        <p:sp>
          <p:nvSpPr>
            <p:cNvPr id="29" name="文本框 28"/>
            <p:cNvSpPr txBox="1"/>
            <p:nvPr/>
          </p:nvSpPr>
          <p:spPr>
            <a:xfrm rot="20640000">
              <a:off x="6632" y="9542"/>
              <a:ext cx="2693" cy="7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>
                  <a:solidFill>
                    <a:srgbClr val="00B05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研究动机图</a:t>
              </a:r>
            </a:p>
          </p:txBody>
        </p:sp>
        <p:sp>
          <p:nvSpPr>
            <p:cNvPr id="30" name="文本框 29"/>
            <p:cNvSpPr txBox="1"/>
            <p:nvPr/>
          </p:nvSpPr>
          <p:spPr>
            <a:xfrm rot="20640000">
              <a:off x="15847" y="9516"/>
              <a:ext cx="2765" cy="7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方法流程图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 </a:t>
            </a:r>
            <a:r>
              <a:rPr dirty="0" err="1"/>
              <a:t>论文研究动机示意图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376" y="908720"/>
            <a:ext cx="10873208" cy="5472608"/>
          </a:xfrm>
        </p:spPr>
        <p:txBody>
          <a:bodyPr>
            <a:normAutofit/>
          </a:bodyPr>
          <a:lstStyle/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b="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研究动机图是看到论文的第一印象。应该让读者一下子看明白这篇论文的</a:t>
            </a:r>
            <a:r>
              <a:rPr lang="zh-CN" altLang="en-US" b="1" dirty="0">
                <a:solidFill>
                  <a:srgbClr val="C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主要思想、贡献</a:t>
            </a:r>
            <a:r>
              <a:rPr lang="zh-CN" altLang="en-US" b="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。</a:t>
            </a:r>
            <a:r>
              <a:rPr lang="zh-CN" altLang="en-US" b="1" dirty="0">
                <a:solidFill>
                  <a:srgbClr val="C0000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需要简洁，好理解！</a:t>
            </a:r>
            <a:endParaRPr lang="en-US" altLang="zh-CN" b="1" dirty="0">
              <a:solidFill>
                <a:srgbClr val="C0000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b="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可以画什么内容？</a:t>
            </a:r>
            <a:endParaRPr lang="en-US" altLang="zh-CN" b="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展示目标的任务，或展示数据集</a:t>
            </a:r>
            <a:endParaRPr lang="en-US" altLang="zh-CN" b="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具象展示方法的作用（该论文的动机），让读者能靠直觉理解想法</a:t>
            </a:r>
            <a:endParaRPr lang="en-US" altLang="zh-CN" b="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简要地介绍提出的方法流程（或模型框架）</a:t>
            </a:r>
            <a:endParaRPr lang="en-US" altLang="zh-CN" b="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与之前工作的效果对比，来引出问题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endParaRPr lang="en-US" altLang="zh-CN" b="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endParaRPr lang="en-US" altLang="zh-CN" b="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endParaRPr lang="en-US" altLang="zh-CN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4924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0C39F9-8560-5172-D428-7D821AE1F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示例二：</a:t>
            </a:r>
            <a:r>
              <a:rPr lang="en-US" altLang="zh-CN" dirty="0"/>
              <a:t>Non-local</a:t>
            </a:r>
            <a:endParaRPr kumimoji="1" lang="zh-CN" altLang="en-US" dirty="0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858212F8-A870-B17E-596C-ECAF18FE6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362" y="1317809"/>
            <a:ext cx="8965276" cy="5329238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E01DA4C-C84A-423E-B208-DD2C18C07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4</a:t>
            </a:fld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DC3152-C348-8B7E-1184-1B89F5DACBE2}"/>
              </a:ext>
            </a:extLst>
          </p:cNvPr>
          <p:cNvSpPr txBox="1"/>
          <p:nvPr/>
        </p:nvSpPr>
        <p:spPr>
          <a:xfrm>
            <a:off x="407368" y="105208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具象展示方法的作用（该论文的动机）</a:t>
            </a:r>
          </a:p>
        </p:txBody>
      </p:sp>
    </p:spTree>
    <p:extLst>
      <p:ext uri="{BB962C8B-B14F-4D97-AF65-F5344CB8AC3E}">
        <p14:creationId xmlns:p14="http://schemas.microsoft.com/office/powerpoint/2010/main" val="254422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74B18C-3C49-95B6-F26C-45224BEAC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示例三：</a:t>
            </a:r>
            <a:r>
              <a:rPr lang="en-US" altLang="zh-CN" dirty="0"/>
              <a:t> CLIP</a:t>
            </a:r>
            <a:endParaRPr kumimoji="1" lang="zh-CN" altLang="en-US" dirty="0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E058407E-D3B5-E310-6DBA-2D0021A151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729" y="1528762"/>
            <a:ext cx="10028542" cy="5329238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D431F5-7632-D17D-56F7-FF77002BA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5</a:t>
            </a:fld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72C8A21-3AE1-1779-8AA9-FFC3AB61F18A}"/>
              </a:ext>
            </a:extLst>
          </p:cNvPr>
          <p:cNvSpPr txBox="1"/>
          <p:nvPr/>
        </p:nvSpPr>
        <p:spPr>
          <a:xfrm>
            <a:off x="407368" y="100381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方法流程</a:t>
            </a:r>
          </a:p>
        </p:txBody>
      </p:sp>
    </p:spTree>
    <p:extLst>
      <p:ext uri="{BB962C8B-B14F-4D97-AF65-F5344CB8AC3E}">
        <p14:creationId xmlns:p14="http://schemas.microsoft.com/office/powerpoint/2010/main" val="1392346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0E8AFD-27B1-2B56-1591-996AAB6F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示例四：</a:t>
            </a:r>
            <a:r>
              <a:rPr lang="en-US" altLang="zh-CN" dirty="0"/>
              <a:t> Segment Anything </a:t>
            </a:r>
            <a:endParaRPr kumimoji="1" lang="zh-CN" altLang="en-US" dirty="0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30FFF00F-7421-4C53-A797-82F7AA2D8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267" y="1234652"/>
            <a:ext cx="10099465" cy="5329238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C51DF1-8A02-F354-0A84-783B69F0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6</a:t>
            </a:fld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E259A13-F81A-F094-5DBE-95192197F268}"/>
              </a:ext>
            </a:extLst>
          </p:cNvPr>
          <p:cNvSpPr txBox="1"/>
          <p:nvPr/>
        </p:nvSpPr>
        <p:spPr>
          <a:xfrm>
            <a:off x="407368" y="105208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任务、模型、数据</a:t>
            </a:r>
          </a:p>
        </p:txBody>
      </p:sp>
    </p:spTree>
    <p:extLst>
      <p:ext uri="{BB962C8B-B14F-4D97-AF65-F5344CB8AC3E}">
        <p14:creationId xmlns:p14="http://schemas.microsoft.com/office/powerpoint/2010/main" val="2182686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E769F0-BC04-BBA9-28C0-E070781F8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示例五：</a:t>
            </a:r>
            <a:r>
              <a:rPr lang="en-US" altLang="zh-CN" dirty="0"/>
              <a:t> Pseudo-Q</a:t>
            </a:r>
            <a:endParaRPr kumimoji="1" lang="zh-CN" altLang="en-US" dirty="0"/>
          </a:p>
        </p:txBody>
      </p:sp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FDE021D0-887B-1A34-4D71-447B2080A4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680" y="1234652"/>
            <a:ext cx="6259119" cy="5329238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344F95-A292-B84B-C69C-1D69A4F5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7</a:t>
            </a:fld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33CE91-8220-9C60-3ED5-E85A776433F1}"/>
              </a:ext>
            </a:extLst>
          </p:cNvPr>
          <p:cNvSpPr txBox="1"/>
          <p:nvPr/>
        </p:nvSpPr>
        <p:spPr>
          <a:xfrm>
            <a:off x="407368" y="105208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任务</a:t>
            </a:r>
          </a:p>
        </p:txBody>
      </p:sp>
    </p:spTree>
    <p:extLst>
      <p:ext uri="{BB962C8B-B14F-4D97-AF65-F5344CB8AC3E}">
        <p14:creationId xmlns:p14="http://schemas.microsoft.com/office/powerpoint/2010/main" val="4129629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7515E2-53F3-C44B-BDCA-8F02B771C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示例六：</a:t>
            </a:r>
            <a:r>
              <a:rPr kumimoji="1" lang="en-US" altLang="zh-CN" dirty="0"/>
              <a:t>DETR</a:t>
            </a:r>
            <a:endParaRPr kumimoji="1" lang="zh-CN" altLang="en-US" dirty="0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BC0CB126-CA91-0C31-C661-36A41E1BF8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983" y="2343795"/>
            <a:ext cx="9038033" cy="3312368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7044FF-A66A-30E8-E8F5-2393DE2CF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8</a:t>
            </a:fld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6DFDDF-55CF-369B-DBB6-D80E68D820A5}"/>
              </a:ext>
            </a:extLst>
          </p:cNvPr>
          <p:cNvSpPr txBox="1"/>
          <p:nvPr/>
        </p:nvSpPr>
        <p:spPr>
          <a:xfrm>
            <a:off x="407368" y="100381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1768768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B3D754-F3BA-B949-B22F-36D1FAA98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示例七：</a:t>
            </a:r>
            <a:r>
              <a:rPr kumimoji="1" lang="en-US" altLang="zh-CN" dirty="0"/>
              <a:t>SOLO</a:t>
            </a:r>
            <a:endParaRPr kumimoji="1" lang="zh-CN" altLang="en-US" dirty="0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49E34050-D6E6-46AC-4A1D-0A400762C0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456" y="2348880"/>
            <a:ext cx="9183949" cy="3528392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AE01D5F-278A-FC98-1091-4580415C8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9</a:t>
            </a:fld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103DE0D-1DF0-1A62-DF56-1C9AD23624FF}"/>
              </a:ext>
            </a:extLst>
          </p:cNvPr>
          <p:cNvSpPr txBox="1"/>
          <p:nvPr/>
        </p:nvSpPr>
        <p:spPr>
          <a:xfrm>
            <a:off x="407368" y="100381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模型对比</a:t>
            </a:r>
          </a:p>
        </p:txBody>
      </p:sp>
    </p:spTree>
    <p:extLst>
      <p:ext uri="{BB962C8B-B14F-4D97-AF65-F5344CB8AC3E}">
        <p14:creationId xmlns:p14="http://schemas.microsoft.com/office/powerpoint/2010/main" val="3055326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6A886F-66E0-B559-D211-3218414A4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示例八：</a:t>
            </a:r>
            <a:r>
              <a:rPr kumimoji="1" lang="en-US" altLang="zh-CN" dirty="0"/>
              <a:t>CLIP Surgery </a:t>
            </a:r>
            <a:endParaRPr kumimoji="1" lang="zh-CN" altLang="en-US" dirty="0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F970CB20-6CC0-773D-4C35-1477AA4B2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1544" y="1323747"/>
            <a:ext cx="8933983" cy="5329238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AFFD78-1CF1-E907-AC88-AD22E6498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10</a:t>
            </a:fld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4A1665-B944-4CC4-6B13-DCFBDAE71194}"/>
              </a:ext>
            </a:extLst>
          </p:cNvPr>
          <p:cNvSpPr txBox="1"/>
          <p:nvPr/>
        </p:nvSpPr>
        <p:spPr>
          <a:xfrm>
            <a:off x="407368" y="100381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效果对比（引出问题）</a:t>
            </a:r>
          </a:p>
        </p:txBody>
      </p:sp>
    </p:spTree>
    <p:extLst>
      <p:ext uri="{BB962C8B-B14F-4D97-AF65-F5344CB8AC3E}">
        <p14:creationId xmlns:p14="http://schemas.microsoft.com/office/powerpoint/2010/main" val="19500448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A9917-4880-5C93-6877-50D489998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示例九：</a:t>
            </a:r>
            <a:r>
              <a:rPr kumimoji="1" lang="en-US" altLang="zh-CN" dirty="0" err="1"/>
              <a:t>CenterNet</a:t>
            </a:r>
            <a:endParaRPr kumimoji="1" lang="zh-CN" altLang="en-US" dirty="0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D2363827-4BC3-FCCD-A393-B927D533E4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945" y="1319935"/>
            <a:ext cx="7024110" cy="5329238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F17854-33E3-970A-0590-7530D8BDF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11</a:t>
            </a:fld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907E72C-E5EC-EB6C-FE18-5970457DF3C0}"/>
              </a:ext>
            </a:extLst>
          </p:cNvPr>
          <p:cNvSpPr txBox="1"/>
          <p:nvPr/>
        </p:nvSpPr>
        <p:spPr>
          <a:xfrm>
            <a:off x="407368" y="1003819"/>
            <a:ext cx="61012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2400" b="1" dirty="0">
                <a:latin typeface="+mj-ea"/>
                <a:ea typeface="+mj-ea"/>
              </a:rPr>
              <a:t>效果对比，方法动机直观理解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54C8434-9C4A-00A7-E293-BA8F98BB2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59" y="3089958"/>
            <a:ext cx="12141888" cy="353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820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 </a:t>
            </a:r>
            <a:r>
              <a:rPr dirty="0"/>
              <a:t>论文研究动机示意图——小结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376" y="908720"/>
            <a:ext cx="10873208" cy="5472608"/>
          </a:xfrm>
        </p:spPr>
        <p:txBody>
          <a:bodyPr>
            <a:normAutofit/>
          </a:bodyPr>
          <a:lstStyle/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b="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研究动机图</a:t>
            </a:r>
            <a:endParaRPr lang="en-US" altLang="zh-CN" b="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明确所解决的</a:t>
            </a:r>
            <a:r>
              <a:rPr lang="zh-CN" altLang="en-US" b="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问题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en-US" altLang="zh-CN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明确所提出的</a:t>
            </a:r>
            <a:r>
              <a:rPr lang="en-US" altLang="zh-CN" b="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创新</a:t>
            </a:r>
            <a:endParaRPr lang="en-US" altLang="zh-CN" b="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en-US" altLang="zh-CN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列举鲜明</a:t>
            </a:r>
            <a:r>
              <a:rPr lang="en-US" altLang="zh-CN" b="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对比</a:t>
            </a:r>
            <a:r>
              <a:rPr lang="en-US" altLang="zh-CN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实例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en-US" altLang="zh-CN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覆盖精准</a:t>
            </a:r>
            <a:r>
              <a:rPr lang="en-US" altLang="zh-CN" b="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典型</a:t>
            </a:r>
            <a:r>
              <a:rPr lang="en-US" altLang="zh-CN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情况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en-US" altLang="zh-CN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呼应论文</a:t>
            </a:r>
            <a:r>
              <a:rPr lang="en-US" altLang="zh-CN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叙述</a:t>
            </a:r>
            <a:r>
              <a:rPr lang="en-US" altLang="zh-CN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逻辑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319446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dirty="0"/>
              <a:t> 论文研究动机图绘制思路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13</a:t>
            </a:fld>
            <a:endParaRPr lang="zh-CN" altLang="en-US" dirty="0"/>
          </a:p>
        </p:txBody>
      </p:sp>
      <p:grpSp>
        <p:nvGrpSpPr>
          <p:cNvPr id="8" name="组合 7"/>
          <p:cNvGrpSpPr/>
          <p:nvPr/>
        </p:nvGrpSpPr>
        <p:grpSpPr>
          <a:xfrm>
            <a:off x="1847215" y="1268730"/>
            <a:ext cx="8555355" cy="4554220"/>
            <a:chOff x="3136" y="2041"/>
            <a:chExt cx="13473" cy="7172"/>
          </a:xfrm>
        </p:grpSpPr>
        <p:sp>
          <p:nvSpPr>
            <p:cNvPr id="6" name="文本框 5"/>
            <p:cNvSpPr txBox="1"/>
            <p:nvPr/>
          </p:nvSpPr>
          <p:spPr>
            <a:xfrm>
              <a:off x="3136" y="4946"/>
              <a:ext cx="4768" cy="8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>
                  <a:solidFill>
                    <a:schemeClr val="accent1">
                      <a:lumMod val="50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让我们一起来复盘</a:t>
              </a:r>
            </a:p>
          </p:txBody>
        </p:sp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73" y="2041"/>
              <a:ext cx="7237" cy="7172"/>
            </a:xfrm>
            <a:prstGeom prst="rect">
              <a:avLst/>
            </a:prstGeom>
          </p:spPr>
        </p:pic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F09583B8-E896-5114-F67D-963FC64A14F0}"/>
              </a:ext>
            </a:extLst>
          </p:cNvPr>
          <p:cNvSpPr/>
          <p:nvPr/>
        </p:nvSpPr>
        <p:spPr>
          <a:xfrm>
            <a:off x="28952" y="6474274"/>
            <a:ext cx="540724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/>
              <a:t>*</a:t>
            </a:r>
            <a:r>
              <a:rPr lang="zh-CN" altLang="en-US" sz="1600" dirty="0"/>
              <a:t>本课件部分内容来源自：https://mmlab-iie.github.io/course/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/>
              <a:t> </a:t>
            </a:r>
            <a:r>
              <a:rPr lang="zh-CN" altLang="en-US"/>
              <a:t>示例一：</a:t>
            </a:r>
            <a:r>
              <a:rPr lang="en-US" altLang="zh-CN" dirty="0" err="1"/>
              <a:t>MMnasNet</a:t>
            </a:r>
            <a:r>
              <a:rPr lang="en-US" altLang="zh-CN" dirty="0"/>
              <a:t> v1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14</a:t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3924825" y="981110"/>
            <a:ext cx="44935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草稿：直观地记录研究动机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447665" y="3429000"/>
            <a:ext cx="1289685" cy="52197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zh-CN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MMnas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270" y="1502410"/>
            <a:ext cx="1583690" cy="93853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1200150" y="2423160"/>
            <a:ext cx="287972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Q: how many cows on the grass</a:t>
            </a:r>
          </a:p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A: 9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495300" y="1880870"/>
            <a:ext cx="6781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VQA</a:t>
            </a: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270" y="3112135"/>
            <a:ext cx="1733550" cy="1076325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1200150" y="4197350"/>
            <a:ext cx="287972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Text: two players are grabbing the football</a:t>
            </a: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270" y="4789805"/>
            <a:ext cx="1733550" cy="1085850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1271270" y="5971540"/>
            <a:ext cx="287972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Query: the white sofa on the left of the room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495300" y="3466465"/>
            <a:ext cx="601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ITM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539750" y="5148580"/>
            <a:ext cx="51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VG</a:t>
            </a:r>
          </a:p>
        </p:txBody>
      </p:sp>
      <p:sp>
        <p:nvSpPr>
          <p:cNvPr id="21" name="右箭头 20"/>
          <p:cNvSpPr/>
          <p:nvPr/>
        </p:nvSpPr>
        <p:spPr>
          <a:xfrm>
            <a:off x="3863975" y="3500755"/>
            <a:ext cx="1223645" cy="28765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/>
        </p:nvSpPr>
        <p:spPr>
          <a:xfrm>
            <a:off x="7104380" y="3500755"/>
            <a:ext cx="1223645" cy="28765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9048115" y="1772285"/>
            <a:ext cx="2160270" cy="64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9480550" y="1916430"/>
            <a:ext cx="138493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VQA results</a:t>
            </a:r>
          </a:p>
        </p:txBody>
      </p:sp>
      <p:sp>
        <p:nvSpPr>
          <p:cNvPr id="27" name="矩形 26"/>
          <p:cNvSpPr/>
          <p:nvPr/>
        </p:nvSpPr>
        <p:spPr>
          <a:xfrm>
            <a:off x="9092565" y="3248660"/>
            <a:ext cx="2160270" cy="64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9525000" y="3392805"/>
            <a:ext cx="13131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ITM results</a:t>
            </a:r>
          </a:p>
        </p:txBody>
      </p:sp>
      <p:sp>
        <p:nvSpPr>
          <p:cNvPr id="29" name="矩形 28"/>
          <p:cNvSpPr/>
          <p:nvPr/>
        </p:nvSpPr>
        <p:spPr>
          <a:xfrm>
            <a:off x="9101455" y="4747260"/>
            <a:ext cx="2160270" cy="64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9533890" y="4891405"/>
            <a:ext cx="123634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VG results</a:t>
            </a:r>
          </a:p>
        </p:txBody>
      </p:sp>
      <p:sp>
        <p:nvSpPr>
          <p:cNvPr id="31" name="文本框 30"/>
          <p:cNvSpPr txBox="1"/>
          <p:nvPr/>
        </p:nvSpPr>
        <p:spPr>
          <a:xfrm>
            <a:off x="5231765" y="2564765"/>
            <a:ext cx="3992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解决的问题是什么？为什么重要？</a:t>
            </a:r>
          </a:p>
        </p:txBody>
      </p:sp>
      <p:cxnSp>
        <p:nvCxnSpPr>
          <p:cNvPr id="32" name="直接箭头连接符 31"/>
          <p:cNvCxnSpPr/>
          <p:nvPr/>
        </p:nvCxnSpPr>
        <p:spPr>
          <a:xfrm flipV="1">
            <a:off x="3493135" y="1916430"/>
            <a:ext cx="1162685" cy="5715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 flipV="1">
            <a:off x="3636010" y="2060575"/>
            <a:ext cx="1019810" cy="1417955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 flipV="1">
            <a:off x="3664585" y="2348865"/>
            <a:ext cx="991235" cy="2985135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4799965" y="1748790"/>
            <a:ext cx="292608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三种任务相互独立，</a:t>
            </a:r>
          </a:p>
          <a:p>
            <a:r>
              <a:rPr lang="zh-CN" altLang="en-US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如何用同一个网络来解决？</a:t>
            </a:r>
          </a:p>
        </p:txBody>
      </p:sp>
      <p:cxnSp>
        <p:nvCxnSpPr>
          <p:cNvPr id="36" name="直接箭头连接符 35"/>
          <p:cNvCxnSpPr/>
          <p:nvPr/>
        </p:nvCxnSpPr>
        <p:spPr>
          <a:xfrm flipH="1">
            <a:off x="7529195" y="2132330"/>
            <a:ext cx="1368425" cy="2952750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 flipH="1">
            <a:off x="7752080" y="3721100"/>
            <a:ext cx="1180465" cy="1291590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/>
          <p:nvPr/>
        </p:nvCxnSpPr>
        <p:spPr>
          <a:xfrm flipH="1">
            <a:off x="7824470" y="5085080"/>
            <a:ext cx="1151890" cy="0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4511675" y="5262880"/>
            <a:ext cx="38404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同一个网络怎么处理三种回答形式？</a:t>
            </a:r>
          </a:p>
        </p:txBody>
      </p:sp>
      <p:sp>
        <p:nvSpPr>
          <p:cNvPr id="41" name="文本框 40"/>
          <p:cNvSpPr txBox="1"/>
          <p:nvPr/>
        </p:nvSpPr>
        <p:spPr>
          <a:xfrm>
            <a:off x="5015865" y="5937250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主要问题：结构散乱，缺乏设计感！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5" grpId="0"/>
      <p:bldP spid="40" grpId="0"/>
      <p:bldP spid="4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示例一：</a:t>
            </a:r>
            <a:r>
              <a:rPr lang="en-US" altLang="zh-CN" dirty="0" err="1"/>
              <a:t>MMnasNet</a:t>
            </a:r>
            <a:r>
              <a:rPr lang="en-US" altLang="zh-CN" dirty="0"/>
              <a:t> v2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15</a:t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2838559" y="957447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模块化绘图，使脉络清晰；颜色构图，提升美感</a:t>
            </a:r>
          </a:p>
        </p:txBody>
      </p:sp>
      <p:sp>
        <p:nvSpPr>
          <p:cNvPr id="8" name="圆角矩形 7"/>
          <p:cNvSpPr/>
          <p:nvPr/>
        </p:nvSpPr>
        <p:spPr>
          <a:xfrm>
            <a:off x="3503930" y="3429000"/>
            <a:ext cx="5279390" cy="8642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498465" y="3573145"/>
            <a:ext cx="1289685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>
                <a:latin typeface="Times New Roman" panose="02020603050405020304" pitchFamily="18" charset="0"/>
                <a:cs typeface="Times New Roman" panose="02020603050405020304" pitchFamily="18" charset="0"/>
              </a:rPr>
              <a:t>MMnas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935" y="3208655"/>
            <a:ext cx="3676015" cy="19431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4269105"/>
            <a:ext cx="5247005" cy="188849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3648075" y="2390140"/>
            <a:ext cx="1439545" cy="822325"/>
          </a:xfrm>
          <a:prstGeom prst="roundRect">
            <a:avLst/>
          </a:prstGeom>
          <a:noFill/>
          <a:ln>
            <a:solidFill>
              <a:srgbClr val="FDE498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4F81BD"/>
                  </a:fgClr>
                  <a:bgClr>
                    <a:srgbClr val="FFFFFF"/>
                  </a:bgClr>
                </a:patt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791585" y="2636520"/>
            <a:ext cx="121539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VQA head</a:t>
            </a:r>
          </a:p>
        </p:txBody>
      </p:sp>
      <p:sp>
        <p:nvSpPr>
          <p:cNvPr id="14" name="圆角矩形 13"/>
          <p:cNvSpPr/>
          <p:nvPr/>
        </p:nvSpPr>
        <p:spPr>
          <a:xfrm>
            <a:off x="5414010" y="2390140"/>
            <a:ext cx="1439545" cy="822325"/>
          </a:xfrm>
          <a:prstGeom prst="roundRect">
            <a:avLst/>
          </a:prstGeom>
          <a:noFill/>
          <a:ln>
            <a:solidFill>
              <a:srgbClr val="E3CCE5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4F81BD"/>
                  </a:fgClr>
                  <a:bgClr>
                    <a:srgbClr val="FFFFFF"/>
                  </a:bgClr>
                </a:patt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557520" y="2636520"/>
            <a:ext cx="114363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ITM head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7171055" y="2390140"/>
            <a:ext cx="1439545" cy="822325"/>
          </a:xfrm>
          <a:prstGeom prst="roundRect">
            <a:avLst/>
          </a:prstGeom>
          <a:noFill/>
          <a:ln>
            <a:solidFill>
              <a:srgbClr val="F7CAAB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4F81BD"/>
                  </a:fgClr>
                  <a:bgClr>
                    <a:srgbClr val="FFFFFF"/>
                  </a:bgClr>
                </a:patt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392035" y="2636520"/>
            <a:ext cx="106680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VG head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839470" y="1651635"/>
            <a:ext cx="62889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主要问题：重要的解决过程没有体现！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7823835" y="3497580"/>
            <a:ext cx="309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sz="2000">
              <a:solidFill>
                <a:schemeClr val="accent1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7171055" y="3546475"/>
            <a:ext cx="4246880" cy="706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网络到底怎么区分三种任务？</a:t>
            </a:r>
            <a:endParaRPr lang="zh-CN" altLang="en-US" sz="2000" dirty="0">
              <a:solidFill>
                <a:schemeClr val="accent1">
                  <a:lumMod val="7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2000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文字和图片信息分别是怎么处理的？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示例一：</a:t>
            </a:r>
            <a:r>
              <a:rPr lang="en-US" altLang="zh-CN" dirty="0"/>
              <a:t>MMnasNet v3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16</a:t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2626360" y="981710"/>
            <a:ext cx="69392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增加模型的内部结构，明确解决问题的方式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775" y="3243580"/>
            <a:ext cx="3676015" cy="19431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1870" y="4438015"/>
            <a:ext cx="5247005" cy="188849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3647440" y="2390775"/>
            <a:ext cx="1439545" cy="822325"/>
          </a:xfrm>
          <a:prstGeom prst="roundRect">
            <a:avLst/>
          </a:prstGeom>
          <a:noFill/>
          <a:ln>
            <a:solidFill>
              <a:srgbClr val="FDE498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4F81BD"/>
                  </a:fgClr>
                  <a:bgClr>
                    <a:srgbClr val="FFFFFF"/>
                  </a:bgClr>
                </a:patt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791585" y="2637155"/>
            <a:ext cx="121539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VQA head</a:t>
            </a:r>
          </a:p>
        </p:txBody>
      </p:sp>
      <p:sp>
        <p:nvSpPr>
          <p:cNvPr id="14" name="圆角矩形 13"/>
          <p:cNvSpPr/>
          <p:nvPr/>
        </p:nvSpPr>
        <p:spPr>
          <a:xfrm>
            <a:off x="5414010" y="2390775"/>
            <a:ext cx="1439545" cy="822325"/>
          </a:xfrm>
          <a:prstGeom prst="roundRect">
            <a:avLst/>
          </a:prstGeom>
          <a:noFill/>
          <a:ln>
            <a:solidFill>
              <a:srgbClr val="E3CCE5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4F81BD"/>
                  </a:fgClr>
                  <a:bgClr>
                    <a:srgbClr val="FFFFFF"/>
                  </a:bgClr>
                </a:patt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557520" y="2637155"/>
            <a:ext cx="114363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ITM head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7171055" y="2390775"/>
            <a:ext cx="1439545" cy="822325"/>
          </a:xfrm>
          <a:prstGeom prst="roundRect">
            <a:avLst/>
          </a:prstGeom>
          <a:noFill/>
          <a:ln>
            <a:solidFill>
              <a:srgbClr val="F7CAAB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4F81BD"/>
                  </a:fgClr>
                  <a:bgClr>
                    <a:srgbClr val="FFFFFF"/>
                  </a:bgClr>
                </a:patt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392035" y="2637155"/>
            <a:ext cx="106680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VG head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839470" y="1652270"/>
            <a:ext cx="7904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主要问题：没有体现出论文</a:t>
            </a:r>
            <a:r>
              <a:rPr lang="en-US" altLang="zh-CN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Story</a:t>
            </a:r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中的“搜索”！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870" y="3440430"/>
            <a:ext cx="5213350" cy="1009650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8688070" y="2602230"/>
            <a:ext cx="3230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三种任务的各自搜索过程？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示例一：</a:t>
            </a:r>
            <a:r>
              <a:rPr lang="en-US" altLang="zh-CN" dirty="0"/>
              <a:t>MMnasNet v4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17</a:t>
            </a:fld>
            <a:endParaRPr lang="zh-CN" altLang="en-US" dirty="0"/>
          </a:p>
        </p:txBody>
      </p:sp>
      <p:grpSp>
        <p:nvGrpSpPr>
          <p:cNvPr id="22" name="组合 21"/>
          <p:cNvGrpSpPr/>
          <p:nvPr/>
        </p:nvGrpSpPr>
        <p:grpSpPr>
          <a:xfrm>
            <a:off x="119380" y="947420"/>
            <a:ext cx="11244580" cy="5258435"/>
            <a:chOff x="188" y="1492"/>
            <a:chExt cx="17708" cy="8281"/>
          </a:xfrm>
        </p:grpSpPr>
        <p:sp>
          <p:nvSpPr>
            <p:cNvPr id="6" name="文本框 5"/>
            <p:cNvSpPr txBox="1"/>
            <p:nvPr/>
          </p:nvSpPr>
          <p:spPr>
            <a:xfrm>
              <a:off x="8239" y="1492"/>
              <a:ext cx="3088" cy="8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>
                  <a:solidFill>
                    <a:schemeClr val="accent1">
                      <a:lumMod val="50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最终版本！</a:t>
              </a: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19" y="2905"/>
              <a:ext cx="8519" cy="6868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8" y="3923"/>
              <a:ext cx="8219" cy="4839"/>
            </a:xfrm>
            <a:prstGeom prst="rect">
              <a:avLst/>
            </a:prstGeom>
          </p:spPr>
        </p:pic>
        <p:sp>
          <p:nvSpPr>
            <p:cNvPr id="20" name="文本框 19"/>
            <p:cNvSpPr txBox="1"/>
            <p:nvPr/>
          </p:nvSpPr>
          <p:spPr>
            <a:xfrm>
              <a:off x="2115" y="2905"/>
              <a:ext cx="4128" cy="7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与正文内容对应！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208" y="2452"/>
              <a:ext cx="5688" cy="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模拟搜索过程，体现本文研究内容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学术论文绘图</a:t>
            </a:r>
            <a:r>
              <a:rPr lang="en-US" altLang="zh-CN" dirty="0"/>
              <a:t>Tips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18</a:t>
            </a:fld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65000"/>
              </a:lnSpc>
            </a:pPr>
            <a:r>
              <a:rPr lang="zh-CN" altLang="en-US" dirty="0"/>
              <a:t>画动机图与模型图需要注意什么？</a:t>
            </a:r>
          </a:p>
          <a:p>
            <a:pPr lvl="1">
              <a:lnSpc>
                <a:spcPct val="165000"/>
              </a:lnSpc>
            </a:pPr>
            <a:r>
              <a:rPr lang="zh-CN" altLang="en-US" b="1" dirty="0">
                <a:solidFill>
                  <a:schemeClr val="accent1">
                    <a:lumMod val="50000"/>
                  </a:schemeClr>
                </a:solidFill>
              </a:rPr>
              <a:t>培养审美</a:t>
            </a: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</a:rPr>
              <a:t>：设计感（如</a:t>
            </a:r>
            <a:r>
              <a:rPr lang="en-US" altLang="zh-CN" dirty="0">
                <a:solidFill>
                  <a:schemeClr val="accent1">
                    <a:lumMod val="50000"/>
                  </a:schemeClr>
                </a:solidFill>
              </a:rPr>
              <a:t>Apple</a:t>
            </a: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</a:rPr>
              <a:t>设计：圆角，半透明，现代图标），使用合理的配色方案。</a:t>
            </a:r>
            <a:endParaRPr lang="en-US" altLang="zh-CN" dirty="0">
              <a:solidFill>
                <a:schemeClr val="accent1">
                  <a:lumMod val="50000"/>
                </a:schemeClr>
              </a:solidFill>
            </a:endParaRPr>
          </a:p>
          <a:p>
            <a:pPr lvl="1">
              <a:lnSpc>
                <a:spcPct val="165000"/>
              </a:lnSpc>
            </a:pPr>
            <a:r>
              <a:rPr lang="zh-CN" altLang="en-US" b="1" dirty="0">
                <a:solidFill>
                  <a:schemeClr val="accent1">
                    <a:lumMod val="50000"/>
                  </a:schemeClr>
                </a:solidFill>
              </a:rPr>
              <a:t>表达选择：</a:t>
            </a: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</a:rPr>
              <a:t>清晰展示论文贡献、流程细节就重避轻</a:t>
            </a:r>
            <a:endParaRPr lang="en-US" altLang="zh-CN" dirty="0">
              <a:solidFill>
                <a:schemeClr val="accent1">
                  <a:lumMod val="50000"/>
                </a:schemeClr>
              </a:solidFill>
            </a:endParaRPr>
          </a:p>
          <a:p>
            <a:pPr lvl="1">
              <a:lnSpc>
                <a:spcPct val="165000"/>
              </a:lnSpc>
            </a:pPr>
            <a:r>
              <a:rPr lang="zh-CN" altLang="en-US" b="1" dirty="0">
                <a:solidFill>
                  <a:schemeClr val="accent1">
                    <a:lumMod val="50000"/>
                  </a:schemeClr>
                </a:solidFill>
              </a:rPr>
              <a:t>模块化绘图</a:t>
            </a: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</a:rPr>
              <a:t>：每个模块独立框起来</a:t>
            </a:r>
          </a:p>
          <a:p>
            <a:pPr lvl="2">
              <a:lnSpc>
                <a:spcPct val="165000"/>
              </a:lnSpc>
            </a:pPr>
            <a:r>
              <a:rPr lang="zh-CN" altLang="en-US" b="1" dirty="0">
                <a:solidFill>
                  <a:schemeClr val="accent1">
                    <a:lumMod val="50000"/>
                  </a:schemeClr>
                </a:solidFill>
              </a:rPr>
              <a:t>给模块命名</a:t>
            </a: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</a:rPr>
              <a:t>：若一个模块中多个子结构，需要给该模块命名，使读者一眼明确该模块的作用。不同的模块不同的颜色，体现差异。</a:t>
            </a:r>
          </a:p>
          <a:p>
            <a:pPr marL="457200" lvl="1" indent="0">
              <a:lnSpc>
                <a:spcPct val="165000"/>
              </a:lnSpc>
              <a:buNone/>
            </a:pP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</a:rPr>
              <a:t>如何做到？</a:t>
            </a:r>
            <a:r>
              <a:rPr lang="zh-CN" altLang="en-US" b="1" dirty="0">
                <a:solidFill>
                  <a:schemeClr val="accent1">
                    <a:lumMod val="50000"/>
                  </a:schemeClr>
                </a:solidFill>
              </a:rPr>
              <a:t>多看别人的论文图培养感觉，收集和模仿好的图！</a:t>
            </a:r>
            <a:endParaRPr lang="en-US" altLang="zh-CN" b="1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3">
            <a:extLst>
              <a:ext uri="{FF2B5EF4-FFF2-40B4-BE49-F238E27FC236}">
                <a16:creationId xmlns:a16="http://schemas.microsoft.com/office/drawing/2014/main" id="{96438BBE-5176-F918-592E-3F8768B0F11B}"/>
              </a:ext>
            </a:extLst>
          </p:cNvPr>
          <p:cNvSpPr txBox="1">
            <a:spLocks/>
          </p:cNvSpPr>
          <p:nvPr/>
        </p:nvSpPr>
        <p:spPr>
          <a:xfrm>
            <a:off x="544488" y="777534"/>
            <a:ext cx="11103024" cy="5328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125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 kern="1200" baseline="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–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»"/>
              <a:defRPr sz="2000" kern="1200" baseline="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65000"/>
              </a:lnSpc>
            </a:pPr>
            <a:r>
              <a:rPr lang="zh-CN" altLang="en-US" dirty="0"/>
              <a:t>提升绘图的设计感主要依靠：</a:t>
            </a:r>
          </a:p>
          <a:p>
            <a:pPr lvl="1"/>
            <a:r>
              <a:rPr kumimoji="1" lang="zh-CN" altLang="en-US" dirty="0">
                <a:solidFill>
                  <a:srgbClr val="002060"/>
                </a:solidFill>
              </a:rPr>
              <a:t>多看别人的论文，</a:t>
            </a:r>
            <a:r>
              <a:rPr kumimoji="1" lang="zh-CN" altLang="en-US" b="1" dirty="0">
                <a:solidFill>
                  <a:srgbClr val="002060"/>
                </a:solidFill>
              </a:rPr>
              <a:t>提升自身审美</a:t>
            </a:r>
            <a:r>
              <a:rPr kumimoji="1" lang="zh-CN" altLang="en-US" dirty="0">
                <a:solidFill>
                  <a:srgbClr val="002060"/>
                </a:solidFill>
              </a:rPr>
              <a:t>！</a:t>
            </a:r>
            <a:endParaRPr kumimoji="1" lang="en-US" altLang="zh-CN" dirty="0">
              <a:solidFill>
                <a:srgbClr val="002060"/>
              </a:solidFill>
            </a:endParaRPr>
          </a:p>
          <a:p>
            <a:pPr lvl="1"/>
            <a:r>
              <a:rPr kumimoji="1" lang="zh-CN" altLang="en-US" dirty="0">
                <a:solidFill>
                  <a:srgbClr val="002060"/>
                </a:solidFill>
              </a:rPr>
              <a:t>画图的时候，打开多个相关论文的</a:t>
            </a:r>
            <a:r>
              <a:rPr kumimoji="1" lang="en-US" altLang="zh-CN" dirty="0">
                <a:solidFill>
                  <a:srgbClr val="002060"/>
                </a:solidFill>
              </a:rPr>
              <a:t>PDF</a:t>
            </a:r>
            <a:r>
              <a:rPr kumimoji="1" lang="zh-CN" altLang="en-US" dirty="0">
                <a:solidFill>
                  <a:srgbClr val="002060"/>
                </a:solidFill>
              </a:rPr>
              <a:t>，</a:t>
            </a:r>
            <a:r>
              <a:rPr kumimoji="1" lang="zh-CN" altLang="en-US" b="1" dirty="0">
                <a:solidFill>
                  <a:srgbClr val="002060"/>
                </a:solidFill>
              </a:rPr>
              <a:t>进行借鉴</a:t>
            </a:r>
            <a:r>
              <a:rPr kumimoji="1" lang="zh-CN" altLang="en-US" dirty="0">
                <a:solidFill>
                  <a:srgbClr val="002060"/>
                </a:solidFill>
              </a:rPr>
              <a:t>。</a:t>
            </a:r>
            <a:endParaRPr kumimoji="1" lang="en-US" altLang="zh-CN" dirty="0">
              <a:solidFill>
                <a:srgbClr val="002060"/>
              </a:solidFill>
            </a:endParaRPr>
          </a:p>
          <a:p>
            <a:r>
              <a:rPr kumimoji="1" lang="zh-CN" altLang="en-US" dirty="0"/>
              <a:t>寻找好看的图标、插图：</a:t>
            </a:r>
            <a:endParaRPr kumimoji="1" lang="en-US" altLang="zh-CN" dirty="0"/>
          </a:p>
          <a:p>
            <a:pPr lvl="1"/>
            <a:r>
              <a:rPr kumimoji="1" lang="zh-CN" altLang="en-US" b="1" dirty="0">
                <a:solidFill>
                  <a:srgbClr val="002060"/>
                </a:solidFill>
              </a:rPr>
              <a:t>图标库：</a:t>
            </a:r>
            <a:r>
              <a:rPr kumimoji="1" lang="en-US" altLang="zh-CN" dirty="0">
                <a:solidFill>
                  <a:srgbClr val="002060"/>
                </a:solidFill>
              </a:rPr>
              <a:t>Office</a:t>
            </a:r>
            <a:r>
              <a:rPr kumimoji="1" lang="zh-CN" altLang="en-US" dirty="0">
                <a:solidFill>
                  <a:srgbClr val="002060"/>
                </a:solidFill>
              </a:rPr>
              <a:t>、</a:t>
            </a:r>
            <a:r>
              <a:rPr kumimoji="1" lang="en-US" altLang="zh-CN" dirty="0">
                <a:solidFill>
                  <a:srgbClr val="002060"/>
                </a:solidFill>
              </a:rPr>
              <a:t>WPS</a:t>
            </a:r>
            <a:r>
              <a:rPr kumimoji="1" lang="zh-CN" altLang="en-US" dirty="0">
                <a:solidFill>
                  <a:srgbClr val="002060"/>
                </a:solidFill>
              </a:rPr>
              <a:t>里的</a:t>
            </a:r>
            <a:r>
              <a:rPr kumimoji="1" lang="en-US" altLang="zh-CN" dirty="0">
                <a:solidFill>
                  <a:srgbClr val="002060"/>
                </a:solidFill>
              </a:rPr>
              <a:t>PPT</a:t>
            </a:r>
            <a:r>
              <a:rPr kumimoji="1" lang="zh-CN" altLang="en-US" dirty="0">
                <a:solidFill>
                  <a:srgbClr val="002060"/>
                </a:solidFill>
              </a:rPr>
              <a:t>图标库，阿里的图标库</a:t>
            </a:r>
            <a:endParaRPr kumimoji="1" lang="en-US" altLang="zh-CN" dirty="0">
              <a:solidFill>
                <a:srgbClr val="002060"/>
              </a:solidFill>
            </a:endParaRPr>
          </a:p>
          <a:p>
            <a:pPr lvl="1"/>
            <a:r>
              <a:rPr kumimoji="1" lang="zh-CN" altLang="en-US" b="1" dirty="0">
                <a:solidFill>
                  <a:srgbClr val="002060"/>
                </a:solidFill>
              </a:rPr>
              <a:t>使用</a:t>
            </a:r>
            <a:r>
              <a:rPr kumimoji="1" lang="en-US" altLang="zh-CN" b="1" dirty="0">
                <a:solidFill>
                  <a:srgbClr val="002060"/>
                </a:solidFill>
              </a:rPr>
              <a:t>AI</a:t>
            </a:r>
            <a:r>
              <a:rPr kumimoji="1" lang="zh-CN" altLang="en-US" b="1" dirty="0">
                <a:solidFill>
                  <a:srgbClr val="002060"/>
                </a:solidFill>
              </a:rPr>
              <a:t>绘图软件画图标：</a:t>
            </a:r>
            <a:r>
              <a:rPr kumimoji="1" lang="en-US" altLang="zh-CN" dirty="0">
                <a:solidFill>
                  <a:srgbClr val="002060"/>
                </a:solidFill>
              </a:rPr>
              <a:t>ChatGPT</a:t>
            </a:r>
            <a:r>
              <a:rPr kumimoji="1" lang="zh-CN" altLang="en-US" dirty="0">
                <a:solidFill>
                  <a:srgbClr val="002060"/>
                </a:solidFill>
              </a:rPr>
              <a:t>、</a:t>
            </a:r>
            <a:r>
              <a:rPr kumimoji="1" lang="en-US" altLang="zh-CN" dirty="0">
                <a:solidFill>
                  <a:srgbClr val="002060"/>
                </a:solidFill>
              </a:rPr>
              <a:t>Gemini</a:t>
            </a:r>
            <a:r>
              <a:rPr kumimoji="1" lang="zh-CN" altLang="en-US" dirty="0">
                <a:solidFill>
                  <a:srgbClr val="002060"/>
                </a:solidFill>
              </a:rPr>
              <a:t>、豆包的画图，即梦</a:t>
            </a:r>
            <a:r>
              <a:rPr kumimoji="1" lang="en-US" altLang="zh-CN" dirty="0">
                <a:solidFill>
                  <a:srgbClr val="002060"/>
                </a:solidFill>
              </a:rPr>
              <a:t>AI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79B989-079E-AA3A-E3D9-8F391D88F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学术论文绘图</a:t>
            </a:r>
            <a:r>
              <a:rPr kumimoji="1" lang="en-US" altLang="zh-CN" dirty="0"/>
              <a:t>Tips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C97001-C6C2-8005-2A1E-51ABC1084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19</a:t>
            </a:fld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41133E2-B662-A790-2897-FB3F2EF5F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088" y="4520523"/>
            <a:ext cx="7772400" cy="233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01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学术论文绘图审美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20</a:t>
            </a:fld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单色配色、表达直观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1415415" y="2277110"/>
            <a:ext cx="9895205" cy="3075940"/>
            <a:chOff x="2229" y="3586"/>
            <a:chExt cx="15583" cy="4844"/>
          </a:xfrm>
        </p:grpSpPr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32" y="3586"/>
              <a:ext cx="10481" cy="4844"/>
            </a:xfrm>
            <a:prstGeom prst="rect">
              <a:avLst/>
            </a:prstGeom>
          </p:spPr>
        </p:pic>
        <p:sp>
          <p:nvSpPr>
            <p:cNvPr id="7" name="圆角矩形 6"/>
            <p:cNvSpPr/>
            <p:nvPr/>
          </p:nvSpPr>
          <p:spPr>
            <a:xfrm>
              <a:off x="2229" y="5400"/>
              <a:ext cx="681" cy="1361"/>
            </a:xfrm>
            <a:prstGeom prst="roundRect">
              <a:avLst/>
            </a:prstGeom>
            <a:solidFill>
              <a:srgbClr val="FFF0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3250" y="5400"/>
              <a:ext cx="681" cy="1361"/>
            </a:xfrm>
            <a:prstGeom prst="roundRect">
              <a:avLst/>
            </a:prstGeom>
            <a:solidFill>
              <a:srgbClr val="F7C3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4271" y="5400"/>
              <a:ext cx="681" cy="1361"/>
            </a:xfrm>
            <a:prstGeom prst="roundRect">
              <a:avLst/>
            </a:prstGeom>
            <a:solidFill>
              <a:srgbClr val="FFB92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5291" y="5400"/>
              <a:ext cx="681" cy="1361"/>
            </a:xfrm>
            <a:prstGeom prst="roundRect">
              <a:avLst/>
            </a:prstGeom>
            <a:solidFill>
              <a:srgbClr val="F282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学术论文绘图审美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21</a:t>
            </a:fld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邻近色配色、流程清晰</a:t>
            </a:r>
          </a:p>
        </p:txBody>
      </p:sp>
      <p:grpSp>
        <p:nvGrpSpPr>
          <p:cNvPr id="18" name="组合 17"/>
          <p:cNvGrpSpPr/>
          <p:nvPr/>
        </p:nvGrpSpPr>
        <p:grpSpPr>
          <a:xfrm>
            <a:off x="407035" y="1341120"/>
            <a:ext cx="10901680" cy="4319905"/>
            <a:chOff x="641" y="2112"/>
            <a:chExt cx="17168" cy="6803"/>
          </a:xfrm>
        </p:grpSpPr>
        <p:sp>
          <p:nvSpPr>
            <p:cNvPr id="7" name="圆角矩形 6"/>
            <p:cNvSpPr/>
            <p:nvPr/>
          </p:nvSpPr>
          <p:spPr>
            <a:xfrm>
              <a:off x="14475" y="7555"/>
              <a:ext cx="681" cy="1361"/>
            </a:xfrm>
            <a:prstGeom prst="roundRect">
              <a:avLst/>
            </a:prstGeom>
            <a:solidFill>
              <a:srgbClr val="7EAB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15496" y="7555"/>
              <a:ext cx="681" cy="1361"/>
            </a:xfrm>
            <a:prstGeom prst="roundRect">
              <a:avLst/>
            </a:prstGeom>
            <a:solidFill>
              <a:srgbClr val="6A99D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16517" y="7555"/>
              <a:ext cx="681" cy="1361"/>
            </a:xfrm>
            <a:prstGeom prst="roundRect">
              <a:avLst/>
            </a:prstGeom>
            <a:solidFill>
              <a:srgbClr val="68349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1" y="3246"/>
              <a:ext cx="13791" cy="5097"/>
            </a:xfrm>
            <a:prstGeom prst="rect">
              <a:avLst/>
            </a:prstGeom>
          </p:spPr>
        </p:pic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589" y="2112"/>
              <a:ext cx="3220" cy="32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学术论文绘图审美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22</a:t>
            </a:fld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互补色配色、模块化（对应章节）、设计感（圆角，透明）</a:t>
            </a:r>
          </a:p>
        </p:txBody>
      </p:sp>
      <p:grpSp>
        <p:nvGrpSpPr>
          <p:cNvPr id="22" name="组合 21"/>
          <p:cNvGrpSpPr/>
          <p:nvPr/>
        </p:nvGrpSpPr>
        <p:grpSpPr>
          <a:xfrm>
            <a:off x="262255" y="1338580"/>
            <a:ext cx="11861800" cy="5407660"/>
            <a:chOff x="413" y="2108"/>
            <a:chExt cx="18680" cy="8516"/>
          </a:xfrm>
        </p:grpSpPr>
        <p:sp>
          <p:nvSpPr>
            <p:cNvPr id="7" name="圆角矩形 6"/>
            <p:cNvSpPr/>
            <p:nvPr/>
          </p:nvSpPr>
          <p:spPr>
            <a:xfrm>
              <a:off x="16744" y="7328"/>
              <a:ext cx="681" cy="1361"/>
            </a:xfrm>
            <a:prstGeom prst="roundRect">
              <a:avLst/>
            </a:prstGeom>
            <a:solidFill>
              <a:srgbClr val="7EAB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17765" y="7328"/>
              <a:ext cx="681" cy="1361"/>
            </a:xfrm>
            <a:prstGeom prst="roundRect">
              <a:avLst/>
            </a:prstGeom>
            <a:solidFill>
              <a:srgbClr val="6A99D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15723" y="7328"/>
              <a:ext cx="681" cy="1361"/>
            </a:xfrm>
            <a:prstGeom prst="roundRect">
              <a:avLst/>
            </a:prstGeom>
            <a:solidFill>
              <a:srgbClr val="B0251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873" y="2108"/>
              <a:ext cx="3220" cy="3260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8" y="6386"/>
              <a:ext cx="13639" cy="4238"/>
            </a:xfrm>
            <a:prstGeom prst="rect">
              <a:avLst/>
            </a:prstGeom>
          </p:spPr>
        </p:pic>
        <p:sp>
          <p:nvSpPr>
            <p:cNvPr id="10" name="圆角矩形 9"/>
            <p:cNvSpPr/>
            <p:nvPr/>
          </p:nvSpPr>
          <p:spPr>
            <a:xfrm>
              <a:off x="14702" y="7328"/>
              <a:ext cx="681" cy="1361"/>
            </a:xfrm>
            <a:prstGeom prst="roundRect">
              <a:avLst/>
            </a:prstGeom>
            <a:solidFill>
              <a:srgbClr val="B760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7" name="图片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43" y="2338"/>
              <a:ext cx="11954" cy="4257"/>
            </a:xfrm>
            <a:prstGeom prst="rect">
              <a:avLst/>
            </a:prstGeom>
          </p:spPr>
        </p:pic>
        <p:sp>
          <p:nvSpPr>
            <p:cNvPr id="18" name="圆角矩形 17"/>
            <p:cNvSpPr/>
            <p:nvPr/>
          </p:nvSpPr>
          <p:spPr>
            <a:xfrm>
              <a:off x="2455" y="3786"/>
              <a:ext cx="681" cy="1361"/>
            </a:xfrm>
            <a:prstGeom prst="roundRect">
              <a:avLst/>
            </a:prstGeom>
            <a:solidFill>
              <a:srgbClr val="22889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圆角矩形 18"/>
            <p:cNvSpPr/>
            <p:nvPr/>
          </p:nvSpPr>
          <p:spPr>
            <a:xfrm>
              <a:off x="3476" y="3786"/>
              <a:ext cx="681" cy="1361"/>
            </a:xfrm>
            <a:prstGeom prst="roundRect">
              <a:avLst/>
            </a:prstGeom>
            <a:solidFill>
              <a:srgbClr val="2169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0" name="圆角矩形 19"/>
            <p:cNvSpPr/>
            <p:nvPr/>
          </p:nvSpPr>
          <p:spPr>
            <a:xfrm>
              <a:off x="1434" y="3786"/>
              <a:ext cx="681" cy="1361"/>
            </a:xfrm>
            <a:prstGeom prst="roundRect">
              <a:avLst/>
            </a:prstGeom>
            <a:solidFill>
              <a:srgbClr val="F072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413" y="3786"/>
              <a:ext cx="681" cy="1361"/>
            </a:xfrm>
            <a:prstGeom prst="roundRect">
              <a:avLst/>
            </a:prstGeom>
            <a:solidFill>
              <a:srgbClr val="E0A0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dirty="0"/>
              <a:t> 从论文图示与论文写作的关系说起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23</a:t>
            </a:fld>
            <a:endParaRPr lang="zh-CN" altLang="en-US" dirty="0"/>
          </a:p>
        </p:txBody>
      </p:sp>
      <p:grpSp>
        <p:nvGrpSpPr>
          <p:cNvPr id="31" name="组合 30"/>
          <p:cNvGrpSpPr/>
          <p:nvPr/>
        </p:nvGrpSpPr>
        <p:grpSpPr>
          <a:xfrm>
            <a:off x="360045" y="1052830"/>
            <a:ext cx="11679555" cy="5472430"/>
            <a:chOff x="567" y="1658"/>
            <a:chExt cx="18393" cy="8618"/>
          </a:xfrm>
        </p:grpSpPr>
        <p:grpSp>
          <p:nvGrpSpPr>
            <p:cNvPr id="17" name="组合 16"/>
            <p:cNvGrpSpPr/>
            <p:nvPr/>
          </p:nvGrpSpPr>
          <p:grpSpPr>
            <a:xfrm>
              <a:off x="567" y="1658"/>
              <a:ext cx="16857" cy="8618"/>
              <a:chOff x="1361" y="1658"/>
              <a:chExt cx="16857" cy="8618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1361" y="1658"/>
                <a:ext cx="14113" cy="8618"/>
                <a:chOff x="1475" y="1998"/>
                <a:chExt cx="14113" cy="8618"/>
              </a:xfrm>
            </p:grpSpPr>
            <p:cxnSp>
              <p:nvCxnSpPr>
                <p:cNvPr id="13" name="直接连接符 12"/>
                <p:cNvCxnSpPr/>
                <p:nvPr/>
              </p:nvCxnSpPr>
              <p:spPr>
                <a:xfrm>
                  <a:off x="10508" y="1998"/>
                  <a:ext cx="0" cy="8618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" name="文本框 13"/>
                <p:cNvSpPr txBox="1"/>
                <p:nvPr/>
              </p:nvSpPr>
              <p:spPr>
                <a:xfrm>
                  <a:off x="4724" y="1999"/>
                  <a:ext cx="1888" cy="6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200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黑体" panose="02010609060101010101" pitchFamily="49" charset="-122"/>
                      <a:cs typeface="Times New Roman" panose="02020603050405020304" pitchFamily="18" charset="0"/>
                    </a:rPr>
                    <a:t>论文引言</a:t>
                  </a:r>
                </a:p>
              </p:txBody>
            </p:sp>
            <p:sp>
              <p:nvSpPr>
                <p:cNvPr id="15" name="文本框 14"/>
                <p:cNvSpPr txBox="1"/>
                <p:nvPr/>
              </p:nvSpPr>
              <p:spPr>
                <a:xfrm>
                  <a:off x="13682" y="1998"/>
                  <a:ext cx="1906" cy="6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2000" dirty="0">
                      <a:solidFill>
                        <a:srgbClr val="C00000"/>
                      </a:solidFill>
                      <a:latin typeface="Times New Roman" panose="02020603050405020304" pitchFamily="18" charset="0"/>
                      <a:ea typeface="黑体" panose="02010609060101010101" pitchFamily="49" charset="-122"/>
                      <a:cs typeface="Times New Roman" panose="02020603050405020304" pitchFamily="18" charset="0"/>
                    </a:rPr>
                    <a:t>论文方法</a:t>
                  </a:r>
                </a:p>
              </p:txBody>
            </p:sp>
            <p:sp>
              <p:nvSpPr>
                <p:cNvPr id="16" name="文本框 15"/>
                <p:cNvSpPr txBox="1"/>
                <p:nvPr/>
              </p:nvSpPr>
              <p:spPr>
                <a:xfrm>
                  <a:off x="1475" y="2452"/>
                  <a:ext cx="8720" cy="305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>
                    <a:lnSpc>
                      <a:spcPct val="200000"/>
                    </a:lnSpc>
                  </a:pPr>
                  <a:r>
                    <a:rPr lang="zh-CN" altLang="en-US" sz="2000">
                      <a:solidFill>
                        <a:srgbClr val="00B050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科学问题</a:t>
                  </a:r>
                  <a:r>
                    <a:rPr lang="en-US" altLang="zh-CN" sz="200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   </a:t>
                  </a:r>
                  <a:r>
                    <a:rPr lang="zh-CN" altLang="en-US" sz="200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是否探索本质?为何重要?</a:t>
                  </a:r>
                </a:p>
                <a:p>
                  <a:pPr algn="l">
                    <a:lnSpc>
                      <a:spcPct val="200000"/>
                    </a:lnSpc>
                  </a:pPr>
                  <a:r>
                    <a:rPr lang="zh-CN" altLang="en-US" sz="2000">
                      <a:solidFill>
                        <a:srgbClr val="00B050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写作逻辑</a:t>
                  </a:r>
                  <a:r>
                    <a:rPr lang="en-US" altLang="zh-CN" sz="200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   </a:t>
                  </a:r>
                  <a:r>
                    <a:rPr lang="zh-CN" altLang="en-US" sz="200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背景-现状-问题-方法如何环环相扣?</a:t>
                  </a:r>
                </a:p>
                <a:p>
                  <a:pPr algn="l">
                    <a:lnSpc>
                      <a:spcPct val="200000"/>
                    </a:lnSpc>
                  </a:pPr>
                  <a:r>
                    <a:rPr lang="zh-CN" altLang="en-US" sz="2000">
                      <a:solidFill>
                        <a:srgbClr val="00B050"/>
                      </a:solidFill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表达方式</a:t>
                  </a:r>
                  <a:r>
                    <a:rPr lang="en-US" altLang="zh-CN" sz="2000">
                      <a:latin typeface="黑体" panose="02010609060101010101" pitchFamily="49" charset="-122"/>
                      <a:ea typeface="黑体" panose="02010609060101010101" pitchFamily="49" charset="-122"/>
                      <a:cs typeface="黑体" panose="02010609060101010101" pitchFamily="49" charset="-122"/>
                    </a:rPr>
                    <a:t>   如何抓住重点?如何深入浅出?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11641" y="2792"/>
                  <a:ext cx="488" cy="6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zh-CN" altLang="en-US" sz="2000">
                    <a:latin typeface="黑体" panose="02010609060101010101" pitchFamily="49" charset="-122"/>
                    <a:ea typeface="黑体" panose="02010609060101010101" pitchFamily="49" charset="-122"/>
                    <a:cs typeface="黑体" panose="02010609060101010101" pitchFamily="49" charset="-122"/>
                  </a:endParaRPr>
                </a:p>
              </p:txBody>
            </p:sp>
          </p:grpSp>
          <p:sp>
            <p:nvSpPr>
              <p:cNvPr id="22" name="矩形 21"/>
              <p:cNvSpPr/>
              <p:nvPr/>
            </p:nvSpPr>
            <p:spPr>
              <a:xfrm>
                <a:off x="16064" y="9596"/>
                <a:ext cx="2154" cy="56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4" name="文本框 23"/>
            <p:cNvSpPr txBox="1"/>
            <p:nvPr/>
          </p:nvSpPr>
          <p:spPr>
            <a:xfrm>
              <a:off x="9827" y="2112"/>
              <a:ext cx="8512" cy="30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200000"/>
                </a:lnSpc>
              </a:pPr>
              <a:r>
                <a:rPr lang="zh-CN" altLang="en-US" sz="2000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解决方法</a:t>
              </a:r>
              <a:r>
                <a: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   </a:t>
              </a:r>
              <a:r>
                <a:rPr lang="zh-CN" altLang="en-US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是否专注核心挑战?如何解决?</a:t>
              </a:r>
            </a:p>
            <a:p>
              <a:pPr algn="l">
                <a:lnSpc>
                  <a:spcPct val="200000"/>
                </a:lnSpc>
              </a:pPr>
              <a:r>
                <a:rPr lang="zh-CN" altLang="en-US" sz="2000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写作逻辑</a:t>
              </a:r>
              <a:r>
                <a: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   </a:t>
              </a:r>
              <a:r>
                <a:rPr lang="zh-CN" altLang="en-US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方法如何分解?各自解决哪些问题?</a:t>
              </a:r>
            </a:p>
            <a:p>
              <a:pPr algn="l">
                <a:lnSpc>
                  <a:spcPct val="200000"/>
                </a:lnSpc>
              </a:pPr>
              <a:r>
                <a:rPr lang="zh-CN" altLang="en-US" sz="2000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表达方式</a:t>
              </a:r>
              <a:r>
                <a: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   </a:t>
              </a:r>
              <a:r>
                <a:rPr lang="en-US" altLang="zh-CN" sz="2000" dirty="0" err="1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如何准确清晰?如何减少返工</a:t>
              </a:r>
              <a:r>
                <a:rPr lang="en-US" altLang="zh-CN" sz="2000" dirty="0"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?</a:t>
              </a:r>
            </a:p>
          </p:txBody>
        </p:sp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5" y="5164"/>
              <a:ext cx="6318" cy="5061"/>
            </a:xfrm>
            <a:prstGeom prst="rect">
              <a:avLst/>
            </a:prstGeom>
          </p:spPr>
        </p:pic>
        <p:pic>
          <p:nvPicPr>
            <p:cNvPr id="28" name="图片 2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27" y="5514"/>
              <a:ext cx="9133" cy="3753"/>
            </a:xfrm>
            <a:prstGeom prst="rect">
              <a:avLst/>
            </a:prstGeom>
          </p:spPr>
        </p:pic>
        <p:sp>
          <p:nvSpPr>
            <p:cNvPr id="29" name="文本框 28"/>
            <p:cNvSpPr txBox="1"/>
            <p:nvPr/>
          </p:nvSpPr>
          <p:spPr>
            <a:xfrm rot="20640000">
              <a:off x="6632" y="9542"/>
              <a:ext cx="2693" cy="7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>
                  <a:solidFill>
                    <a:srgbClr val="00B05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研究动机图</a:t>
              </a:r>
            </a:p>
          </p:txBody>
        </p:sp>
        <p:sp>
          <p:nvSpPr>
            <p:cNvPr id="30" name="文本框 29"/>
            <p:cNvSpPr txBox="1"/>
            <p:nvPr/>
          </p:nvSpPr>
          <p:spPr>
            <a:xfrm rot="20640000">
              <a:off x="15848" y="9516"/>
              <a:ext cx="2765" cy="7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solidFill>
                    <a:srgbClr val="C0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方法流程图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7FE22D-387E-D7DC-916F-4454B9C58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论文方法流程图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7B756B-D3C0-5B5A-E543-D3F2CD505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方法流程图（或模型框架图）是读者快速读懂论文主要方法的途径。依靠这张图，读者</a:t>
            </a:r>
            <a:r>
              <a:rPr kumimoji="1" lang="zh-CN" altLang="en-US" b="1" dirty="0">
                <a:solidFill>
                  <a:srgbClr val="C00000"/>
                </a:solidFill>
              </a:rPr>
              <a:t>不止了解到主要流程，还了解到具体实现细节</a:t>
            </a:r>
            <a:r>
              <a:rPr kumimoji="1" lang="zh-CN" altLang="en-US" dirty="0"/>
              <a:t>。有效缓解了读方法部分文字的理解压力。</a:t>
            </a:r>
            <a:endParaRPr kumimoji="1" lang="en-US" altLang="zh-CN" dirty="0"/>
          </a:p>
          <a:p>
            <a:r>
              <a:rPr kumimoji="1" lang="zh-CN" altLang="en-US" dirty="0"/>
              <a:t>可以画什么内容？</a:t>
            </a:r>
            <a:endParaRPr kumimoji="1" lang="en-US" altLang="zh-CN" dirty="0"/>
          </a:p>
          <a:p>
            <a:r>
              <a:rPr kumimoji="1" lang="zh-CN" altLang="en-US" dirty="0"/>
              <a:t>依旧由论文的主要贡献点决定。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64D2DA-60F4-E967-AC85-45A4BA61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24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36122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BBAFC-E32E-22BC-17EA-0F4EB7C3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示例二：</a:t>
            </a:r>
            <a:r>
              <a:rPr kumimoji="1" lang="en-US" altLang="zh-CN" dirty="0"/>
              <a:t> DETR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1EB187-9038-271F-B1B5-02199486E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展示（模块化的）模型流程（包括输入与输出）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C2FA3F-B390-4A47-4CF7-260C4BA40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25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F48524C-F5FC-DEA0-6E06-E343CD51D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622960"/>
            <a:ext cx="10366934" cy="512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0691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BBAFC-E32E-22BC-17EA-0F4EB7C3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示例三：</a:t>
            </a:r>
            <a:r>
              <a:rPr kumimoji="1" lang="en-US" altLang="zh-CN" dirty="0" err="1"/>
              <a:t>CLIPort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1EB187-9038-271F-B1B5-02199486E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展示模型流程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C2FA3F-B390-4A47-4CF7-260C4BA40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26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10F4D50-01B0-FCC9-BAA2-A14F24C07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55" y="1529409"/>
            <a:ext cx="9509689" cy="53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664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BBAFC-E32E-22BC-17EA-0F4EB7C3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示例四：</a:t>
            </a:r>
            <a:r>
              <a:rPr kumimoji="1" lang="en-US" altLang="zh-CN" dirty="0"/>
              <a:t> SOLO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1EB187-9038-271F-B1B5-02199486E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展示模型中最重要、最与众不同的部分，讲解细节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C2FA3F-B390-4A47-4CF7-260C4BA40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27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1643E66-FFC9-51C1-2E92-8A18D4F5E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300" y="1818684"/>
            <a:ext cx="9007400" cy="503931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1A321DB-E887-834D-EA5B-1684C2666B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796" y="1654330"/>
            <a:ext cx="6802183" cy="5203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90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BBAFC-E32E-22BC-17EA-0F4EB7C3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示例五：</a:t>
            </a:r>
            <a:r>
              <a:rPr kumimoji="1" lang="en-US" altLang="zh-CN" dirty="0"/>
              <a:t>Voyager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1EB187-9038-271F-B1B5-02199486E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展示（模块化的）方法流程，可视化输入输出方便理解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C2FA3F-B390-4A47-4CF7-260C4BA40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28</a:t>
            </a:fld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FAAD39B-6A2E-0FF2-5DCA-155A3C01C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280" y="1529408"/>
            <a:ext cx="10385439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573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BBAFC-E32E-22BC-17EA-0F4EB7C3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示例六：</a:t>
            </a:r>
            <a:r>
              <a:rPr kumimoji="1" lang="en-US" altLang="zh-CN" dirty="0" err="1"/>
              <a:t>AvaTaR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1EB187-9038-271F-B1B5-02199486E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展示方法流程，用有设计感的线条与图标。突出展示创新点部分。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C2FA3F-B390-4A47-4CF7-260C4BA40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29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8E7D39E-9A8C-4833-4097-CCEAF50B73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904" y="1469540"/>
            <a:ext cx="10329968" cy="494116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EFFC724-BD2D-AF3C-B1B6-2CA5D2C118AA}"/>
              </a:ext>
            </a:extLst>
          </p:cNvPr>
          <p:cNvSpPr txBox="1"/>
          <p:nvPr/>
        </p:nvSpPr>
        <p:spPr>
          <a:xfrm>
            <a:off x="99955" y="6460796"/>
            <a:ext cx="81478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AvaTaR</a:t>
            </a:r>
            <a:r>
              <a:rPr lang="en-US" altLang="zh-CN" dirty="0"/>
              <a:t>: Optimizing LLM Agents for Tool Usage via Contrastive Reasoning</a:t>
            </a:r>
          </a:p>
        </p:txBody>
      </p:sp>
    </p:spTree>
    <p:extLst>
      <p:ext uri="{BB962C8B-B14F-4D97-AF65-F5344CB8AC3E}">
        <p14:creationId xmlns:p14="http://schemas.microsoft.com/office/powerpoint/2010/main" val="17528596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dirty="0"/>
              <a:t> 论文</a:t>
            </a:r>
            <a:r>
              <a:rPr lang="zh-CN" dirty="0"/>
              <a:t>模型框架</a:t>
            </a:r>
            <a:r>
              <a:rPr dirty="0"/>
              <a:t>图绘制思路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30</a:t>
            </a:fld>
            <a:endParaRPr lang="zh-CN" altLang="en-US" dirty="0"/>
          </a:p>
        </p:txBody>
      </p:sp>
      <p:grpSp>
        <p:nvGrpSpPr>
          <p:cNvPr id="8" name="组合 7"/>
          <p:cNvGrpSpPr/>
          <p:nvPr/>
        </p:nvGrpSpPr>
        <p:grpSpPr>
          <a:xfrm>
            <a:off x="1847215" y="1268730"/>
            <a:ext cx="8555355" cy="4554220"/>
            <a:chOff x="3136" y="2041"/>
            <a:chExt cx="13473" cy="7172"/>
          </a:xfrm>
        </p:grpSpPr>
        <p:sp>
          <p:nvSpPr>
            <p:cNvPr id="6" name="文本框 5"/>
            <p:cNvSpPr txBox="1"/>
            <p:nvPr/>
          </p:nvSpPr>
          <p:spPr>
            <a:xfrm>
              <a:off x="3136" y="4946"/>
              <a:ext cx="4768" cy="8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>
                  <a:solidFill>
                    <a:schemeClr val="accent1">
                      <a:lumMod val="50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让我们一起来复盘</a:t>
              </a:r>
            </a:p>
          </p:txBody>
        </p:sp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73" y="2041"/>
              <a:ext cx="7237" cy="717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示例一：</a:t>
            </a:r>
            <a:r>
              <a:rPr lang="en-US" altLang="zh-CN" dirty="0"/>
              <a:t>MMnasNet v1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31</a:t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2680652" y="908398"/>
            <a:ext cx="8270875" cy="5232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800" dirty="0">
                <a:solidFill>
                  <a:schemeClr val="tx2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草稿:直观的流程图记录了模型主体、输入与输出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" y="1542415"/>
            <a:ext cx="5049520" cy="437959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775460" y="6119495"/>
            <a:ext cx="86228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主要问题:</a:t>
            </a:r>
            <a:r>
              <a:rPr lang="en-US" altLang="zh-CN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 </a:t>
            </a:r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缺少设计感，模块边界不清晰，结构杂乱!</a:t>
            </a:r>
          </a:p>
        </p:txBody>
      </p:sp>
      <p:sp>
        <p:nvSpPr>
          <p:cNvPr id="4" name="矩形 3"/>
          <p:cNvSpPr/>
          <p:nvPr/>
        </p:nvSpPr>
        <p:spPr>
          <a:xfrm>
            <a:off x="839470" y="1911985"/>
            <a:ext cx="5687695" cy="2006600"/>
          </a:xfrm>
          <a:prstGeom prst="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55370" y="4350385"/>
            <a:ext cx="5372100" cy="862330"/>
          </a:xfrm>
          <a:prstGeom prst="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箭头连接符 8"/>
          <p:cNvCxnSpPr>
            <a:stCxn id="4" idx="3"/>
          </p:cNvCxnSpPr>
          <p:nvPr/>
        </p:nvCxnSpPr>
        <p:spPr>
          <a:xfrm>
            <a:off x="6527165" y="2915285"/>
            <a:ext cx="1296670" cy="673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8" idx="3"/>
          </p:cNvCxnSpPr>
          <p:nvPr/>
        </p:nvCxnSpPr>
        <p:spPr>
          <a:xfrm flipV="1">
            <a:off x="6427470" y="3198495"/>
            <a:ext cx="1324610" cy="158305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108950" y="2479040"/>
            <a:ext cx="2621280" cy="1198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这些是什么东西？</a:t>
            </a:r>
          </a:p>
          <a:p>
            <a:r>
              <a:rPr lang="zh-CN" altLang="en-US" sz="24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解决了什么问题？</a:t>
            </a:r>
          </a:p>
          <a:p>
            <a:r>
              <a:rPr lang="zh-CN" altLang="en-US" sz="24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怎么解决的？</a:t>
            </a:r>
          </a:p>
        </p:txBody>
      </p:sp>
      <p:sp>
        <p:nvSpPr>
          <p:cNvPr id="43" name="文本框 42"/>
          <p:cNvSpPr txBox="1"/>
          <p:nvPr/>
        </p:nvSpPr>
        <p:spPr>
          <a:xfrm>
            <a:off x="7392035" y="4149090"/>
            <a:ext cx="2468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线条交叉过于杂乱！</a:t>
            </a: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2459355" y="5622925"/>
            <a:ext cx="4068445" cy="2413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V="1">
            <a:off x="5231765" y="5725795"/>
            <a:ext cx="1584325" cy="152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6889750" y="5346700"/>
            <a:ext cx="2722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模型的输入太不形象！</a:t>
            </a:r>
          </a:p>
        </p:txBody>
      </p:sp>
      <p:cxnSp>
        <p:nvCxnSpPr>
          <p:cNvPr id="16" name="直接箭头连接符 15"/>
          <p:cNvCxnSpPr>
            <a:endCxn id="43" idx="1"/>
          </p:cNvCxnSpPr>
          <p:nvPr/>
        </p:nvCxnSpPr>
        <p:spPr>
          <a:xfrm>
            <a:off x="4911090" y="4145280"/>
            <a:ext cx="2480945" cy="203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 animBg="1"/>
      <p:bldP spid="8" grpId="0" animBg="1"/>
      <p:bldP spid="11" grpId="0"/>
      <p:bldP spid="43" grpId="0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示例一：</a:t>
            </a:r>
            <a:r>
              <a:rPr lang="en-US" altLang="zh-CN" dirty="0"/>
              <a:t>MMnasNet v2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32</a:t>
            </a:fld>
            <a:endParaRPr lang="zh-CN" altLang="en-US" dirty="0"/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080" y="1974850"/>
            <a:ext cx="9627870" cy="379857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3647440" y="939165"/>
            <a:ext cx="491045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800">
                <a:solidFill>
                  <a:schemeClr val="tx2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初步刻画了模型的实现过程</a:t>
            </a:r>
          </a:p>
        </p:txBody>
      </p:sp>
      <p:sp>
        <p:nvSpPr>
          <p:cNvPr id="21" name="矩形 20"/>
          <p:cNvSpPr/>
          <p:nvPr/>
        </p:nvSpPr>
        <p:spPr>
          <a:xfrm>
            <a:off x="910590" y="2708910"/>
            <a:ext cx="4104640" cy="1296035"/>
          </a:xfrm>
          <a:prstGeom prst="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" name="直接箭头连接符 21"/>
          <p:cNvCxnSpPr/>
          <p:nvPr/>
        </p:nvCxnSpPr>
        <p:spPr>
          <a:xfrm flipH="1" flipV="1">
            <a:off x="2063115" y="2061210"/>
            <a:ext cx="694055" cy="647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1054735" y="1635760"/>
            <a:ext cx="2976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最重要的部分没有展现！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10488295" y="3141345"/>
            <a:ext cx="155511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不同的结构使用同一种背景颜色，难以区分！</a:t>
            </a:r>
          </a:p>
        </p:txBody>
      </p:sp>
      <p:cxnSp>
        <p:nvCxnSpPr>
          <p:cNvPr id="25" name="直接箭头连接符 24"/>
          <p:cNvCxnSpPr/>
          <p:nvPr/>
        </p:nvCxnSpPr>
        <p:spPr>
          <a:xfrm>
            <a:off x="10069195" y="2769235"/>
            <a:ext cx="562610" cy="2997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>
            <a:off x="9624060" y="3357245"/>
            <a:ext cx="724535" cy="22415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endCxn id="24" idx="1"/>
          </p:cNvCxnSpPr>
          <p:nvPr/>
        </p:nvCxnSpPr>
        <p:spPr>
          <a:xfrm flipV="1">
            <a:off x="9933305" y="3802380"/>
            <a:ext cx="554990" cy="14541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7319645" y="2637155"/>
            <a:ext cx="3024505" cy="57594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 flipV="1">
            <a:off x="4943475" y="3717290"/>
            <a:ext cx="5328285" cy="7124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 flipV="1">
            <a:off x="1918970" y="3644900"/>
            <a:ext cx="8352790" cy="9366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>
            <a:off x="4366895" y="3141345"/>
            <a:ext cx="5760720" cy="431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1343472" y="6107757"/>
            <a:ext cx="100591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主要问题:</a:t>
            </a:r>
            <a:r>
              <a:rPr lang="en-US" altLang="zh-CN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 </a:t>
            </a:r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仍缺少设计感，</a:t>
            </a:r>
            <a:r>
              <a:rPr lang="en-US" altLang="zh-CN" sz="2800" dirty="0" err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模块边界不清晰，如何解决没体现</a:t>
            </a:r>
            <a:r>
              <a:rPr lang="en-US" altLang="zh-CN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!</a:t>
            </a: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8909685" y="4826000"/>
            <a:ext cx="786765" cy="4032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9768205" y="5238115"/>
            <a:ext cx="1783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该结构名字过长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/>
      <p:bldP spid="24" grpId="0"/>
      <p:bldP spid="33" grpId="0"/>
      <p:bldP spid="3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示例一：</a:t>
            </a:r>
            <a:r>
              <a:rPr lang="en-US" altLang="zh-CN" dirty="0"/>
              <a:t>MMnasNet v3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33</a:t>
            </a:fld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1830070"/>
            <a:ext cx="10452100" cy="410527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60040" y="1007745"/>
            <a:ext cx="660654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800" dirty="0">
                <a:solidFill>
                  <a:schemeClr val="tx2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细化每个阶段实现，区分每种结构颜色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2279650" y="6107430"/>
            <a:ext cx="733425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主要问题:</a:t>
            </a:r>
            <a:r>
              <a:rPr lang="en-US" altLang="zh-CN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 </a:t>
            </a:r>
            <a:r>
              <a:rPr lang="en-US" altLang="zh-CN" sz="2800" dirty="0" err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模块边界不清晰</a:t>
            </a:r>
            <a:r>
              <a:rPr lang="en-US" altLang="zh-CN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，</a:t>
            </a:r>
            <a:r>
              <a:rPr lang="zh-CN" altLang="en-US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算法逻辑不明确</a:t>
            </a:r>
            <a:r>
              <a:rPr lang="en-US" altLang="zh-CN" sz="2800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!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2063750" y="1701165"/>
            <a:ext cx="2214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变量的变化过程？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8688070" y="1445895"/>
            <a:ext cx="2468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模块的边界在哪里？</a:t>
            </a:r>
          </a:p>
        </p:txBody>
      </p:sp>
      <p:cxnSp>
        <p:nvCxnSpPr>
          <p:cNvPr id="10" name="直接箭头连接符 9"/>
          <p:cNvCxnSpPr/>
          <p:nvPr/>
        </p:nvCxnSpPr>
        <p:spPr>
          <a:xfrm flipV="1">
            <a:off x="8489315" y="1772920"/>
            <a:ext cx="702945" cy="40195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 flipV="1">
            <a:off x="10272395" y="1772920"/>
            <a:ext cx="0" cy="431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/>
          <p:nvPr/>
        </p:nvCxnSpPr>
        <p:spPr>
          <a:xfrm flipV="1">
            <a:off x="9336405" y="1917065"/>
            <a:ext cx="144145" cy="273621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2063750" y="2099945"/>
            <a:ext cx="297688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字体略小，整体不够饱满</a:t>
            </a: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1970405" y="2564765"/>
            <a:ext cx="741045" cy="43624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/>
          <p:nvPr/>
        </p:nvCxnSpPr>
        <p:spPr>
          <a:xfrm flipV="1">
            <a:off x="2100580" y="2564765"/>
            <a:ext cx="755015" cy="10299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示例一：</a:t>
            </a:r>
            <a:r>
              <a:rPr lang="en-US" altLang="zh-CN" dirty="0"/>
              <a:t>MMnasNet v4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34</a:t>
            </a:fld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911225" y="981075"/>
            <a:ext cx="10596880" cy="4837430"/>
            <a:chOff x="1435" y="1545"/>
            <a:chExt cx="16688" cy="7618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5" y="2565"/>
              <a:ext cx="16688" cy="6598"/>
            </a:xfrm>
            <a:prstGeom prst="rect">
              <a:avLst/>
            </a:prstGeom>
          </p:spPr>
        </p:pic>
        <p:sp>
          <p:nvSpPr>
            <p:cNvPr id="4" name="文本框 3"/>
            <p:cNvSpPr txBox="1"/>
            <p:nvPr/>
          </p:nvSpPr>
          <p:spPr>
            <a:xfrm>
              <a:off x="4553" y="1545"/>
              <a:ext cx="10452" cy="150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sz="2800">
                  <a:solidFill>
                    <a:schemeClr val="tx2">
                      <a:lumMod val="50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最终版本：</a:t>
              </a:r>
              <a:r>
                <a:rPr lang="zh-CN" altLang="en-US" sz="2800">
                  <a:solidFill>
                    <a:schemeClr val="tx2">
                      <a:lumMod val="50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  <a:sym typeface="+mn-ea"/>
                </a:rPr>
                <a:t>框出模块范围，细化命名！</a:t>
              </a:r>
              <a:endParaRPr lang="zh-CN" altLang="en-US" sz="2800">
                <a:solidFill>
                  <a:schemeClr val="tx2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endParaRPr lang="zh-CN" altLang="en-US" sz="2800">
                <a:solidFill>
                  <a:schemeClr val="tx2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/>
              <a:t> </a:t>
            </a:r>
            <a:r>
              <a:rPr lang="zh-CN" altLang="en-US" dirty="0"/>
              <a:t>模型框架图与论文结合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35</a:t>
            </a:fld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25" y="913765"/>
            <a:ext cx="4797425" cy="589407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405" y="981075"/>
            <a:ext cx="2301875" cy="562229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1845" y="1628775"/>
            <a:ext cx="6004560" cy="237426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951855" y="4797425"/>
            <a:ext cx="1960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i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图文对应！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>
                <a:latin typeface="+mn-lt"/>
              </a:rPr>
              <a:t> </a:t>
            </a:r>
            <a:r>
              <a:rPr lang="zh-CN" altLang="en-US" dirty="0">
                <a:latin typeface="+mn-lt"/>
              </a:rPr>
              <a:t>图表中的文字与图表</a:t>
            </a:r>
            <a:r>
              <a:rPr lang="en-US" altLang="zh-CN" dirty="0">
                <a:latin typeface="+mn-lt"/>
              </a:rPr>
              <a:t>Caption</a:t>
            </a:r>
            <a:endParaRPr lang="zh-CN" dirty="0">
              <a:latin typeface="+mn-lt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36</a:t>
            </a:fld>
            <a:endParaRPr lang="zh-CN" altLang="en-US" dirty="0"/>
          </a:p>
        </p:txBody>
      </p:sp>
      <p:grpSp>
        <p:nvGrpSpPr>
          <p:cNvPr id="30" name="组合 29"/>
          <p:cNvGrpSpPr/>
          <p:nvPr/>
        </p:nvGrpSpPr>
        <p:grpSpPr>
          <a:xfrm>
            <a:off x="262890" y="909320"/>
            <a:ext cx="11878945" cy="5596255"/>
            <a:chOff x="414" y="1432"/>
            <a:chExt cx="18707" cy="8813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4" y="6421"/>
              <a:ext cx="10290" cy="3825"/>
            </a:xfrm>
            <a:prstGeom prst="rect">
              <a:avLst/>
            </a:prstGeom>
          </p:spPr>
        </p:pic>
        <p:pic>
          <p:nvPicPr>
            <p:cNvPr id="26" name="图片 2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5" y="2225"/>
              <a:ext cx="6804" cy="4166"/>
            </a:xfrm>
            <a:prstGeom prst="rect">
              <a:avLst/>
            </a:prstGeom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99" y="2452"/>
              <a:ext cx="11223" cy="3813"/>
            </a:xfrm>
            <a:prstGeom prst="rect">
              <a:avLst/>
            </a:prstGeom>
          </p:spPr>
        </p:pic>
        <p:pic>
          <p:nvPicPr>
            <p:cNvPr id="28" name="图片 27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074" y="6648"/>
              <a:ext cx="7020" cy="2880"/>
            </a:xfrm>
            <a:prstGeom prst="rect">
              <a:avLst/>
            </a:prstGeom>
          </p:spPr>
        </p:pic>
        <p:sp>
          <p:nvSpPr>
            <p:cNvPr id="29" name="文本框 28"/>
            <p:cNvSpPr txBox="1"/>
            <p:nvPr/>
          </p:nvSpPr>
          <p:spPr>
            <a:xfrm>
              <a:off x="868" y="1432"/>
              <a:ext cx="16915" cy="8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28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ea typeface="黑体" panose="02010609060101010101" pitchFamily="49" charset="-122"/>
                  <a:cs typeface="Times New Roman" panose="02020603050405020304" pitchFamily="18" charset="0"/>
                </a:rPr>
                <a:t>Tips</a:t>
              </a:r>
              <a:r>
                <a:rPr lang="zh-CN" altLang="en-US" sz="28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ea typeface="黑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zh-CN" altLang="en-US" sz="2800" dirty="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（</a:t>
              </a:r>
              <a:r>
                <a:rPr lang="en-US" altLang="zh-CN" sz="2800" dirty="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4</a:t>
              </a:r>
              <a:r>
                <a:rPr lang="zh-CN" altLang="en-US" sz="2800" dirty="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  <a:cs typeface="黑体" panose="02010609060101010101" pitchFamily="49" charset="-122"/>
                </a:rPr>
                <a:t>）图表文字清晰直接表达内容，与图注、表注、正文一致!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 </a:t>
            </a:r>
            <a:r>
              <a:rPr dirty="0"/>
              <a:t>论文</a:t>
            </a:r>
            <a:r>
              <a:rPr lang="zh-CN" dirty="0"/>
              <a:t>模型框架</a:t>
            </a:r>
            <a:r>
              <a:rPr dirty="0"/>
              <a:t>图——小结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376" y="908720"/>
            <a:ext cx="10873208" cy="5472608"/>
          </a:xfrm>
        </p:spPr>
        <p:txBody>
          <a:bodyPr>
            <a:normAutofit/>
          </a:bodyPr>
          <a:lstStyle/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b="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模型框架图</a:t>
            </a:r>
            <a:endParaRPr lang="en-US" altLang="zh-CN" b="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算法的逻辑要明确</a:t>
            </a:r>
            <a:endParaRPr lang="zh-CN" altLang="en-US" b="0" dirty="0">
              <a:solidFill>
                <a:srgbClr val="C00000"/>
              </a:solidFill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模块的边界要清晰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排版的布局要直观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b="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整体的配色要讲究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r>
              <a:rPr lang="zh-CN" altLang="en-US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线条的排列不交叉</a:t>
            </a:r>
          </a:p>
          <a:p>
            <a:pPr lvl="1">
              <a:lnSpc>
                <a:spcPct val="175000"/>
              </a:lnSpc>
              <a:spcAft>
                <a:spcPts val="0"/>
              </a:spcAft>
            </a:pPr>
            <a:endParaRPr lang="zh-CN" altLang="en-US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75000"/>
              </a:lnSpc>
              <a:spcAft>
                <a:spcPts val="0"/>
              </a:spcAft>
            </a:pPr>
            <a:endParaRPr lang="zh-CN" altLang="en-US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BD803B2-A378-42BD-B5EC-F7748F169FE0}" type="slidenum">
              <a:rPr lang="en-US" altLang="zh-CN" smtClean="0"/>
              <a:t>37</a:t>
            </a:fld>
            <a:endParaRPr lang="zh-CN" alt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093506" y="2139079"/>
            <a:ext cx="1000498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6000" b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感谢聆听，敬请指正！</a:t>
            </a:r>
            <a:endParaRPr kumimoji="1" lang="en-US" altLang="zh-CN" sz="6000" b="1" dirty="0">
              <a:solidFill>
                <a:srgbClr val="203864"/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803B2-A378-42BD-B5EC-F7748F169FE0}" type="slidenum">
              <a:rPr lang="en-US" altLang="zh-CN" smtClean="0"/>
              <a:t>38</a:t>
            </a:fld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835" y="124839"/>
            <a:ext cx="1331089" cy="1331089"/>
          </a:xfrm>
          <a:prstGeom prst="rect">
            <a:avLst/>
          </a:prstGeom>
        </p:spPr>
      </p:pic>
      <p:pic>
        <p:nvPicPr>
          <p:cNvPr id="13" name="图片 12" descr="图片包含 天空, 建筑物, 户外, 道路&#10;&#10;已生成极高可信度的说明"/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84" b="12793"/>
          <a:stretch>
            <a:fillRect/>
          </a:stretch>
        </p:blipFill>
        <p:spPr>
          <a:xfrm>
            <a:off x="0" y="4484225"/>
            <a:ext cx="12192000" cy="2372761"/>
          </a:xfrm>
          <a:prstGeom prst="rect">
            <a:avLst/>
          </a:prstGeom>
        </p:spPr>
      </p:pic>
      <p:sp>
        <p:nvSpPr>
          <p:cNvPr id="14" name="矩形 13"/>
          <p:cNvSpPr/>
          <p:nvPr/>
        </p:nvSpPr>
        <p:spPr bwMode="auto">
          <a:xfrm>
            <a:off x="0" y="4484225"/>
            <a:ext cx="12192000" cy="2360665"/>
          </a:xfrm>
          <a:prstGeom prst="rect">
            <a:avLst/>
          </a:prstGeom>
          <a:solidFill>
            <a:srgbClr val="044875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91440" algn="l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3b8488d6-013d-4f79-b99c-07d6bdc768d8"/>
  <p:tag name="COMMONDATA" val="eyJoZGlkIjoiNTVlZmI5NWM4MTA1NmIyYjhiNmEzMGRhODMxNjEyM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3456.571653543307,&quot;width&quot;:19200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3203</TotalTime>
  <Words>1431</Words>
  <Application>Microsoft Macintosh PowerPoint</Application>
  <PresentationFormat>宽屏</PresentationFormat>
  <Paragraphs>257</Paragraphs>
  <Slides>38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6" baseType="lpstr">
      <vt:lpstr>等线</vt:lpstr>
      <vt:lpstr>黑体</vt:lpstr>
      <vt:lpstr>微软雅黑</vt:lpstr>
      <vt:lpstr>Arial</vt:lpstr>
      <vt:lpstr>Calibri</vt:lpstr>
      <vt:lpstr>Segoe Print</vt:lpstr>
      <vt:lpstr>Times New Roman</vt:lpstr>
      <vt:lpstr>Office 主题</vt:lpstr>
      <vt:lpstr>学术论文之 绘制研究动机图和模型框架图 </vt:lpstr>
      <vt:lpstr> 从论文图示与论文写作的关系说起</vt:lpstr>
      <vt:lpstr> 论文研究动机示意图</vt:lpstr>
      <vt:lpstr>示例二：Non-local</vt:lpstr>
      <vt:lpstr>示例三： CLIP</vt:lpstr>
      <vt:lpstr>示例四： Segment Anything </vt:lpstr>
      <vt:lpstr>示例五： Pseudo-Q</vt:lpstr>
      <vt:lpstr>示例六：DETR</vt:lpstr>
      <vt:lpstr>示例七：SOLO</vt:lpstr>
      <vt:lpstr>示例八：CLIP Surgery </vt:lpstr>
      <vt:lpstr>示例九：CenterNet</vt:lpstr>
      <vt:lpstr> 论文研究动机示意图——小结</vt:lpstr>
      <vt:lpstr> 论文研究动机图绘制思路</vt:lpstr>
      <vt:lpstr> 示例一：MMnasNet v1</vt:lpstr>
      <vt:lpstr> 示例一：MMnasNet v2</vt:lpstr>
      <vt:lpstr> 示例一：MMnasNet v3</vt:lpstr>
      <vt:lpstr> 示例一：MMnasNet v4</vt:lpstr>
      <vt:lpstr> 学术论文绘图Tips</vt:lpstr>
      <vt:lpstr>学术论文绘图Tips</vt:lpstr>
      <vt:lpstr> 学术论文绘图审美</vt:lpstr>
      <vt:lpstr> 学术论文绘图审美</vt:lpstr>
      <vt:lpstr> 学术论文绘图审美</vt:lpstr>
      <vt:lpstr> 从论文图示与论文写作的关系说起</vt:lpstr>
      <vt:lpstr>论文方法流程图</vt:lpstr>
      <vt:lpstr>示例二： DETR</vt:lpstr>
      <vt:lpstr>示例三：CLIPort</vt:lpstr>
      <vt:lpstr>示例四： SOLO</vt:lpstr>
      <vt:lpstr>示例五：Voyager</vt:lpstr>
      <vt:lpstr>示例六：AvaTaR</vt:lpstr>
      <vt:lpstr> 论文模型框架图绘制思路</vt:lpstr>
      <vt:lpstr> 示例一：MMnasNet v1</vt:lpstr>
      <vt:lpstr> 示例一：MMnasNet v2</vt:lpstr>
      <vt:lpstr> 示例一：MMnasNet v3</vt:lpstr>
      <vt:lpstr> 示例一：MMnasNet v4</vt:lpstr>
      <vt:lpstr> 模型框架图与论文结合</vt:lpstr>
      <vt:lpstr> 图表中的文字与图表Caption</vt:lpstr>
      <vt:lpstr> 论文模型框架图——小结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Fei Gao</dc:creator>
  <cp:lastModifiedBy>Microsoft Office User</cp:lastModifiedBy>
  <cp:revision>1101</cp:revision>
  <dcterms:created xsi:type="dcterms:W3CDTF">2022-11-10T03:38:00Z</dcterms:created>
  <dcterms:modified xsi:type="dcterms:W3CDTF">2025-10-21T06:42:24Z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420D3A0B25728E146BFE55632B83E334</vt:lpwstr>
  </property>
  <property fmtid="{D5CDD505-2E9C-101B-9397-08002B2CF9AE}" pid="3" name="KSOProductBuildVer">
    <vt:lpwstr>2052-11.1.0.12763</vt:lpwstr>
  </property>
</Properties>
</file>